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cee56f0-1b93-c925-9e09-76b23c85c31f}">
          <p14:sldIdLst>
            <p14:sldId id="256"/>
            <p14:sldId id="257"/>
          </p14:sldIdLst>
        </p14:section>
        <p14:section name="Introdução" id="{bec282fc-0fd5-b4fd-56bf-6c3859864648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Módulo 01 · Verificação de localização" id="{12041523-1d9d-d5aa-258e-4d8b43035f9f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Módulo 02 · Know Your Customer" id="{3904dc9b-3cf9-4286-0bb3-06eb570c39c1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Módulo 03 · Código por SMS" id="{d498671b-6836-4ece-b4b9-622396bf9d6f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Módulo 04 · Localização do aparelho" id="{0f1e87ee-1091-71a6-09a3-6997753aac20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Módulo 05 · Troca de chip" id="{3816f355-1347-2174-c45c-071c8fa17ad3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Encerramento" id="{edda4bf1-0455-80ac-395f-c7e1e178f9fb}">
          <p14:sldIdLst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Nesta aula vamos ver como apps de bancos, seguradoras e lojas podem fazer perguntas à operadora de celular, usando um padrão aberto chamado CAMARA. Tudo o que vamos mostrar foi testado de verdade no sandbox da GSMA.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os fundamentos: o tema, o padrão CAMARA e o sandbox. Depois os 5 módulos, sempre na mesma ordem: o que a API faz, o cenário, as chamadas que fizemos e o resultado da prova de conceito.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operadora tem informações que nenhum app tem: quem é o dono da linha, onde o aparelho está, se o chip é novo e um canal direto de SMS. A ideia das APIs de rede é transformar isso em perguntas que um app pode fazer, recebendo só a resposta, nunca os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módulo da aula responde a um problema real. Cartão clonado, conta aberta com dados vazados, senha roubada, cliente perdido na estrada e golpe da troca de chip. Para cada um, a pergunta certa à operadora resolve ou reduz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CAMARA é um projeto open source da Linux Foundation, criado em 2022 junto com a GSMA e as operadoras. Ele define as APIs de forma padronizada: o mesmo endereço, os mesmos campos e os mesmos erros em qualquer operadora. Para quem desenvolve, isso significa escrever o código uma vez e usar com várias operadoras.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 que costumam confundir. CAMARA é a especificação. A GSMA Open Gateway é o programa que reúne as operadoras e oferece o sandbox. As operadoras são quem implementa e responde com dados reais, em produção, com contrato e consentimento.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sandbox da GSMA criamos um app para cada módulo, ligamos as permissões, geramos um token e chamamos a API. Atenção: o token vale só 5 minutos. E o mais importante: não existe operadora de verdade por trás, as respostas são simuladas.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foi a primeira grande descoberta: o sandbox decide a resposta pelos 2 últimos dígitos do telefone. No começo a resposta era sempre TRUE porque testávamos números terminados em 10 a 19. Daí criamos o método da varredura: testar todos os finais de 00 a 99 e agrupar as respostas. Somando os 5 módulos, foram mais de 1.200 chamadas.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chamada tem 3 partes, destacadas em laranja: o endereço da API, o token no cabeçalho Authorization e o corpo em JSON com o telefone e os parâmetros. A resposta vem em JSON. Este exemplo é da verificação de localização, com final 35, que devolve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módulo: verificação de localização. A pergunta é de sim ou não: o celular está dentro desta área?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verificação de localização não diz onde o celular está. Ela só responde se ele está dentro de uma área que nós enviamos. A resposta pode ser TRUE, FALSE, PARTIAL, quando parte da área bate, ou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cenário é o antifraude de cartão. O banco pergunta à operadora se o celular do titular está perto da loja. Se estiver, aprova. Se estiver longe e o valor for alto, bloqueia e avisa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resume o experimento. Mudamos a posição de Lyon para São Paulo e o raio de 1 para 200 quilômetros, e nada mudou. Só o final do telefone importa. Também achamos finais que a documentação não 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POC simula o autorizador do banco. O ponto mais importante é a regra para erro e UNKNOWN: nunca bloquear o cliente por falha da API. Nesses casos a compra segue o antifraude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vantagens vêm de a informação ser da rede: nada para o cliente fazer, difícil de falsificar e com privacidade. O principal cuidado é a precisão: uma antena cobre uma área grande. Por isso a verificação de localização serve como um sinal a mais no antifraude, não como decisão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módulo: Know Your Customer, ou conheça o seu cliente. São três APIs que ajudam a confirmar o cadastro de uma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KYC tem três perguntas. O Match confere os dados do cadastro, campo a campo. O Tenure diz se a linha é antiga. O Age diz se o titular tem a idade mínima. Em todas, a operadora só responde confere ou não confere.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cenário é a abertura de conta digital. Cliente de verdade passa direto. O golpista com dados vazados e chip recém-comprado é barrado, porque os dados não são do dono da linha e a linha é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varredura completa: 100 finais em 3 APIs. Descobrimos um erro na documentação: o exemplo chamado adulto devolve menor de idade. E no Tenure, ao contrário das outras, a data enviada muda a resposta para dois grupos de finais.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POC junta as três APIs numa régua de decisão. Repare que nenhuma API decide sozinha: o Match diz se os dados batem, o Tenure dá o peso do risco e o Age barra menores.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principal do KYC é tirar atrito do cadastro sem perder segurança. Os cuidados giram em torno da qualidade do cadastro da operadora: ele pode estar desatualizado ou em nome de outra pessoa. Por isso a régua da POC tem análise manual e método tradicional como saídas.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módulo: o código por SMS, aquele que chega quando fazemos login ou confirmamos um Pix. A diferença é que quem gera e confere o código é a operadora.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duas chamadas: enviar e validar. O app manda o texto com a marca {{code}} e a operadora gera o código, envia o SMS e devolve um protocolo. Depois o app manda o código digitado e a operadora diz se está certo. O app nunca conhece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cenário, o código protege a Ana mesmo quando a senha foi roubada. Mas existe um ponto fraco: no golpe da troca de chip o SMS chega ao golpista. Por isso, em produção, vale combinar com a API SIM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sandbox fez menos do que a documentação promete. Na validação ele só distingue aceito de recusado: os cenários de código expirado e de tentativas demais não existem. Por outro lado, apareceu um erro de envio que não está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POC, como o sandbox não informa tentativas demais, o limite de 3 tentativas ficou no nosso app. É um exemplo de como o teste muda o desenho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a maioria dos apps contrata um agregador de SMS: o app gera o código, guarda e manda o texto. Com a API da operadora, o app só pede o envio e depois pergunta se o código digitado está certo. Repare na última linha: nos dois modelos a troca de chip continua sendo o ponto fraco.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vantagem central é o app nunca conhecer o código. O cuidado central é que continua sendo SMS: vale para quem estiver com o chip e não protege contra o cliente que repassa o código a um golpista.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módulo: localização do aparelho. Diferente do módulo 1, aqui a pergunta é aberta: onde está o celular?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não enviamos área nenhuma: perguntamos onde o celular está e recebemos uma área aproximada, em forma de círculo ou de polígono. Nunca é o ponto exato, e em produção exige autorização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cenário é a assistência 24 horas. A cliente não precisa saber o quilômetro da rodovia. E quando a operadora não consegue localizar o aparelho, o atendente 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varredura deste módulo, a posição sempre veio com o horário atual e sempre no mesmo lugar, em Lyon. Isso impede testar o caso de posição antiga. E o 403 só apareceu por acidente, quando usamos o token de outro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POC calcula a distância até as bases de guincho e escolhe a mais próxima. Ela trata círculo e polígono, porque a operadora pode devolver qualquer um dos dois. Em qualquer erro, a saída é ligar para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API mais poderosa e a mais sensível. Ajuda muito em emergência, mas a localização é um dado pessoal sensível: só deve ser consultada com autorização do cliente e para a finalidade combinada.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módulo: SIM Swap. Ele protege contra o golpe da troca de chip e completa o módulo 03, porque diz se ainda dá para confiar no 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duas perguntas: se o chip foi trocado dentro de uma janela de horas, ou quando foi a última troca. O golpista transfere o número da vítima para um chip novo e passa a receber os SMS do banco. Saber que a troca foi recente é o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cenário, o sinal mais típico do golpe é a vítima perder o sinal do celular de repente. Para o banco, a pergunta à operadora resolve: se o chip foi trocado há poucos dias, o SMS não é confiável.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da página bateu, mas o check não respeita a janela: com maxAge de 1 hora ele ainda diz trocado para uma troca de 30 dias atrás. Já o retrieve-date é coerente. A lição é verificar a data e decidir a janela no nosso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o módulo 01: lá, erro da operadora nunca bloqueava a compra. Aqui, sem resposta, o banco pede verificação extra, porque a operação é sensível. A política para falhas depende do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SIM Swap é barato de integrar e não incomoda o cliente honesto. O cuidado é o falso positivo: muita gente troca de chip por motivos legítimos. Por isso a resposta para troca recente é verificação extra, não bloqueio definitivo.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resumo dos 5 módulos. Repare que cada API faz uma pergunta diferente e que, em todos os módulos, o sandbox teve alguma diferença em relação à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lições. O sandbox serve para aprender a integrar, não para medir a precisão. A documentação errou em todos os módulos, então teste tudo. E combine APIs: uma sozinha raramente basta para decidir. Os próximos passos são um piloto com uma operadora, cuidar do consentimento e da LGPD e juntar o código SMS com o SIM Swap num mesmo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 Os scripts de cada módulo podem ser rodados de novo: basta gerar um token no sandbox e colar no arquivo de teste da pasta.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i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APIs de rede na prática · CAMARA + GSMA Open Gateway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APIs de rede na prática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CAMARA e GSMA Open Gateway: 5 experimentos no sandbox</a:t>
            </a:r>
            <a:endParaRPr lang="en-US" sz="2400" dirty="0"/>
          </a:p>
        </p:txBody>
      </p:sp>
      <p:sp>
        <p:nvSpPr>
          <p:cNvPr id="4" name="Capa FaLocationDot círculo"/>
          <p:cNvSpPr/>
          <p:nvPr/>
        </p:nvSpPr>
        <p:spPr>
          <a:xfrm>
            <a:off x="731520" y="502920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pa FaLocationDot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5187208"/>
            <a:ext cx="342351" cy="342351"/>
          </a:xfrm>
          <a:prstGeom prst="rect">
            <a:avLst/>
          </a:prstGeom>
        </p:spPr>
      </p:pic>
      <p:sp>
        <p:nvSpPr>
          <p:cNvPr id="6" name="Capa FaIdCard círculo"/>
          <p:cNvSpPr/>
          <p:nvPr/>
        </p:nvSpPr>
        <p:spPr>
          <a:xfrm>
            <a:off x="1600200" y="50292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Capa FaIdCard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08" y="5187208"/>
            <a:ext cx="342351" cy="342351"/>
          </a:xfrm>
          <a:prstGeom prst="rect">
            <a:avLst/>
          </a:prstGeom>
        </p:spPr>
      </p:pic>
      <p:sp>
        <p:nvSpPr>
          <p:cNvPr id="8" name="Capa FaCommentSms círculo"/>
          <p:cNvSpPr/>
          <p:nvPr/>
        </p:nvSpPr>
        <p:spPr>
          <a:xfrm>
            <a:off x="2468880" y="502920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Capa FaCommentSm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888" y="5187208"/>
            <a:ext cx="342351" cy="342351"/>
          </a:xfrm>
          <a:prstGeom prst="rect">
            <a:avLst/>
          </a:prstGeom>
        </p:spPr>
      </p:pic>
      <p:sp>
        <p:nvSpPr>
          <p:cNvPr id="10" name="Capa FaCrosshairs círculo"/>
          <p:cNvSpPr/>
          <p:nvPr/>
        </p:nvSpPr>
        <p:spPr>
          <a:xfrm>
            <a:off x="3337560" y="502920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Capa FaCrosshair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568" y="5187208"/>
            <a:ext cx="342351" cy="342351"/>
          </a:xfrm>
          <a:prstGeom prst="rect">
            <a:avLst/>
          </a:prstGeom>
        </p:spPr>
      </p:pic>
      <p:sp>
        <p:nvSpPr>
          <p:cNvPr id="12" name="Capa FaSimCard círculo"/>
          <p:cNvSpPr/>
          <p:nvPr/>
        </p:nvSpPr>
        <p:spPr>
          <a:xfrm>
            <a:off x="4206240" y="502920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Capa FaSimCard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248" y="5187208"/>
            <a:ext cx="342351" cy="3423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vamos ver</a:t>
            </a:r>
            <a:endParaRPr lang="en-US" sz="3200" dirty="0"/>
          </a:p>
        </p:txBody>
      </p:sp>
      <p:sp>
        <p:nvSpPr>
          <p:cNvPr id="3" name="Cabeçalho fundamentos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Fundamentos</a:t>
            </a:r>
            <a:endParaRPr lang="en-US" sz="1800" dirty="0"/>
          </a:p>
        </p:txBody>
      </p:sp>
      <p:sp>
        <p:nvSpPr>
          <p:cNvPr id="4" name="Fundamento 1 círculo"/>
          <p:cNvSpPr/>
          <p:nvPr/>
        </p:nvSpPr>
        <p:spPr>
          <a:xfrm>
            <a:off x="54864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Fundamento 1 número"/>
          <p:cNvSpPr txBox="1"/>
          <p:nvPr/>
        </p:nvSpPr>
        <p:spPr>
          <a:xfrm>
            <a:off x="54864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o fundamento 1"/>
          <p:cNvSpPr txBox="1"/>
          <p:nvPr/>
        </p:nvSpPr>
        <p:spPr>
          <a:xfrm>
            <a:off x="1188720" y="1856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tema: o que a rede móvel sabe</a:t>
            </a:r>
            <a:endParaRPr lang="en-US" sz="1800" dirty="0"/>
          </a:p>
        </p:txBody>
      </p:sp>
      <p:sp>
        <p:nvSpPr>
          <p:cNvPr id="7" name="Fundamento 2 círculo"/>
          <p:cNvSpPr/>
          <p:nvPr/>
        </p:nvSpPr>
        <p:spPr>
          <a:xfrm>
            <a:off x="548640" y="24688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Fundamento 2 número"/>
          <p:cNvSpPr txBox="1"/>
          <p:nvPr/>
        </p:nvSpPr>
        <p:spPr>
          <a:xfrm>
            <a:off x="54864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o fundamento 2"/>
          <p:cNvSpPr txBox="1"/>
          <p:nvPr/>
        </p:nvSpPr>
        <p:spPr>
          <a:xfrm>
            <a:off x="118872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API CAMARA: o padrão aberto</a:t>
            </a:r>
            <a:endParaRPr lang="en-US" sz="1800" dirty="0"/>
          </a:p>
        </p:txBody>
      </p:sp>
      <p:sp>
        <p:nvSpPr>
          <p:cNvPr id="10" name="Fundamento 3 círculo"/>
          <p:cNvSpPr/>
          <p:nvPr/>
        </p:nvSpPr>
        <p:spPr>
          <a:xfrm>
            <a:off x="548640" y="31546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Fundamento 3 número"/>
          <p:cNvSpPr txBox="1"/>
          <p:nvPr/>
        </p:nvSpPr>
        <p:spPr>
          <a:xfrm>
            <a:off x="54864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o fundamento 3"/>
          <p:cNvSpPr txBox="1"/>
          <p:nvPr/>
        </p:nvSpPr>
        <p:spPr>
          <a:xfrm>
            <a:off x="1188720" y="3227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sandbox e o nosso método</a:t>
            </a:r>
            <a:endParaRPr lang="en-US" sz="1800" dirty="0"/>
          </a:p>
        </p:txBody>
      </p:sp>
      <p:sp>
        <p:nvSpPr>
          <p:cNvPr id="13" name="Caixa roteiro do módulo"/>
          <p:cNvSpPr/>
          <p:nvPr/>
        </p:nvSpPr>
        <p:spPr>
          <a:xfrm>
            <a:off x="548640" y="4069080"/>
            <a:ext cx="51206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ítulo roteiro"/>
          <p:cNvSpPr txBox="1"/>
          <p:nvPr/>
        </p:nvSpPr>
        <p:spPr>
          <a:xfrm>
            <a:off x="777240" y="4251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 cada módulo</a:t>
            </a:r>
            <a:endParaRPr lang="en-US" sz="1600" dirty="0"/>
          </a:p>
        </p:txBody>
      </p:sp>
      <p:sp>
        <p:nvSpPr>
          <p:cNvPr id="15" name="Lista roteiro"/>
          <p:cNvSpPr txBox="1"/>
          <p:nvPr/>
        </p:nvSpPr>
        <p:spPr>
          <a:xfrm>
            <a:off x="777240" y="4617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que a funcionalidade faz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cenário de aplicação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chamadas e a POC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Vantagens e cuidados</a:t>
            </a:r>
            <a:endParaRPr lang="en-US" sz="1500" dirty="0"/>
          </a:p>
        </p:txBody>
      </p:sp>
      <p:sp>
        <p:nvSpPr>
          <p:cNvPr id="16" name="Cabeçalho módulos"/>
          <p:cNvSpPr txBox="1"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Os 5 módulos</a:t>
            </a:r>
            <a:endParaRPr lang="en-US" sz="1800" dirty="0"/>
          </a:p>
        </p:txBody>
      </p:sp>
      <p:sp>
        <p:nvSpPr>
          <p:cNvPr id="17" name="Módulo 1 círculo"/>
          <p:cNvSpPr/>
          <p:nvPr/>
        </p:nvSpPr>
        <p:spPr>
          <a:xfrm>
            <a:off x="63093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Módulo 1 número"/>
          <p:cNvSpPr txBox="1"/>
          <p:nvPr/>
        </p:nvSpPr>
        <p:spPr>
          <a:xfrm>
            <a:off x="6309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19" name="Nome módulo 1"/>
          <p:cNvSpPr txBox="1"/>
          <p:nvPr/>
        </p:nvSpPr>
        <p:spPr>
          <a:xfrm>
            <a:off x="7132320" y="1801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Verificação de localização</a:t>
            </a:r>
            <a:endParaRPr lang="en-US" sz="1800" dirty="0"/>
          </a:p>
        </p:txBody>
      </p:sp>
      <p:sp>
        <p:nvSpPr>
          <p:cNvPr id="20" name="Cenário módulo 1"/>
          <p:cNvSpPr txBox="1"/>
          <p:nvPr/>
        </p:nvSpPr>
        <p:spPr>
          <a:xfrm>
            <a:off x="7132320" y="2130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cenário: antifraude de cartão</a:t>
            </a:r>
            <a:endParaRPr lang="en-US" sz="1400" dirty="0"/>
          </a:p>
        </p:txBody>
      </p:sp>
      <p:sp>
        <p:nvSpPr>
          <p:cNvPr id="21" name="Módulo 2 círculo"/>
          <p:cNvSpPr/>
          <p:nvPr/>
        </p:nvSpPr>
        <p:spPr>
          <a:xfrm>
            <a:off x="6309360" y="2651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Módulo 2 número"/>
          <p:cNvSpPr txBox="1"/>
          <p:nvPr/>
        </p:nvSpPr>
        <p:spPr>
          <a:xfrm>
            <a:off x="63093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23" name="Nome módulo 2"/>
          <p:cNvSpPr txBox="1"/>
          <p:nvPr/>
        </p:nvSpPr>
        <p:spPr>
          <a:xfrm>
            <a:off x="7132320" y="26700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Know Your Customer</a:t>
            </a:r>
            <a:endParaRPr lang="en-US" sz="1800" dirty="0"/>
          </a:p>
        </p:txBody>
      </p:sp>
      <p:sp>
        <p:nvSpPr>
          <p:cNvPr id="24" name="Cenário módulo 2"/>
          <p:cNvSpPr txBox="1"/>
          <p:nvPr/>
        </p:nvSpPr>
        <p:spPr>
          <a:xfrm>
            <a:off x="7132320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cenário: abertura de conta</a:t>
            </a:r>
            <a:endParaRPr lang="en-US" sz="1400" dirty="0"/>
          </a:p>
        </p:txBody>
      </p:sp>
      <p:sp>
        <p:nvSpPr>
          <p:cNvPr id="25" name="Módulo 3 círculo"/>
          <p:cNvSpPr/>
          <p:nvPr/>
        </p:nvSpPr>
        <p:spPr>
          <a:xfrm>
            <a:off x="6309360" y="3520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Módulo 3 número"/>
          <p:cNvSpPr txBox="1"/>
          <p:nvPr/>
        </p:nvSpPr>
        <p:spPr>
          <a:xfrm>
            <a:off x="63093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27" name="Nome módulo 3"/>
          <p:cNvSpPr txBox="1"/>
          <p:nvPr/>
        </p:nvSpPr>
        <p:spPr>
          <a:xfrm>
            <a:off x="7132320" y="3538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Código por SMS (OTP)</a:t>
            </a:r>
            <a:endParaRPr lang="en-US" sz="1800" dirty="0"/>
          </a:p>
        </p:txBody>
      </p:sp>
      <p:sp>
        <p:nvSpPr>
          <p:cNvPr id="28" name="Cenário módulo 3"/>
          <p:cNvSpPr txBox="1"/>
          <p:nvPr/>
        </p:nvSpPr>
        <p:spPr>
          <a:xfrm>
            <a:off x="7132320" y="3867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cenário: login e Pix</a:t>
            </a:r>
            <a:endParaRPr lang="en-US" sz="1400" dirty="0"/>
          </a:p>
        </p:txBody>
      </p:sp>
      <p:sp>
        <p:nvSpPr>
          <p:cNvPr id="29" name="Módulo 4 círculo"/>
          <p:cNvSpPr/>
          <p:nvPr/>
        </p:nvSpPr>
        <p:spPr>
          <a:xfrm>
            <a:off x="6309360" y="4389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Módulo 4 número"/>
          <p:cNvSpPr txBox="1"/>
          <p:nvPr/>
        </p:nvSpPr>
        <p:spPr>
          <a:xfrm>
            <a:off x="63093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Nome módulo 4"/>
          <p:cNvSpPr txBox="1"/>
          <p:nvPr/>
        </p:nvSpPr>
        <p:spPr>
          <a:xfrm>
            <a:off x="7132320" y="44074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Localização do aparelho</a:t>
            </a:r>
            <a:endParaRPr lang="en-US" sz="1800" dirty="0"/>
          </a:p>
        </p:txBody>
      </p:sp>
      <p:sp>
        <p:nvSpPr>
          <p:cNvPr id="32" name="Cenário módulo 4"/>
          <p:cNvSpPr txBox="1"/>
          <p:nvPr/>
        </p:nvSpPr>
        <p:spPr>
          <a:xfrm>
            <a:off x="7132320" y="4736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cenário: socorro na estrada</a:t>
            </a:r>
            <a:endParaRPr lang="en-US" sz="1400" dirty="0"/>
          </a:p>
        </p:txBody>
      </p:sp>
      <p:sp>
        <p:nvSpPr>
          <p:cNvPr id="33" name="Módulo 5 círculo"/>
          <p:cNvSpPr/>
          <p:nvPr/>
        </p:nvSpPr>
        <p:spPr>
          <a:xfrm>
            <a:off x="6309360" y="5257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Módulo 5 número"/>
          <p:cNvSpPr txBox="1"/>
          <p:nvPr/>
        </p:nvSpPr>
        <p:spPr>
          <a:xfrm>
            <a:off x="630936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35" name="Nome módulo 5"/>
          <p:cNvSpPr txBox="1"/>
          <p:nvPr/>
        </p:nvSpPr>
        <p:spPr>
          <a:xfrm>
            <a:off x="7132320" y="5276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Troca de chip (SIM Swap)</a:t>
            </a:r>
            <a:endParaRPr lang="en-US" sz="1800" dirty="0"/>
          </a:p>
        </p:txBody>
      </p:sp>
      <p:sp>
        <p:nvSpPr>
          <p:cNvPr id="36" name="Cenário módulo 5"/>
          <p:cNvSpPr txBox="1"/>
          <p:nvPr/>
        </p:nvSpPr>
        <p:spPr>
          <a:xfrm>
            <a:off x="7132320" y="56052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cenário: golpe da troca de chip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rede móvel sabe coisas que nenhum app sabe</a:t>
            </a:r>
            <a:endParaRPr lang="en-US" sz="3200" dirty="0"/>
          </a:p>
        </p:txBody>
      </p:sp>
      <p:sp>
        <p:nvSpPr>
          <p:cNvPr id="3" name="Cartão Quem é o dono da linha"/>
          <p:cNvSpPr/>
          <p:nvPr/>
        </p:nvSpPr>
        <p:spPr>
          <a:xfrm>
            <a:off x="548640" y="132588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tão Quem é o dono da linha círculo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tão Quem é o dono da linh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797710"/>
            <a:ext cx="427939" cy="427939"/>
          </a:xfrm>
          <a:prstGeom prst="rect">
            <a:avLst/>
          </a:prstGeom>
        </p:spPr>
      </p:pic>
      <p:sp>
        <p:nvSpPr>
          <p:cNvPr id="6" name="Título Quem é o dono da linha"/>
          <p:cNvSpPr txBox="1"/>
          <p:nvPr/>
        </p:nvSpPr>
        <p:spPr>
          <a:xfrm>
            <a:off x="82296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Quem é o dono da linha</a:t>
            </a:r>
            <a:endParaRPr lang="en-US" sz="1900" dirty="0"/>
          </a:p>
        </p:txBody>
      </p:sp>
      <p:sp>
        <p:nvSpPr>
          <p:cNvPr id="7" name="Descrição Quem é o dono da linha"/>
          <p:cNvSpPr txBox="1"/>
          <p:nvPr/>
        </p:nvSpPr>
        <p:spPr>
          <a:xfrm>
            <a:off x="82296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chip é cadastrado com nome e CPF do titular.</a:t>
            </a:r>
            <a:endParaRPr lang="en-US" sz="1500" dirty="0"/>
          </a:p>
        </p:txBody>
      </p:sp>
      <p:sp>
        <p:nvSpPr>
          <p:cNvPr id="8" name="Cartão Onde o aparelho está"/>
          <p:cNvSpPr/>
          <p:nvPr/>
        </p:nvSpPr>
        <p:spPr>
          <a:xfrm>
            <a:off x="3364992" y="132588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tão Onde o aparelho está círculo"/>
          <p:cNvSpPr/>
          <p:nvPr/>
        </p:nvSpPr>
        <p:spPr>
          <a:xfrm>
            <a:off x="3639312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artão Onde o aparelho está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822" y="1797710"/>
            <a:ext cx="427939" cy="427939"/>
          </a:xfrm>
          <a:prstGeom prst="rect">
            <a:avLst/>
          </a:prstGeom>
        </p:spPr>
      </p:pic>
      <p:sp>
        <p:nvSpPr>
          <p:cNvPr id="11" name="Título Onde o aparelho está"/>
          <p:cNvSpPr txBox="1"/>
          <p:nvPr/>
        </p:nvSpPr>
        <p:spPr>
          <a:xfrm>
            <a:off x="3639312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Onde o aparelho está</a:t>
            </a:r>
            <a:endParaRPr lang="en-US" sz="1900" dirty="0"/>
          </a:p>
        </p:txBody>
      </p:sp>
      <p:sp>
        <p:nvSpPr>
          <p:cNvPr id="12" name="Descrição Onde o aparelho está"/>
          <p:cNvSpPr txBox="1"/>
          <p:nvPr/>
        </p:nvSpPr>
        <p:spPr>
          <a:xfrm>
            <a:off x="3639312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antena que atende o chip indica a região.</a:t>
            </a:r>
            <a:endParaRPr lang="en-US" sz="1500" dirty="0"/>
          </a:p>
        </p:txBody>
      </p:sp>
      <p:sp>
        <p:nvSpPr>
          <p:cNvPr id="13" name="Cartão Se a linha é nova"/>
          <p:cNvSpPr/>
          <p:nvPr/>
        </p:nvSpPr>
        <p:spPr>
          <a:xfrm>
            <a:off x="6181344" y="132588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tão Se a linha é nova círculo"/>
          <p:cNvSpPr/>
          <p:nvPr/>
        </p:nvSpPr>
        <p:spPr>
          <a:xfrm>
            <a:off x="6455664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artão Se a linha é nov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1797710"/>
            <a:ext cx="427939" cy="427939"/>
          </a:xfrm>
          <a:prstGeom prst="rect">
            <a:avLst/>
          </a:prstGeom>
        </p:spPr>
      </p:pic>
      <p:sp>
        <p:nvSpPr>
          <p:cNvPr id="16" name="Título Se a linha é nova"/>
          <p:cNvSpPr txBox="1"/>
          <p:nvPr/>
        </p:nvSpPr>
        <p:spPr>
          <a:xfrm>
            <a:off x="6455664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 a linha é nova</a:t>
            </a:r>
            <a:endParaRPr lang="en-US" sz="1900" dirty="0"/>
          </a:p>
        </p:txBody>
      </p:sp>
      <p:sp>
        <p:nvSpPr>
          <p:cNvPr id="17" name="Descrição Se a linha é nova"/>
          <p:cNvSpPr txBox="1"/>
          <p:nvPr/>
        </p:nvSpPr>
        <p:spPr>
          <a:xfrm>
            <a:off x="6455664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Desde quando a linha existe e quando o chip foi trocado.</a:t>
            </a:r>
            <a:endParaRPr lang="en-US" sz="1500" dirty="0"/>
          </a:p>
        </p:txBody>
      </p:sp>
      <p:sp>
        <p:nvSpPr>
          <p:cNvPr id="18" name="Cartão Como falar com o celular"/>
          <p:cNvSpPr/>
          <p:nvPr/>
        </p:nvSpPr>
        <p:spPr>
          <a:xfrm>
            <a:off x="8997696" y="132588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tão Como falar com o celular círculo"/>
          <p:cNvSpPr/>
          <p:nvPr/>
        </p:nvSpPr>
        <p:spPr>
          <a:xfrm>
            <a:off x="9272016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artão Como falar com o celular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526" y="1797710"/>
            <a:ext cx="427939" cy="427939"/>
          </a:xfrm>
          <a:prstGeom prst="rect">
            <a:avLst/>
          </a:prstGeom>
        </p:spPr>
      </p:pic>
      <p:sp>
        <p:nvSpPr>
          <p:cNvPr id="21" name="Título Como falar com o celular"/>
          <p:cNvSpPr txBox="1"/>
          <p:nvPr/>
        </p:nvSpPr>
        <p:spPr>
          <a:xfrm>
            <a:off x="9272016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Como falar com o celular</a:t>
            </a:r>
            <a:endParaRPr lang="en-US" sz="1900" dirty="0"/>
          </a:p>
        </p:txBody>
      </p:sp>
      <p:sp>
        <p:nvSpPr>
          <p:cNvPr id="22" name="Descrição Como falar com o celular"/>
          <p:cNvSpPr txBox="1"/>
          <p:nvPr/>
        </p:nvSpPr>
        <p:spPr>
          <a:xfrm>
            <a:off x="9272016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operadora entrega mensagens direto ao aparelho.</a:t>
            </a:r>
            <a:endParaRPr lang="en-US" sz="1500" dirty="0"/>
          </a:p>
        </p:txBody>
      </p:sp>
      <p:sp>
        <p:nvSpPr>
          <p:cNvPr id="23" name="Mensagem principal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As APIs de rede deixam um app fazer perguntas à operadora sobre essas informações, sem receber os dados pessoais do cliente.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 que isso importa: fraudes do dia a dia</a:t>
            </a:r>
            <a:endParaRPr lang="en-US" sz="3200" dirty="0"/>
          </a:p>
        </p:txBody>
      </p:sp>
      <p:sp>
        <p:nvSpPr>
          <p:cNvPr id="3" name="Rótulo problema"/>
          <p:cNvSpPr txBox="1"/>
          <p:nvPr/>
        </p:nvSpPr>
        <p:spPr>
          <a:xfrm>
            <a:off x="54864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4" name="Rótulo pergunta"/>
          <p:cNvSpPr txBox="1"/>
          <p:nvPr/>
        </p:nvSpPr>
        <p:spPr>
          <a:xfrm>
            <a:off x="6172200" y="1188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 PERGUNTA À OPERADORA</a:t>
            </a:r>
            <a:endParaRPr lang="en-US" sz="1200" dirty="0"/>
          </a:p>
        </p:txBody>
      </p:sp>
      <p:sp>
        <p:nvSpPr>
          <p:cNvPr id="5" name="Problema 1"/>
          <p:cNvSpPr/>
          <p:nvPr/>
        </p:nvSpPr>
        <p:spPr>
          <a:xfrm>
            <a:off x="548640" y="1554480"/>
            <a:ext cx="4846320" cy="786384"/>
          </a:xfrm>
          <a:prstGeom prst="roundRect">
            <a:avLst>
              <a:gd name="adj" fmla="val 1162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Problema 1 círculo"/>
          <p:cNvSpPr/>
          <p:nvPr/>
        </p:nvSpPr>
        <p:spPr>
          <a:xfrm>
            <a:off x="731520" y="1691640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Problem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814535"/>
            <a:ext cx="266273" cy="266273"/>
          </a:xfrm>
          <a:prstGeom prst="rect">
            <a:avLst/>
          </a:prstGeom>
        </p:spPr>
      </p:pic>
      <p:sp>
        <p:nvSpPr>
          <p:cNvPr id="8" name="Texto problema 1"/>
          <p:cNvSpPr txBox="1"/>
          <p:nvPr/>
        </p:nvSpPr>
        <p:spPr>
          <a:xfrm>
            <a:off x="1463040" y="158191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Cartão clonado usado numa loja</a:t>
            </a:r>
            <a:endParaRPr lang="en-US" sz="1800" dirty="0"/>
          </a:p>
        </p:txBody>
      </p:sp>
      <p:pic>
        <p:nvPicPr>
          <p:cNvPr id="9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764792"/>
            <a:ext cx="365760" cy="365760"/>
          </a:xfrm>
          <a:prstGeom prst="rect">
            <a:avLst/>
          </a:prstGeom>
        </p:spPr>
      </p:pic>
      <p:sp>
        <p:nvSpPr>
          <p:cNvPr id="10" name="Pergunta 1"/>
          <p:cNvSpPr/>
          <p:nvPr/>
        </p:nvSpPr>
        <p:spPr>
          <a:xfrm>
            <a:off x="6172200" y="1554480"/>
            <a:ext cx="544068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 pergunta 1"/>
          <p:cNvSpPr txBox="1"/>
          <p:nvPr/>
        </p:nvSpPr>
        <p:spPr>
          <a:xfrm>
            <a:off x="6400800" y="158191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celular do cliente está perto da loja?</a:t>
            </a:r>
            <a:endParaRPr lang="en-US" sz="1800" dirty="0"/>
          </a:p>
        </p:txBody>
      </p:sp>
      <p:sp>
        <p:nvSpPr>
          <p:cNvPr id="12" name="Módulo da pergunta 1"/>
          <p:cNvSpPr txBox="1"/>
          <p:nvPr/>
        </p:nvSpPr>
        <p:spPr>
          <a:xfrm>
            <a:off x="10241280" y="18013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Módulo 01</a:t>
            </a:r>
            <a:endParaRPr lang="en-US" sz="1300" dirty="0"/>
          </a:p>
        </p:txBody>
      </p:sp>
      <p:sp>
        <p:nvSpPr>
          <p:cNvPr id="13" name="Problema 2"/>
          <p:cNvSpPr/>
          <p:nvPr/>
        </p:nvSpPr>
        <p:spPr>
          <a:xfrm>
            <a:off x="548640" y="2487168"/>
            <a:ext cx="4846320" cy="786384"/>
          </a:xfrm>
          <a:prstGeom prst="roundRect">
            <a:avLst>
              <a:gd name="adj" fmla="val 1162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Problema 2 círculo"/>
          <p:cNvSpPr/>
          <p:nvPr/>
        </p:nvSpPr>
        <p:spPr>
          <a:xfrm>
            <a:off x="731520" y="2624328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roblema 2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747223"/>
            <a:ext cx="266273" cy="266273"/>
          </a:xfrm>
          <a:prstGeom prst="rect">
            <a:avLst/>
          </a:prstGeom>
        </p:spPr>
      </p:pic>
      <p:sp>
        <p:nvSpPr>
          <p:cNvPr id="16" name="Texto problema 2"/>
          <p:cNvSpPr txBox="1"/>
          <p:nvPr/>
        </p:nvSpPr>
        <p:spPr>
          <a:xfrm>
            <a:off x="1463040" y="25146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Conta aberta com dados vazados</a:t>
            </a:r>
            <a:endParaRPr lang="en-US" sz="1800" dirty="0"/>
          </a:p>
        </p:txBody>
      </p:sp>
      <p:pic>
        <p:nvPicPr>
          <p:cNvPr id="17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697480"/>
            <a:ext cx="365760" cy="365760"/>
          </a:xfrm>
          <a:prstGeom prst="rect">
            <a:avLst/>
          </a:prstGeom>
        </p:spPr>
      </p:pic>
      <p:sp>
        <p:nvSpPr>
          <p:cNvPr id="18" name="Pergunta 2"/>
          <p:cNvSpPr/>
          <p:nvPr/>
        </p:nvSpPr>
        <p:spPr>
          <a:xfrm>
            <a:off x="6172200" y="2487168"/>
            <a:ext cx="544068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o pergunta 2"/>
          <p:cNvSpPr txBox="1"/>
          <p:nvPr/>
        </p:nvSpPr>
        <p:spPr>
          <a:xfrm>
            <a:off x="6400800" y="25146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Os dados são do dono desta linha?</a:t>
            </a:r>
            <a:endParaRPr lang="en-US" sz="1800" dirty="0"/>
          </a:p>
        </p:txBody>
      </p:sp>
      <p:sp>
        <p:nvSpPr>
          <p:cNvPr id="20" name="Módulo da pergunta 2"/>
          <p:cNvSpPr txBox="1"/>
          <p:nvPr/>
        </p:nvSpPr>
        <p:spPr>
          <a:xfrm>
            <a:off x="10241280" y="27340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Módulo 02</a:t>
            </a:r>
            <a:endParaRPr lang="en-US" sz="1300" dirty="0"/>
          </a:p>
        </p:txBody>
      </p:sp>
      <p:sp>
        <p:nvSpPr>
          <p:cNvPr id="21" name="Problema 3"/>
          <p:cNvSpPr/>
          <p:nvPr/>
        </p:nvSpPr>
        <p:spPr>
          <a:xfrm>
            <a:off x="548640" y="3419856"/>
            <a:ext cx="4846320" cy="786384"/>
          </a:xfrm>
          <a:prstGeom prst="roundRect">
            <a:avLst>
              <a:gd name="adj" fmla="val 1162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2" name="Problema 3 círculo"/>
          <p:cNvSpPr/>
          <p:nvPr/>
        </p:nvSpPr>
        <p:spPr>
          <a:xfrm>
            <a:off x="731520" y="3557016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Problema 3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15" y="3679911"/>
            <a:ext cx="266273" cy="266273"/>
          </a:xfrm>
          <a:prstGeom prst="rect">
            <a:avLst/>
          </a:prstGeom>
        </p:spPr>
      </p:pic>
      <p:sp>
        <p:nvSpPr>
          <p:cNvPr id="24" name="Texto problema 3"/>
          <p:cNvSpPr txBox="1"/>
          <p:nvPr/>
        </p:nvSpPr>
        <p:spPr>
          <a:xfrm>
            <a:off x="1463040" y="34472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Senha roubada usada no login</a:t>
            </a:r>
            <a:endParaRPr lang="en-US" sz="1800" dirty="0"/>
          </a:p>
        </p:txBody>
      </p:sp>
      <p:pic>
        <p:nvPicPr>
          <p:cNvPr id="2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3630168"/>
            <a:ext cx="365760" cy="365760"/>
          </a:xfrm>
          <a:prstGeom prst="rect">
            <a:avLst/>
          </a:prstGeom>
        </p:spPr>
      </p:pic>
      <p:sp>
        <p:nvSpPr>
          <p:cNvPr id="26" name="Pergunta 3"/>
          <p:cNvSpPr/>
          <p:nvPr/>
        </p:nvSpPr>
        <p:spPr>
          <a:xfrm>
            <a:off x="6172200" y="3419856"/>
            <a:ext cx="544068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o pergunta 3"/>
          <p:cNvSpPr txBox="1"/>
          <p:nvPr/>
        </p:nvSpPr>
        <p:spPr>
          <a:xfrm>
            <a:off x="6400800" y="34472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código chegou ao celular certo?</a:t>
            </a:r>
            <a:endParaRPr lang="en-US" sz="1800" dirty="0"/>
          </a:p>
        </p:txBody>
      </p:sp>
      <p:sp>
        <p:nvSpPr>
          <p:cNvPr id="28" name="Módulo da pergunta 3"/>
          <p:cNvSpPr txBox="1"/>
          <p:nvPr/>
        </p:nvSpPr>
        <p:spPr>
          <a:xfrm>
            <a:off x="10241280" y="36667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Módulo 03</a:t>
            </a:r>
            <a:endParaRPr lang="en-US" sz="1300" dirty="0"/>
          </a:p>
        </p:txBody>
      </p:sp>
      <p:sp>
        <p:nvSpPr>
          <p:cNvPr id="29" name="Problema 4"/>
          <p:cNvSpPr/>
          <p:nvPr/>
        </p:nvSpPr>
        <p:spPr>
          <a:xfrm>
            <a:off x="548640" y="4352544"/>
            <a:ext cx="4846320" cy="786384"/>
          </a:xfrm>
          <a:prstGeom prst="roundRect">
            <a:avLst>
              <a:gd name="adj" fmla="val 1162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0" name="Problema 4 círculo"/>
          <p:cNvSpPr/>
          <p:nvPr/>
        </p:nvSpPr>
        <p:spPr>
          <a:xfrm>
            <a:off x="731520" y="4489704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Problema 4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15" y="4612599"/>
            <a:ext cx="266273" cy="266273"/>
          </a:xfrm>
          <a:prstGeom prst="rect">
            <a:avLst/>
          </a:prstGeom>
        </p:spPr>
      </p:pic>
      <p:sp>
        <p:nvSpPr>
          <p:cNvPr id="32" name="Texto problema 4"/>
          <p:cNvSpPr txBox="1"/>
          <p:nvPr/>
        </p:nvSpPr>
        <p:spPr>
          <a:xfrm>
            <a:off x="1463040" y="437997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Cliente perdido na estrada</a:t>
            </a:r>
            <a:endParaRPr lang="en-US" sz="1800" dirty="0"/>
          </a:p>
        </p:txBody>
      </p:sp>
      <p:pic>
        <p:nvPicPr>
          <p:cNvPr id="33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6128" y="4562856"/>
            <a:ext cx="365760" cy="365760"/>
          </a:xfrm>
          <a:prstGeom prst="rect">
            <a:avLst/>
          </a:prstGeom>
        </p:spPr>
      </p:pic>
      <p:sp>
        <p:nvSpPr>
          <p:cNvPr id="34" name="Pergunta 4"/>
          <p:cNvSpPr/>
          <p:nvPr/>
        </p:nvSpPr>
        <p:spPr>
          <a:xfrm>
            <a:off x="6172200" y="4352544"/>
            <a:ext cx="544068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o pergunta 4"/>
          <p:cNvSpPr txBox="1"/>
          <p:nvPr/>
        </p:nvSpPr>
        <p:spPr>
          <a:xfrm>
            <a:off x="6400800" y="437997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está o celular?</a:t>
            </a:r>
            <a:endParaRPr lang="en-US" sz="1800" dirty="0"/>
          </a:p>
        </p:txBody>
      </p:sp>
      <p:sp>
        <p:nvSpPr>
          <p:cNvPr id="36" name="Módulo da pergunta 4"/>
          <p:cNvSpPr txBox="1"/>
          <p:nvPr/>
        </p:nvSpPr>
        <p:spPr>
          <a:xfrm>
            <a:off x="10241280" y="459943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Módulo 04</a:t>
            </a:r>
            <a:endParaRPr lang="en-US" sz="1300" dirty="0"/>
          </a:p>
        </p:txBody>
      </p:sp>
      <p:sp>
        <p:nvSpPr>
          <p:cNvPr id="37" name="Problema 5"/>
          <p:cNvSpPr/>
          <p:nvPr/>
        </p:nvSpPr>
        <p:spPr>
          <a:xfrm>
            <a:off x="548640" y="5285232"/>
            <a:ext cx="4846320" cy="786384"/>
          </a:xfrm>
          <a:prstGeom prst="roundRect">
            <a:avLst>
              <a:gd name="adj" fmla="val 1162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8" name="Problema 5 círculo"/>
          <p:cNvSpPr/>
          <p:nvPr/>
        </p:nvSpPr>
        <p:spPr>
          <a:xfrm>
            <a:off x="731520" y="5422392"/>
            <a:ext cx="512064" cy="5120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9" name="Problema 5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415" y="5545287"/>
            <a:ext cx="266273" cy="266273"/>
          </a:xfrm>
          <a:prstGeom prst="rect">
            <a:avLst/>
          </a:prstGeom>
        </p:spPr>
      </p:pic>
      <p:sp>
        <p:nvSpPr>
          <p:cNvPr id="40" name="Texto problema 5"/>
          <p:cNvSpPr txBox="1"/>
          <p:nvPr/>
        </p:nvSpPr>
        <p:spPr>
          <a:xfrm>
            <a:off x="1463040" y="531266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Golpe da troca de chip</a:t>
            </a:r>
            <a:endParaRPr lang="en-US" sz="1800" dirty="0"/>
          </a:p>
        </p:txBody>
      </p:sp>
      <p:pic>
        <p:nvPicPr>
          <p:cNvPr id="41" name="Seta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5495544"/>
            <a:ext cx="365760" cy="365760"/>
          </a:xfrm>
          <a:prstGeom prst="rect">
            <a:avLst/>
          </a:prstGeom>
        </p:spPr>
      </p:pic>
      <p:sp>
        <p:nvSpPr>
          <p:cNvPr id="42" name="Pergunta 5"/>
          <p:cNvSpPr/>
          <p:nvPr/>
        </p:nvSpPr>
        <p:spPr>
          <a:xfrm>
            <a:off x="6172200" y="5285232"/>
            <a:ext cx="544068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o pergunta 5"/>
          <p:cNvSpPr txBox="1"/>
          <p:nvPr/>
        </p:nvSpPr>
        <p:spPr>
          <a:xfrm>
            <a:off x="6400800" y="531266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chip deste número foi trocado?</a:t>
            </a:r>
            <a:endParaRPr lang="en-US" sz="1800" dirty="0"/>
          </a:p>
        </p:txBody>
      </p:sp>
      <p:sp>
        <p:nvSpPr>
          <p:cNvPr id="44" name="Módulo da pergunta 5"/>
          <p:cNvSpPr txBox="1"/>
          <p:nvPr/>
        </p:nvSpPr>
        <p:spPr>
          <a:xfrm>
            <a:off x="1024128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Módulo 05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CAMARA: o mesmo contrato em toda operadora</a:t>
            </a:r>
            <a:endParaRPr lang="en-US" sz="3200" dirty="0"/>
          </a:p>
        </p:txBody>
      </p:sp>
      <p:sp>
        <p:nvSpPr>
          <p:cNvPr id="3" name="App Banco"/>
          <p:cNvSpPr/>
          <p:nvPr/>
        </p:nvSpPr>
        <p:spPr>
          <a:xfrm>
            <a:off x="548640" y="1325880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pp Banco círculo"/>
          <p:cNvSpPr/>
          <p:nvPr/>
        </p:nvSpPr>
        <p:spPr>
          <a:xfrm>
            <a:off x="685800" y="143560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pp Banc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06" y="1554114"/>
            <a:ext cx="256764" cy="256764"/>
          </a:xfrm>
          <a:prstGeom prst="rect">
            <a:avLst/>
          </a:prstGeom>
        </p:spPr>
      </p:pic>
      <p:sp>
        <p:nvSpPr>
          <p:cNvPr id="6" name="Nome app Banco"/>
          <p:cNvSpPr txBox="1"/>
          <p:nvPr/>
        </p:nvSpPr>
        <p:spPr>
          <a:xfrm>
            <a:off x="13258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Banco</a:t>
            </a:r>
            <a:endParaRPr lang="en-US" sz="1700" dirty="0"/>
          </a:p>
        </p:txBody>
      </p:sp>
      <p:sp>
        <p:nvSpPr>
          <p:cNvPr id="7" name="App Seguradora"/>
          <p:cNvSpPr/>
          <p:nvPr/>
        </p:nvSpPr>
        <p:spPr>
          <a:xfrm>
            <a:off x="548640" y="2194560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pp Seguradora círculo"/>
          <p:cNvSpPr/>
          <p:nvPr/>
        </p:nvSpPr>
        <p:spPr>
          <a:xfrm>
            <a:off x="685800" y="230428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App Segurador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06" y="2422794"/>
            <a:ext cx="256764" cy="256764"/>
          </a:xfrm>
          <a:prstGeom prst="rect">
            <a:avLst/>
          </a:prstGeom>
        </p:spPr>
      </p:pic>
      <p:sp>
        <p:nvSpPr>
          <p:cNvPr id="10" name="Nome app Seguradora"/>
          <p:cNvSpPr txBox="1"/>
          <p:nvPr/>
        </p:nvSpPr>
        <p:spPr>
          <a:xfrm>
            <a:off x="13258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Seguradora</a:t>
            </a:r>
            <a:endParaRPr lang="en-US" sz="1700" dirty="0"/>
          </a:p>
        </p:txBody>
      </p:sp>
      <p:sp>
        <p:nvSpPr>
          <p:cNvPr id="11" name="App Loja online"/>
          <p:cNvSpPr/>
          <p:nvPr/>
        </p:nvSpPr>
        <p:spPr>
          <a:xfrm>
            <a:off x="548640" y="3063240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pp Loja online círculo"/>
          <p:cNvSpPr/>
          <p:nvPr/>
        </p:nvSpPr>
        <p:spPr>
          <a:xfrm>
            <a:off x="685800" y="317296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pp Loja online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6" y="3291474"/>
            <a:ext cx="256764" cy="256764"/>
          </a:xfrm>
          <a:prstGeom prst="rect">
            <a:avLst/>
          </a:prstGeom>
        </p:spPr>
      </p:pic>
      <p:sp>
        <p:nvSpPr>
          <p:cNvPr id="14" name="Nome app Loja online"/>
          <p:cNvSpPr txBox="1"/>
          <p:nvPr/>
        </p:nvSpPr>
        <p:spPr>
          <a:xfrm>
            <a:off x="13258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Loja online</a:t>
            </a:r>
            <a:endParaRPr lang="en-US" sz="1700" dirty="0"/>
          </a:p>
        </p:txBody>
      </p:sp>
      <p:pic>
        <p:nvPicPr>
          <p:cNvPr id="15" name="Seta app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331720"/>
            <a:ext cx="384048" cy="384048"/>
          </a:xfrm>
          <a:prstGeom prst="rect">
            <a:avLst/>
          </a:prstGeom>
        </p:spPr>
      </p:pic>
      <p:sp>
        <p:nvSpPr>
          <p:cNvPr id="16" name="Caixa API CAMARA"/>
          <p:cNvSpPr/>
          <p:nvPr/>
        </p:nvSpPr>
        <p:spPr>
          <a:xfrm>
            <a:off x="3931920" y="1325880"/>
            <a:ext cx="4206240" cy="2450592"/>
          </a:xfrm>
          <a:prstGeom prst="roundRect">
            <a:avLst>
              <a:gd name="adj" fmla="val 4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Nome CAMARA"/>
          <p:cNvSpPr txBox="1"/>
          <p:nvPr/>
        </p:nvSpPr>
        <p:spPr>
          <a:xfrm>
            <a:off x="411480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CAMARA</a:t>
            </a:r>
            <a:endParaRPr lang="en-US" sz="3200" dirty="0"/>
          </a:p>
        </p:txBody>
      </p:sp>
      <p:sp>
        <p:nvSpPr>
          <p:cNvPr id="18" name="Descrição CAMARA"/>
          <p:cNvSpPr txBox="1"/>
          <p:nvPr/>
        </p:nvSpPr>
        <p:spPr>
          <a:xfrm>
            <a:off x="411480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mesmos endereços, campos, respostas e erros</a:t>
            </a:r>
            <a:endParaRPr lang="en-US" sz="1700" dirty="0"/>
          </a:p>
        </p:txBody>
      </p:sp>
      <p:pic>
        <p:nvPicPr>
          <p:cNvPr id="19" name="Seta operadora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331720"/>
            <a:ext cx="384048" cy="384048"/>
          </a:xfrm>
          <a:prstGeom prst="rect">
            <a:avLst/>
          </a:prstGeom>
        </p:spPr>
      </p:pic>
      <p:sp>
        <p:nvSpPr>
          <p:cNvPr id="20" name="Operadora Vivo"/>
          <p:cNvSpPr/>
          <p:nvPr/>
        </p:nvSpPr>
        <p:spPr>
          <a:xfrm>
            <a:off x="8869680" y="132588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1" name="Nome operadora Vivo"/>
          <p:cNvSpPr txBox="1"/>
          <p:nvPr/>
        </p:nvSpPr>
        <p:spPr>
          <a:xfrm>
            <a:off x="9052560" y="1435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Vivo</a:t>
            </a:r>
            <a:endParaRPr lang="en-US" sz="1600" dirty="0"/>
          </a:p>
        </p:txBody>
      </p:sp>
      <p:sp>
        <p:nvSpPr>
          <p:cNvPr id="22" name="Operadora Claro"/>
          <p:cNvSpPr/>
          <p:nvPr/>
        </p:nvSpPr>
        <p:spPr>
          <a:xfrm>
            <a:off x="8869680" y="196596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3" name="Nome operadora Claro"/>
          <p:cNvSpPr txBox="1"/>
          <p:nvPr/>
        </p:nvSpPr>
        <p:spPr>
          <a:xfrm>
            <a:off x="9052560" y="2075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Claro</a:t>
            </a:r>
            <a:endParaRPr lang="en-US" sz="1600" dirty="0"/>
          </a:p>
        </p:txBody>
      </p:sp>
      <p:sp>
        <p:nvSpPr>
          <p:cNvPr id="24" name="Operadora TIM"/>
          <p:cNvSpPr/>
          <p:nvPr/>
        </p:nvSpPr>
        <p:spPr>
          <a:xfrm>
            <a:off x="8869680" y="260604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5" name="Nome operadora TIM"/>
          <p:cNvSpPr txBox="1"/>
          <p:nvPr/>
        </p:nvSpPr>
        <p:spPr>
          <a:xfrm>
            <a:off x="9052560" y="2715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TIM</a:t>
            </a:r>
            <a:endParaRPr lang="en-US" sz="1600" dirty="0"/>
          </a:p>
        </p:txBody>
      </p:sp>
      <p:sp>
        <p:nvSpPr>
          <p:cNvPr id="26" name="Operadora + operadoras no mundo"/>
          <p:cNvSpPr/>
          <p:nvPr/>
        </p:nvSpPr>
        <p:spPr>
          <a:xfrm>
            <a:off x="8869680" y="3246120"/>
            <a:ext cx="2743200" cy="512064"/>
          </a:xfrm>
          <a:prstGeom prst="roundRect">
            <a:avLst>
              <a:gd name="adj" fmla="val 1785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7" name="Nome operadora + operadoras no mundo"/>
          <p:cNvSpPr txBox="1"/>
          <p:nvPr/>
        </p:nvSpPr>
        <p:spPr>
          <a:xfrm>
            <a:off x="9052560" y="3355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+ operadoras no mundo</a:t>
            </a:r>
            <a:endParaRPr lang="en-US" sz="1600" dirty="0"/>
          </a:p>
        </p:txBody>
      </p:sp>
      <p:sp>
        <p:nvSpPr>
          <p:cNvPr id="28" name="Fato Projeto aberto"/>
          <p:cNvSpPr txBox="1"/>
          <p:nvPr/>
        </p:nvSpPr>
        <p:spPr>
          <a:xfrm>
            <a:off x="54864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Projeto aberto</a:t>
            </a:r>
            <a:endParaRPr lang="en-US" sz="1800" dirty="0"/>
          </a:p>
        </p:txBody>
      </p:sp>
      <p:sp>
        <p:nvSpPr>
          <p:cNvPr id="29" name="Descrição fato Projeto aberto"/>
          <p:cNvSpPr txBox="1"/>
          <p:nvPr/>
        </p:nvSpPr>
        <p:spPr>
          <a:xfrm>
            <a:off x="54864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Mantido na Linux Foundation, com a GSMA e as operadoras, desde 2022.</a:t>
            </a:r>
            <a:endParaRPr lang="en-US" sz="1500" dirty="0"/>
          </a:p>
        </p:txBody>
      </p:sp>
      <p:sp>
        <p:nvSpPr>
          <p:cNvPr id="30" name="Fato Especificação pública"/>
          <p:cNvSpPr txBox="1"/>
          <p:nvPr/>
        </p:nvSpPr>
        <p:spPr>
          <a:xfrm>
            <a:off x="42976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Especificação pública</a:t>
            </a:r>
            <a:endParaRPr lang="en-US" sz="1800" dirty="0"/>
          </a:p>
        </p:txBody>
      </p:sp>
      <p:sp>
        <p:nvSpPr>
          <p:cNvPr id="31" name="Descrição fato Especificação pública"/>
          <p:cNvSpPr txBox="1"/>
          <p:nvPr/>
        </p:nvSpPr>
        <p:spPr>
          <a:xfrm>
            <a:off x="429768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API tem um arquivo OpenAPI com campos, respostas e erros.</a:t>
            </a:r>
            <a:endParaRPr lang="en-US" sz="1500" dirty="0"/>
          </a:p>
        </p:txBody>
      </p:sp>
      <p:sp>
        <p:nvSpPr>
          <p:cNvPr id="32" name="Fato Troca sem reescrever"/>
          <p:cNvSpPr txBox="1"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Troca sem reescrever</a:t>
            </a:r>
            <a:endParaRPr lang="en-US" sz="1800" dirty="0"/>
          </a:p>
        </p:txBody>
      </p:sp>
      <p:sp>
        <p:nvSpPr>
          <p:cNvPr id="33" name="Descrição fato Troca sem reescrever"/>
          <p:cNvSpPr txBox="1"/>
          <p:nvPr/>
        </p:nvSpPr>
        <p:spPr>
          <a:xfrm>
            <a:off x="804672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mesmo código serve para qualquer operadora: muda a URL e o login.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Três camadas: quem faz o quê</a:t>
            </a:r>
            <a:endParaRPr lang="en-US" sz="3200" dirty="0"/>
          </a:p>
        </p:txBody>
      </p:sp>
      <p:sp>
        <p:nvSpPr>
          <p:cNvPr id="3" name="Camada CAMARA"/>
          <p:cNvSpPr/>
          <p:nvPr/>
        </p:nvSpPr>
        <p:spPr>
          <a:xfrm>
            <a:off x="548640" y="1280160"/>
            <a:ext cx="36576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amada CAMARA círculo"/>
          <p:cNvSpPr/>
          <p:nvPr/>
        </p:nvSpPr>
        <p:spPr>
          <a:xfrm>
            <a:off x="777240" y="1627632"/>
            <a:ext cx="676656" cy="6766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Camada CAMAR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637" y="1790029"/>
            <a:ext cx="351861" cy="351861"/>
          </a:xfrm>
          <a:prstGeom prst="rect">
            <a:avLst/>
          </a:prstGeom>
        </p:spPr>
      </p:pic>
      <p:sp>
        <p:nvSpPr>
          <p:cNvPr id="6" name="Nome camada CAMARA"/>
          <p:cNvSpPr txBox="1"/>
          <p:nvPr/>
        </p:nvSpPr>
        <p:spPr>
          <a:xfrm>
            <a:off x="1645920" y="1572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CAMARA</a:t>
            </a:r>
            <a:endParaRPr lang="en-US" sz="2000" dirty="0"/>
          </a:p>
        </p:txBody>
      </p:sp>
      <p:sp>
        <p:nvSpPr>
          <p:cNvPr id="7" name="Papel camada CAMARA"/>
          <p:cNvSpPr txBox="1"/>
          <p:nvPr/>
        </p:nvSpPr>
        <p:spPr>
          <a:xfrm>
            <a:off x="16459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especificação</a:t>
            </a:r>
            <a:endParaRPr lang="en-US" sz="1500" dirty="0"/>
          </a:p>
        </p:txBody>
      </p:sp>
      <p:sp>
        <p:nvSpPr>
          <p:cNvPr id="8" name="Descrição camada CAMARA"/>
          <p:cNvSpPr/>
          <p:nvPr/>
        </p:nvSpPr>
        <p:spPr>
          <a:xfrm>
            <a:off x="4434840" y="1280160"/>
            <a:ext cx="7178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o camada CAMARA"/>
          <p:cNvSpPr txBox="1"/>
          <p:nvPr/>
        </p:nvSpPr>
        <p:spPr>
          <a:xfrm>
            <a:off x="4709160" y="14630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Define a pergunta, os campos, as respostas e os códigos de erro. Exemplo: verificationResult pode ser TRUE, FALSE, PARTIAL ou UNKNOWN.</a:t>
            </a:r>
            <a:endParaRPr lang="en-US" sz="1700" dirty="0"/>
          </a:p>
        </p:txBody>
      </p:sp>
      <p:sp>
        <p:nvSpPr>
          <p:cNvPr id="10" name="Camada GSMA Open Gateway"/>
          <p:cNvSpPr/>
          <p:nvPr/>
        </p:nvSpPr>
        <p:spPr>
          <a:xfrm>
            <a:off x="548640" y="2880360"/>
            <a:ext cx="365760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mada GSMA Open Gateway círculo"/>
          <p:cNvSpPr/>
          <p:nvPr/>
        </p:nvSpPr>
        <p:spPr>
          <a:xfrm>
            <a:off x="777240" y="3227832"/>
            <a:ext cx="676656" cy="6766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Camada GSMA Open Gateway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37" y="3390229"/>
            <a:ext cx="351861" cy="351861"/>
          </a:xfrm>
          <a:prstGeom prst="rect">
            <a:avLst/>
          </a:prstGeom>
        </p:spPr>
      </p:pic>
      <p:sp>
        <p:nvSpPr>
          <p:cNvPr id="13" name="Nome camada GSMA Open Gateway"/>
          <p:cNvSpPr txBox="1"/>
          <p:nvPr/>
        </p:nvSpPr>
        <p:spPr>
          <a:xfrm>
            <a:off x="1645920" y="3172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GSMA Open Gateway</a:t>
            </a:r>
            <a:endParaRPr lang="en-US" sz="2000" dirty="0"/>
          </a:p>
        </p:txBody>
      </p:sp>
      <p:sp>
        <p:nvSpPr>
          <p:cNvPr id="14" name="Papel camada GSMA Open Gateway"/>
          <p:cNvSpPr txBox="1"/>
          <p:nvPr/>
        </p:nvSpPr>
        <p:spPr>
          <a:xfrm>
            <a:off x="164592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programa e o sandbox</a:t>
            </a:r>
            <a:endParaRPr lang="en-US" sz="1500" dirty="0"/>
          </a:p>
        </p:txBody>
      </p:sp>
      <p:sp>
        <p:nvSpPr>
          <p:cNvPr id="15" name="Descrição camada GSMA Open Gateway"/>
          <p:cNvSpPr/>
          <p:nvPr/>
        </p:nvSpPr>
        <p:spPr>
          <a:xfrm>
            <a:off x="4434840" y="2880360"/>
            <a:ext cx="7178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camada GSMA Open Gateway"/>
          <p:cNvSpPr txBox="1"/>
          <p:nvPr/>
        </p:nvSpPr>
        <p:spPr>
          <a:xfrm>
            <a:off x="4709160" y="30632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Reúne as operadoras, publica as APIs para as empresas e oferece o ambiente de testes que usamos nesta aula.</a:t>
            </a:r>
            <a:endParaRPr lang="en-US" sz="1700" dirty="0"/>
          </a:p>
        </p:txBody>
      </p:sp>
      <p:sp>
        <p:nvSpPr>
          <p:cNvPr id="17" name="Camada Operadoras"/>
          <p:cNvSpPr/>
          <p:nvPr/>
        </p:nvSpPr>
        <p:spPr>
          <a:xfrm>
            <a:off x="548640" y="4480560"/>
            <a:ext cx="365760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Camada Operadoras círculo"/>
          <p:cNvSpPr/>
          <p:nvPr/>
        </p:nvSpPr>
        <p:spPr>
          <a:xfrm>
            <a:off x="777240" y="4828032"/>
            <a:ext cx="676656" cy="6766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Camada Operadora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37" y="4990429"/>
            <a:ext cx="351861" cy="351861"/>
          </a:xfrm>
          <a:prstGeom prst="rect">
            <a:avLst/>
          </a:prstGeom>
        </p:spPr>
      </p:pic>
      <p:sp>
        <p:nvSpPr>
          <p:cNvPr id="20" name="Nome camada Operadoras"/>
          <p:cNvSpPr txBox="1"/>
          <p:nvPr/>
        </p:nvSpPr>
        <p:spPr>
          <a:xfrm>
            <a:off x="1645920" y="4773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Operadoras</a:t>
            </a:r>
            <a:endParaRPr lang="en-US" sz="2000" dirty="0"/>
          </a:p>
        </p:txBody>
      </p:sp>
      <p:sp>
        <p:nvSpPr>
          <p:cNvPr id="21" name="Papel camada Operadoras"/>
          <p:cNvSpPr txBox="1"/>
          <p:nvPr/>
        </p:nvSpPr>
        <p:spPr>
          <a:xfrm>
            <a:off x="164592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implementação real</a:t>
            </a:r>
            <a:endParaRPr lang="en-US" sz="1500" dirty="0"/>
          </a:p>
        </p:txBody>
      </p:sp>
      <p:sp>
        <p:nvSpPr>
          <p:cNvPr id="22" name="Descrição camada Operadoras"/>
          <p:cNvSpPr/>
          <p:nvPr/>
        </p:nvSpPr>
        <p:spPr>
          <a:xfrm>
            <a:off x="4434840" y="4480560"/>
            <a:ext cx="7178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o camada Operadoras"/>
          <p:cNvSpPr txBox="1"/>
          <p:nvPr/>
        </p:nvSpPr>
        <p:spPr>
          <a:xfrm>
            <a:off x="4709160" y="46634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Respondem com dados de verdade em produção, com contrato, cobrança e consentimento do cliente.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sandbox: como começamos a testar</a:t>
            </a:r>
            <a:endParaRPr lang="en-US" sz="3200" dirty="0"/>
          </a:p>
        </p:txBody>
      </p:sp>
      <p:sp>
        <p:nvSpPr>
          <p:cNvPr id="3" name="Passo Criar um app"/>
          <p:cNvSpPr/>
          <p:nvPr/>
        </p:nvSpPr>
        <p:spPr>
          <a:xfrm>
            <a:off x="548640" y="1325880"/>
            <a:ext cx="2542032" cy="269748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so 1 círculo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asso 1 número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so Criar um app círculo"/>
          <p:cNvSpPr/>
          <p:nvPr/>
        </p:nvSpPr>
        <p:spPr>
          <a:xfrm>
            <a:off x="22860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sso Criar um app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674" y="1640434"/>
            <a:ext cx="285293" cy="285293"/>
          </a:xfrm>
          <a:prstGeom prst="rect">
            <a:avLst/>
          </a:prstGeom>
        </p:spPr>
      </p:pic>
      <p:sp>
        <p:nvSpPr>
          <p:cNvPr id="8" name="Título passo Criar um app"/>
          <p:cNvSpPr txBox="1"/>
          <p:nvPr/>
        </p:nvSpPr>
        <p:spPr>
          <a:xfrm>
            <a:off x="7772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Criar um app</a:t>
            </a:r>
            <a:endParaRPr lang="en-US" sz="1900" dirty="0"/>
          </a:p>
        </p:txBody>
      </p:sp>
      <p:sp>
        <p:nvSpPr>
          <p:cNvPr id="9" name="Texto passo Criar um app"/>
          <p:cNvSpPr txBox="1"/>
          <p:nvPr/>
        </p:nvSpPr>
        <p:spPr>
          <a:xfrm>
            <a:off x="77724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Escolher as APIs liberadas: localização, KYC, OTP e outras.</a:t>
            </a:r>
            <a:endParaRPr lang="en-US" sz="1500" dirty="0"/>
          </a:p>
        </p:txBody>
      </p:sp>
      <p:pic>
        <p:nvPicPr>
          <p:cNvPr id="10" name="Seta pass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514600"/>
            <a:ext cx="228600" cy="320040"/>
          </a:xfrm>
          <a:prstGeom prst="rect">
            <a:avLst/>
          </a:prstGeom>
        </p:spPr>
      </p:pic>
      <p:sp>
        <p:nvSpPr>
          <p:cNvPr id="11" name="Passo Ativar escopos"/>
          <p:cNvSpPr/>
          <p:nvPr/>
        </p:nvSpPr>
        <p:spPr>
          <a:xfrm>
            <a:off x="3401568" y="1325880"/>
            <a:ext cx="2542032" cy="269748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so 2 círculo"/>
          <p:cNvSpPr/>
          <p:nvPr/>
        </p:nvSpPr>
        <p:spPr>
          <a:xfrm>
            <a:off x="3630168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Passo 2 número"/>
          <p:cNvSpPr txBox="1"/>
          <p:nvPr/>
        </p:nvSpPr>
        <p:spPr>
          <a:xfrm>
            <a:off x="36301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so Ativar escopos círculo"/>
          <p:cNvSpPr/>
          <p:nvPr/>
        </p:nvSpPr>
        <p:spPr>
          <a:xfrm>
            <a:off x="5138928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asso Ativar escop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02" y="1640434"/>
            <a:ext cx="285293" cy="285293"/>
          </a:xfrm>
          <a:prstGeom prst="rect">
            <a:avLst/>
          </a:prstGeom>
        </p:spPr>
      </p:pic>
      <p:sp>
        <p:nvSpPr>
          <p:cNvPr id="16" name="Título passo Ativar escopos"/>
          <p:cNvSpPr txBox="1"/>
          <p:nvPr/>
        </p:nvSpPr>
        <p:spPr>
          <a:xfrm>
            <a:off x="3630168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Ativar escopos</a:t>
            </a:r>
            <a:endParaRPr lang="en-US" sz="1900" dirty="0"/>
          </a:p>
        </p:txBody>
      </p:sp>
      <p:sp>
        <p:nvSpPr>
          <p:cNvPr id="17" name="Texto passo Ativar escopos"/>
          <p:cNvSpPr txBox="1"/>
          <p:nvPr/>
        </p:nvSpPr>
        <p:spPr>
          <a:xfrm>
            <a:off x="3630168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API tem um escopo, por exemplo kyc-match:match.</a:t>
            </a:r>
            <a:endParaRPr lang="en-US" sz="1500" dirty="0"/>
          </a:p>
        </p:txBody>
      </p:sp>
      <p:pic>
        <p:nvPicPr>
          <p:cNvPr id="18" name="Seta passo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514600"/>
            <a:ext cx="228600" cy="320040"/>
          </a:xfrm>
          <a:prstGeom prst="rect">
            <a:avLst/>
          </a:prstGeom>
        </p:spPr>
      </p:pic>
      <p:sp>
        <p:nvSpPr>
          <p:cNvPr id="19" name="Passo Gerar o token"/>
          <p:cNvSpPr/>
          <p:nvPr/>
        </p:nvSpPr>
        <p:spPr>
          <a:xfrm>
            <a:off x="6254496" y="1325880"/>
            <a:ext cx="2542032" cy="269748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so 3 círculo"/>
          <p:cNvSpPr/>
          <p:nvPr/>
        </p:nvSpPr>
        <p:spPr>
          <a:xfrm>
            <a:off x="6483096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asso 3 número"/>
          <p:cNvSpPr txBox="1"/>
          <p:nvPr/>
        </p:nvSpPr>
        <p:spPr>
          <a:xfrm>
            <a:off x="64830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Passo Gerar o token círculo"/>
          <p:cNvSpPr/>
          <p:nvPr/>
        </p:nvSpPr>
        <p:spPr>
          <a:xfrm>
            <a:off x="7991856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Passo Gerar o token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530" y="1640434"/>
            <a:ext cx="285293" cy="285293"/>
          </a:xfrm>
          <a:prstGeom prst="rect">
            <a:avLst/>
          </a:prstGeom>
        </p:spPr>
      </p:pic>
      <p:sp>
        <p:nvSpPr>
          <p:cNvPr id="24" name="Título passo Gerar o token"/>
          <p:cNvSpPr txBox="1"/>
          <p:nvPr/>
        </p:nvSpPr>
        <p:spPr>
          <a:xfrm>
            <a:off x="6483096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Gerar o token</a:t>
            </a:r>
            <a:endParaRPr lang="en-US" sz="1900" dirty="0"/>
          </a:p>
        </p:txBody>
      </p:sp>
      <p:sp>
        <p:nvSpPr>
          <p:cNvPr id="25" name="Texto passo Gerar o token"/>
          <p:cNvSpPr txBox="1"/>
          <p:nvPr/>
        </p:nvSpPr>
        <p:spPr>
          <a:xfrm>
            <a:off x="6483096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Fluxo Client Credentials. O token vale só 5 minutos.</a:t>
            </a:r>
            <a:endParaRPr lang="en-US" sz="1500" dirty="0"/>
          </a:p>
        </p:txBody>
      </p:sp>
      <p:pic>
        <p:nvPicPr>
          <p:cNvPr id="26" name="Seta passo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48" y="2514600"/>
            <a:ext cx="228600" cy="320040"/>
          </a:xfrm>
          <a:prstGeom prst="rect">
            <a:avLst/>
          </a:prstGeom>
        </p:spPr>
      </p:pic>
      <p:sp>
        <p:nvSpPr>
          <p:cNvPr id="27" name="Passo Chamar a API"/>
          <p:cNvSpPr/>
          <p:nvPr/>
        </p:nvSpPr>
        <p:spPr>
          <a:xfrm>
            <a:off x="9107424" y="1325880"/>
            <a:ext cx="2542032" cy="269748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asso 4 círculo"/>
          <p:cNvSpPr/>
          <p:nvPr/>
        </p:nvSpPr>
        <p:spPr>
          <a:xfrm>
            <a:off x="9336024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Passo 4 número"/>
          <p:cNvSpPr txBox="1"/>
          <p:nvPr/>
        </p:nvSpPr>
        <p:spPr>
          <a:xfrm>
            <a:off x="933602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Passo Chamar a API círculo"/>
          <p:cNvSpPr/>
          <p:nvPr/>
        </p:nvSpPr>
        <p:spPr>
          <a:xfrm>
            <a:off x="10844784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Passo Chamar a API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6458" y="1640434"/>
            <a:ext cx="285293" cy="285293"/>
          </a:xfrm>
          <a:prstGeom prst="rect">
            <a:avLst/>
          </a:prstGeom>
        </p:spPr>
      </p:pic>
      <p:sp>
        <p:nvSpPr>
          <p:cNvPr id="32" name="Título passo Chamar a API"/>
          <p:cNvSpPr txBox="1"/>
          <p:nvPr/>
        </p:nvSpPr>
        <p:spPr>
          <a:xfrm>
            <a:off x="9336024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Chamar a API</a:t>
            </a:r>
            <a:endParaRPr lang="en-US" sz="1900" dirty="0"/>
          </a:p>
        </p:txBody>
      </p:sp>
      <p:sp>
        <p:nvSpPr>
          <p:cNvPr id="33" name="Texto passo Chamar a API"/>
          <p:cNvSpPr txBox="1"/>
          <p:nvPr/>
        </p:nvSpPr>
        <p:spPr>
          <a:xfrm>
            <a:off x="9336024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 com o token no cabeçalho Authorization: Bearer.</a:t>
            </a:r>
            <a:endParaRPr lang="en-US" sz="1500" dirty="0"/>
          </a:p>
        </p:txBody>
      </p:sp>
      <p:sp>
        <p:nvSpPr>
          <p:cNvPr id="34" name="Aviso simulado"/>
          <p:cNvSpPr/>
          <p:nvPr/>
        </p:nvSpPr>
        <p:spPr>
          <a:xfrm>
            <a:off x="548640" y="43434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35" name="Aviso simulado círculo"/>
          <p:cNvSpPr/>
          <p:nvPr/>
        </p:nvSpPr>
        <p:spPr>
          <a:xfrm>
            <a:off x="777240" y="47091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Aviso simulado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4873752"/>
            <a:ext cx="356616" cy="356616"/>
          </a:xfrm>
          <a:prstGeom prst="rect">
            <a:avLst/>
          </a:prstGeom>
        </p:spPr>
      </p:pic>
      <p:sp>
        <p:nvSpPr>
          <p:cNvPr id="37" name="Texto aviso simulado"/>
          <p:cNvSpPr txBox="1"/>
          <p:nvPr/>
        </p:nvSpPr>
        <p:spPr>
          <a:xfrm>
            <a:off x="1691640" y="45720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há operadora de verdade: as respostas são simuladas e os números de telefone são fictícios.</a:t>
            </a:r>
            <a:endParaRPr lang="en-US" sz="1600" dirty="0"/>
          </a:p>
        </p:txBody>
      </p:sp>
      <p:sp>
        <p:nvSpPr>
          <p:cNvPr id="38" name="Vantagem sandbox"/>
          <p:cNvSpPr/>
          <p:nvPr/>
        </p:nvSpPr>
        <p:spPr>
          <a:xfrm>
            <a:off x="6217920" y="4343400"/>
            <a:ext cx="53949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Vantagem sandbox círculo"/>
          <p:cNvSpPr/>
          <p:nvPr/>
        </p:nvSpPr>
        <p:spPr>
          <a:xfrm>
            <a:off x="6446520" y="4709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Vantagem sandbox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4873752"/>
            <a:ext cx="356616" cy="356616"/>
          </a:xfrm>
          <a:prstGeom prst="rect">
            <a:avLst/>
          </a:prstGeom>
        </p:spPr>
      </p:pic>
      <p:sp>
        <p:nvSpPr>
          <p:cNvPr id="41" name="Texto vantagem sandbox"/>
          <p:cNvSpPr txBox="1"/>
          <p:nvPr/>
        </p:nvSpPr>
        <p:spPr>
          <a:xfrm>
            <a:off x="7360920" y="45720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Ótimo para aprender a integração e preparar o sistema para todas as respostas possíveis.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segredo do sandbox: os 2 últimos dígitos</a:t>
            </a:r>
            <a:endParaRPr lang="en-US" sz="3200" dirty="0"/>
          </a:p>
        </p:txBody>
      </p:sp>
      <p:sp>
        <p:nvSpPr>
          <p:cNvPr id="3" name="Caixa do telefone"/>
          <p:cNvSpPr/>
          <p:nvPr/>
        </p:nvSpPr>
        <p:spPr>
          <a:xfrm>
            <a:off x="548640" y="1325880"/>
            <a:ext cx="585216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lefone exemplo"/>
          <p:cNvSpPr txBox="1"/>
          <p:nvPr/>
        </p:nvSpPr>
        <p:spPr>
          <a:xfrm>
            <a:off x="548640" y="13258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+1555000</a:t>
            </a:r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4800" dirty="0"/>
          </a:p>
        </p:txBody>
      </p:sp>
      <p:sp>
        <p:nvSpPr>
          <p:cNvPr id="5" name="Explicação final 35"/>
          <p:cNvSpPr txBox="1"/>
          <p:nvPr/>
        </p:nvSpPr>
        <p:spPr>
          <a:xfrm>
            <a:off x="548640" y="2880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Final 35 na verificação de localização: resposta FALSE, fora da área.</a:t>
            </a:r>
            <a:endParaRPr lang="en-US" sz="1700" dirty="0"/>
          </a:p>
        </p:txBody>
      </p:sp>
      <p:sp>
        <p:nvSpPr>
          <p:cNvPr id="6" name="Faixa 00–24"/>
          <p:cNvSpPr/>
          <p:nvPr/>
        </p:nvSpPr>
        <p:spPr>
          <a:xfrm>
            <a:off x="548640" y="3703320"/>
            <a:ext cx="109728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Final 00–24"/>
          <p:cNvSpPr txBox="1"/>
          <p:nvPr/>
        </p:nvSpPr>
        <p:spPr>
          <a:xfrm>
            <a:off x="54864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00–24</a:t>
            </a:r>
            <a:endParaRPr lang="en-US" sz="1500" dirty="0"/>
          </a:p>
        </p:txBody>
      </p:sp>
      <p:sp>
        <p:nvSpPr>
          <p:cNvPr id="8" name="Resposta 00–24"/>
          <p:cNvSpPr txBox="1"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TRUE</a:t>
            </a:r>
            <a:endParaRPr lang="en-US" sz="1400" dirty="0"/>
          </a:p>
        </p:txBody>
      </p:sp>
      <p:sp>
        <p:nvSpPr>
          <p:cNvPr id="9" name="Faixa 25–49"/>
          <p:cNvSpPr/>
          <p:nvPr/>
        </p:nvSpPr>
        <p:spPr>
          <a:xfrm>
            <a:off x="1737360" y="3703320"/>
            <a:ext cx="109728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Final 25–49"/>
          <p:cNvSpPr txBox="1"/>
          <p:nvPr/>
        </p:nvSpPr>
        <p:spPr>
          <a:xfrm>
            <a:off x="173736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25–49</a:t>
            </a:r>
            <a:endParaRPr lang="en-US" sz="1500" dirty="0"/>
          </a:p>
        </p:txBody>
      </p:sp>
      <p:sp>
        <p:nvSpPr>
          <p:cNvPr id="11" name="Resposta 25–49"/>
          <p:cNvSpPr txBox="1"/>
          <p:nvPr/>
        </p:nvSpPr>
        <p:spPr>
          <a:xfrm>
            <a:off x="173736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FALSE</a:t>
            </a:r>
            <a:endParaRPr lang="en-US" sz="1400" dirty="0"/>
          </a:p>
        </p:txBody>
      </p:sp>
      <p:sp>
        <p:nvSpPr>
          <p:cNvPr id="12" name="Faixa 50–74"/>
          <p:cNvSpPr/>
          <p:nvPr/>
        </p:nvSpPr>
        <p:spPr>
          <a:xfrm>
            <a:off x="2926080" y="3703320"/>
            <a:ext cx="109728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Final 50–74"/>
          <p:cNvSpPr txBox="1"/>
          <p:nvPr/>
        </p:nvSpPr>
        <p:spPr>
          <a:xfrm>
            <a:off x="292608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50–74</a:t>
            </a:r>
            <a:endParaRPr lang="en-US" sz="1500" dirty="0"/>
          </a:p>
        </p:txBody>
      </p:sp>
      <p:sp>
        <p:nvSpPr>
          <p:cNvPr id="14" name="Resposta 50–74"/>
          <p:cNvSpPr txBox="1"/>
          <p:nvPr/>
        </p:nvSpPr>
        <p:spPr>
          <a:xfrm>
            <a:off x="292608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PARTIAL</a:t>
            </a:r>
            <a:endParaRPr lang="en-US" sz="1400" dirty="0"/>
          </a:p>
        </p:txBody>
      </p:sp>
      <p:sp>
        <p:nvSpPr>
          <p:cNvPr id="15" name="Faixa 75–89"/>
          <p:cNvSpPr/>
          <p:nvPr/>
        </p:nvSpPr>
        <p:spPr>
          <a:xfrm>
            <a:off x="4114800" y="3703320"/>
            <a:ext cx="1097280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inal 75–89"/>
          <p:cNvSpPr txBox="1"/>
          <p:nvPr/>
        </p:nvSpPr>
        <p:spPr>
          <a:xfrm>
            <a:off x="411480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75–89</a:t>
            </a:r>
            <a:endParaRPr lang="en-US" sz="1500" dirty="0"/>
          </a:p>
        </p:txBody>
      </p:sp>
      <p:sp>
        <p:nvSpPr>
          <p:cNvPr id="17" name="Resposta 75–89"/>
          <p:cNvSpPr txBox="1"/>
          <p:nvPr/>
        </p:nvSpPr>
        <p:spPr>
          <a:xfrm>
            <a:off x="411480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UNKNOWN</a:t>
            </a:r>
            <a:endParaRPr lang="en-US" sz="1400" dirty="0"/>
          </a:p>
        </p:txBody>
      </p:sp>
      <p:sp>
        <p:nvSpPr>
          <p:cNvPr id="18" name="Faixa 90–93"/>
          <p:cNvSpPr/>
          <p:nvPr/>
        </p:nvSpPr>
        <p:spPr>
          <a:xfrm>
            <a:off x="5303520" y="3703320"/>
            <a:ext cx="10972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inal 90–93"/>
          <p:cNvSpPr txBox="1"/>
          <p:nvPr/>
        </p:nvSpPr>
        <p:spPr>
          <a:xfrm>
            <a:off x="530352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90–93</a:t>
            </a:r>
            <a:endParaRPr lang="en-US" sz="1500" dirty="0"/>
          </a:p>
        </p:txBody>
      </p:sp>
      <p:sp>
        <p:nvSpPr>
          <p:cNvPr id="20" name="Resposta 90–93"/>
          <p:cNvSpPr txBox="1"/>
          <p:nvPr/>
        </p:nvSpPr>
        <p:spPr>
          <a:xfrm>
            <a:off x="530352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erros</a:t>
            </a:r>
            <a:endParaRPr lang="en-US" sz="1400" dirty="0"/>
          </a:p>
        </p:txBody>
      </p:sp>
      <p:sp>
        <p:nvSpPr>
          <p:cNvPr id="21" name="Nota faixas"/>
          <p:cNvSpPr txBox="1"/>
          <p:nvPr/>
        </p:nvSpPr>
        <p:spPr>
          <a:xfrm>
            <a:off x="548640" y="4937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Cada módulo tem a sua tabela. Algumas faixas não estão documentadas.</a:t>
            </a:r>
            <a:endParaRPr lang="en-US" sz="1500" dirty="0"/>
          </a:p>
        </p:txBody>
      </p:sp>
      <p:sp>
        <p:nvSpPr>
          <p:cNvPr id="22" name="Título método"/>
          <p:cNvSpPr txBox="1"/>
          <p:nvPr/>
        </p:nvSpPr>
        <p:spPr>
          <a:xfrm>
            <a:off x="6949440" y="1325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Nosso método: varredura</a:t>
            </a:r>
            <a:endParaRPr lang="en-US" sz="2000" dirty="0"/>
          </a:p>
        </p:txBody>
      </p:sp>
      <p:sp>
        <p:nvSpPr>
          <p:cNvPr id="23" name="Método 1 círculo"/>
          <p:cNvSpPr/>
          <p:nvPr/>
        </p:nvSpPr>
        <p:spPr>
          <a:xfrm>
            <a:off x="6949440" y="18745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Método 1 número"/>
          <p:cNvSpPr txBox="1"/>
          <p:nvPr/>
        </p:nvSpPr>
        <p:spPr>
          <a:xfrm>
            <a:off x="694944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o método 1"/>
          <p:cNvSpPr txBox="1"/>
          <p:nvPr/>
        </p:nvSpPr>
        <p:spPr>
          <a:xfrm>
            <a:off x="7498080" y="1929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Chamar a API com os finais 00 a 99</a:t>
            </a:r>
            <a:endParaRPr lang="en-US" sz="1600" dirty="0"/>
          </a:p>
        </p:txBody>
      </p:sp>
      <p:sp>
        <p:nvSpPr>
          <p:cNvPr id="26" name="Método 2 círculo"/>
          <p:cNvSpPr/>
          <p:nvPr/>
        </p:nvSpPr>
        <p:spPr>
          <a:xfrm>
            <a:off x="6949440" y="2496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Método 2 número"/>
          <p:cNvSpPr txBox="1"/>
          <p:nvPr/>
        </p:nvSpPr>
        <p:spPr>
          <a:xfrm>
            <a:off x="69494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o método 2"/>
          <p:cNvSpPr txBox="1"/>
          <p:nvPr/>
        </p:nvSpPr>
        <p:spPr>
          <a:xfrm>
            <a:off x="7498080" y="2551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Agrupar as respostas iguais</a:t>
            </a:r>
            <a:endParaRPr lang="en-US" sz="1600" dirty="0"/>
          </a:p>
        </p:txBody>
      </p:sp>
      <p:sp>
        <p:nvSpPr>
          <p:cNvPr id="29" name="Método 3 círculo"/>
          <p:cNvSpPr/>
          <p:nvPr/>
        </p:nvSpPr>
        <p:spPr>
          <a:xfrm>
            <a:off x="6949440" y="3118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Método 3 número"/>
          <p:cNvSpPr txBox="1"/>
          <p:nvPr/>
        </p:nvSpPr>
        <p:spPr>
          <a:xfrm>
            <a:off x="694944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o método 3"/>
          <p:cNvSpPr txBox="1"/>
          <p:nvPr/>
        </p:nvSpPr>
        <p:spPr>
          <a:xfrm>
            <a:off x="7498080" y="3172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Comparar com a documentação</a:t>
            </a:r>
            <a:endParaRPr lang="en-US" sz="1600" dirty="0"/>
          </a:p>
        </p:txBody>
      </p:sp>
      <p:sp>
        <p:nvSpPr>
          <p:cNvPr id="32" name="Método 4 círculo"/>
          <p:cNvSpPr/>
          <p:nvPr/>
        </p:nvSpPr>
        <p:spPr>
          <a:xfrm>
            <a:off x="6949440" y="37398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Método 4 número"/>
          <p:cNvSpPr txBox="1"/>
          <p:nvPr/>
        </p:nvSpPr>
        <p:spPr>
          <a:xfrm>
            <a:off x="694944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o método 4"/>
          <p:cNvSpPr txBox="1"/>
          <p:nvPr/>
        </p:nvSpPr>
        <p:spPr>
          <a:xfrm>
            <a:off x="749808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Testar se os dados enviados mudam algo</a:t>
            </a:r>
            <a:endParaRPr lang="en-US" sz="1600" dirty="0"/>
          </a:p>
        </p:txBody>
      </p:sp>
      <p:sp>
        <p:nvSpPr>
          <p:cNvPr id="35" name="Número de chamadas"/>
          <p:cNvSpPr txBox="1"/>
          <p:nvPr/>
        </p:nvSpPr>
        <p:spPr>
          <a:xfrm>
            <a:off x="6949440" y="4434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1.200+</a:t>
            </a:r>
            <a:endParaRPr lang="en-US" sz="6000" dirty="0"/>
          </a:p>
        </p:txBody>
      </p:sp>
      <p:sp>
        <p:nvSpPr>
          <p:cNvPr id="36" name="Legenda chamadas"/>
          <p:cNvSpPr txBox="1"/>
          <p:nvPr/>
        </p:nvSpPr>
        <p:spPr>
          <a:xfrm>
            <a:off x="9784080" y="4663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chamadas ao sandbox nos 5 módulos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Anatomia de uma chamada</a:t>
            </a:r>
            <a:endParaRPr lang="en-US" sz="3200" dirty="0"/>
          </a:p>
        </p:txBody>
      </p:sp>
      <p:sp>
        <p:nvSpPr>
          <p:cNvPr id="3" name="Caixa do código"/>
          <p:cNvSpPr/>
          <p:nvPr/>
        </p:nvSpPr>
        <p:spPr>
          <a:xfrm>
            <a:off x="548640" y="1234440"/>
            <a:ext cx="6309360" cy="4754880"/>
          </a:xfrm>
          <a:prstGeom prst="roundRect">
            <a:avLst>
              <a:gd name="adj" fmla="val 192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ódigo da chamada"/>
          <p:cNvSpPr txBox="1"/>
          <p:nvPr/>
        </p:nvSpPr>
        <p:spPr>
          <a:xfrm>
            <a:off x="777240" y="1417320"/>
            <a:ext cx="5943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resposta = await fetch(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"https://open-gateway-sandbox.gsma.com"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"/device-location-verification/v1/verify",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Authorization: `Bearer ${TOKEN}`,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"Content-Type": "application/json"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device: { phoneNumber: "+155500035"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area: { areaType: "CIRCLE",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center: { latitude: 45.754, longitude: 4.86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radius: 1000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120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5" name="Rótulo resposta"/>
          <p:cNvSpPr txBox="1"/>
          <p:nvPr/>
        </p:nvSpPr>
        <p:spPr>
          <a:xfrm>
            <a:off x="7178040" y="12344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RESPOSTA</a:t>
            </a:r>
            <a:endParaRPr lang="en-US" sz="1200" dirty="0"/>
          </a:p>
        </p:txBody>
      </p:sp>
      <p:sp>
        <p:nvSpPr>
          <p:cNvPr id="6" name="Caixa da resposta"/>
          <p:cNvSpPr/>
          <p:nvPr/>
        </p:nvSpPr>
        <p:spPr>
          <a:xfrm>
            <a:off x="7178040" y="1572768"/>
            <a:ext cx="44348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JSON da resposta"/>
          <p:cNvSpPr txBox="1"/>
          <p:nvPr/>
        </p:nvSpPr>
        <p:spPr>
          <a:xfrm>
            <a:off x="7360920" y="1691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"verificationResult": "FALSE",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"lastLocationTime":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"2023-09-07T10:40:52Z"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Anotação 1 círculo"/>
          <p:cNvSpPr/>
          <p:nvPr/>
        </p:nvSpPr>
        <p:spPr>
          <a:xfrm>
            <a:off x="7178040" y="352044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Anotação 1 número"/>
          <p:cNvSpPr txBox="1"/>
          <p:nvPr/>
        </p:nvSpPr>
        <p:spPr>
          <a:xfrm>
            <a:off x="71780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o anotação 1"/>
          <p:cNvSpPr txBox="1"/>
          <p:nvPr/>
        </p:nvSpPr>
        <p:spPr>
          <a:xfrm>
            <a:off x="7726680" y="35661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Endereço: servidor do sandbox + caminho da API</a:t>
            </a:r>
            <a:endParaRPr lang="en-US" sz="1600" dirty="0"/>
          </a:p>
        </p:txBody>
      </p:sp>
      <p:sp>
        <p:nvSpPr>
          <p:cNvPr id="11" name="Anotação 2 círculo"/>
          <p:cNvSpPr/>
          <p:nvPr/>
        </p:nvSpPr>
        <p:spPr>
          <a:xfrm>
            <a:off x="7178040" y="429768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Anotação 2 número"/>
          <p:cNvSpPr txBox="1"/>
          <p:nvPr/>
        </p:nvSpPr>
        <p:spPr>
          <a:xfrm>
            <a:off x="717804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o anotação 2"/>
          <p:cNvSpPr txBox="1"/>
          <p:nvPr/>
        </p:nvSpPr>
        <p:spPr>
          <a:xfrm>
            <a:off x="7726680" y="43434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Token de 5 minutos no cabeçalho</a:t>
            </a:r>
            <a:endParaRPr lang="en-US" sz="1600" dirty="0"/>
          </a:p>
        </p:txBody>
      </p:sp>
      <p:sp>
        <p:nvSpPr>
          <p:cNvPr id="14" name="Anotação 3 círculo"/>
          <p:cNvSpPr/>
          <p:nvPr/>
        </p:nvSpPr>
        <p:spPr>
          <a:xfrm>
            <a:off x="7178040" y="50749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Anotação 3 número"/>
          <p:cNvSpPr txBox="1"/>
          <p:nvPr/>
        </p:nvSpPr>
        <p:spPr>
          <a:xfrm>
            <a:off x="717804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o anotação 3"/>
          <p:cNvSpPr txBox="1"/>
          <p:nvPr/>
        </p:nvSpPr>
        <p:spPr>
          <a:xfrm>
            <a:off x="7726680" y="51206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Corpo em JSON: telefone e parâmetros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o módulo"/>
          <p:cNvSpPr txBox="1"/>
          <p:nvPr/>
        </p:nvSpPr>
        <p:spPr>
          <a:xfrm>
            <a:off x="73152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Verificação de localização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</a:rPr>
              <a:t>“Este celular está perto desta loja?”</a:t>
            </a:r>
            <a:endParaRPr lang="en-US" sz="2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API: Device Location Verification · pasta localizacao_seguranca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 ou não: o celular está nesta área?</a:t>
            </a:r>
            <a:endParaRPr lang="en-US" sz="3200" dirty="0"/>
          </a:p>
        </p:txBody>
      </p:sp>
      <p:sp>
        <p:nvSpPr>
          <p:cNvPr id="3" name="Rótulo Pergunta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PERGUNTA</a:t>
            </a:r>
            <a:endParaRPr lang="en-US" sz="1200" dirty="0"/>
          </a:p>
        </p:txBody>
      </p:sp>
      <p:sp>
        <p:nvSpPr>
          <p:cNvPr id="4" name="Texto Pergunta"/>
          <p:cNvSpPr txBox="1"/>
          <p:nvPr/>
        </p:nvSpPr>
        <p:spPr>
          <a:xfrm>
            <a:off x="548640" y="15361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celular deste número está dentro desta área?</a:t>
            </a:r>
            <a:endParaRPr lang="en-US" sz="1800" dirty="0"/>
          </a:p>
        </p:txBody>
      </p:sp>
      <p:sp>
        <p:nvSpPr>
          <p:cNvPr id="5" name="Rótulo Enviamos"/>
          <p:cNvSpPr txBox="1"/>
          <p:nvPr/>
        </p:nvSpPr>
        <p:spPr>
          <a:xfrm>
            <a:off x="548640" y="2423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ENVIAMOS</a:t>
            </a:r>
            <a:endParaRPr lang="en-US" sz="1200" dirty="0"/>
          </a:p>
        </p:txBody>
      </p:sp>
      <p:sp>
        <p:nvSpPr>
          <p:cNvPr id="6" name="Texto Enviamos"/>
          <p:cNvSpPr txBox="1"/>
          <p:nvPr/>
        </p:nvSpPr>
        <p:spPr>
          <a:xfrm>
            <a:off x="548640" y="27249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Telefone, uma área (círculo: centro e raio) e a idade máxima da posição (maxAge)</a:t>
            </a:r>
            <a:endParaRPr lang="en-US" sz="1800" dirty="0"/>
          </a:p>
        </p:txBody>
      </p:sp>
      <p:sp>
        <p:nvSpPr>
          <p:cNvPr id="7" name="Rótulo Recebemos"/>
          <p:cNvSpPr txBox="1"/>
          <p:nvPr/>
        </p:nvSpPr>
        <p:spPr>
          <a:xfrm>
            <a:off x="54864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RECEBEMOS</a:t>
            </a:r>
            <a:endParaRPr lang="en-US" sz="1200" dirty="0"/>
          </a:p>
        </p:txBody>
      </p:sp>
      <p:sp>
        <p:nvSpPr>
          <p:cNvPr id="8" name="Texto Recebemos"/>
          <p:cNvSpPr txBox="1"/>
          <p:nvPr/>
        </p:nvSpPr>
        <p:spPr>
          <a:xfrm>
            <a:off x="548640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TRUE, FALSE, PARTIAL (com matchRate de 0 a 100) ou UNKNOWN</a:t>
            </a:r>
            <a:endParaRPr lang="en-US" sz="1800" dirty="0"/>
          </a:p>
        </p:txBody>
      </p:sp>
      <p:sp>
        <p:nvSpPr>
          <p:cNvPr id="9" name="Caixa dos endpoints"/>
          <p:cNvSpPr/>
          <p:nvPr/>
        </p:nvSpPr>
        <p:spPr>
          <a:xfrm>
            <a:off x="548640" y="4892040"/>
            <a:ext cx="6766560" cy="566928"/>
          </a:xfrm>
          <a:prstGeom prst="roundRect">
            <a:avLst>
              <a:gd name="adj" fmla="val 96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Endpoints"/>
          <p:cNvSpPr txBox="1"/>
          <p:nvPr/>
        </p:nvSpPr>
        <p:spPr>
          <a:xfrm>
            <a:off x="731520" y="5029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/device-location-verification/v1/verify</a:t>
            </a:r>
            <a:endParaRPr lang="en-US" sz="1300" dirty="0"/>
          </a:p>
        </p:txBody>
      </p:sp>
      <p:sp>
        <p:nvSpPr>
          <p:cNvPr id="11" name="Painel onde se usa"/>
          <p:cNvSpPr/>
          <p:nvPr/>
        </p:nvSpPr>
        <p:spPr>
          <a:xfrm>
            <a:off x="7726680" y="1234440"/>
            <a:ext cx="388620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ítulo onde se usa"/>
          <p:cNvSpPr txBox="1"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se usa</a:t>
            </a:r>
            <a:endParaRPr lang="en-US" sz="1800" dirty="0"/>
          </a:p>
        </p:txBody>
      </p:sp>
      <p:sp>
        <p:nvSpPr>
          <p:cNvPr id="13" name="Uso 1 círculo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063" y="2239183"/>
            <a:ext cx="294803" cy="294803"/>
          </a:xfrm>
          <a:prstGeom prst="rect">
            <a:avLst/>
          </a:prstGeom>
        </p:spPr>
      </p:pic>
      <p:sp>
        <p:nvSpPr>
          <p:cNvPr id="15" name="Texto uso 1"/>
          <p:cNvSpPr txBox="1"/>
          <p:nvPr/>
        </p:nvSpPr>
        <p:spPr>
          <a:xfrm>
            <a:off x="8732520" y="2084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Antifraude de cartão em compra presencial</a:t>
            </a:r>
            <a:endParaRPr lang="en-US" sz="1500" dirty="0"/>
          </a:p>
        </p:txBody>
      </p:sp>
      <p:sp>
        <p:nvSpPr>
          <p:cNvPr id="16" name="Uso 2 círculo"/>
          <p:cNvSpPr/>
          <p:nvPr/>
        </p:nvSpPr>
        <p:spPr>
          <a:xfrm>
            <a:off x="800100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63" y="3473623"/>
            <a:ext cx="294803" cy="294803"/>
          </a:xfrm>
          <a:prstGeom prst="rect">
            <a:avLst/>
          </a:prstGeom>
        </p:spPr>
      </p:pic>
      <p:sp>
        <p:nvSpPr>
          <p:cNvPr id="18" name="Texto uso 2"/>
          <p:cNvSpPr txBox="1"/>
          <p:nvPr/>
        </p:nvSpPr>
        <p:spPr>
          <a:xfrm>
            <a:off x="8732520" y="331927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Confirmar Pix ou login no local de sempre</a:t>
            </a:r>
            <a:endParaRPr lang="en-US" sz="1500" dirty="0"/>
          </a:p>
        </p:txBody>
      </p:sp>
      <p:sp>
        <p:nvSpPr>
          <p:cNvPr id="19" name="Uso 3 círculo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63" y="4708063"/>
            <a:ext cx="294803" cy="294803"/>
          </a:xfrm>
          <a:prstGeom prst="rect">
            <a:avLst/>
          </a:prstGeom>
        </p:spPr>
      </p:pic>
      <p:sp>
        <p:nvSpPr>
          <p:cNvPr id="21" name="Texto uso 3"/>
          <p:cNvSpPr txBox="1"/>
          <p:nvPr/>
        </p:nvSpPr>
        <p:spPr>
          <a:xfrm>
            <a:off x="8732520" y="455371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Check-in de técnico ou entregador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Cenário: antifraude de cartão</a:t>
            </a:r>
            <a:endParaRPr lang="en-US" sz="3200" dirty="0"/>
          </a:p>
        </p:txBody>
      </p:sp>
      <p:pic>
        <p:nvPicPr>
          <p:cNvPr id="3" name="Imagem cenario_antifraude.png" descr="C:\Users\Embedded\Documents\projetos\virtus\camarasandbox\localizacao_seguranca\cenario_antifr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97950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6897950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7812350" y="1188720"/>
            <a:ext cx="3827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contar a história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781235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781235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342702" y="176479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 compra na padaria e o celular dela está perto: a compra é aprovada na hora.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781235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781235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342702" y="322783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cartão do Bruno foi clonado: o celular dele está em outra cidade e a compra é bloqueada.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7812350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781235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342702" y="469087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cliente não faz nada: a operadora já sabe em que região o celular está.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chamadas que fizemos</a:t>
            </a:r>
            <a:endParaRPr lang="en-US" sz="3200" dirty="0"/>
          </a:p>
        </p:txBody>
      </p:sp>
      <p:pic>
        <p:nvPicPr>
          <p:cNvPr id="3" name="Imagem diagrama_experimento.png" descr="C:\Users\Embedded\Documents\projetos\virtus\camarasandbox\localizacao_seguranca\diagrama_experi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639665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7639665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8554065" y="1188720"/>
            <a:ext cx="30862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descobrimos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8554065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8554065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9084417" y="1764792"/>
            <a:ext cx="2555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início a resposta era sempre TRUE: os números testados terminavam em 10–19.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8554065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8554065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9084417" y="3227832"/>
            <a:ext cx="2555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Posição e raio são ignorados no sandbox. Só o final do telefone decide.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8554065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8554065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9084417" y="4690872"/>
            <a:ext cx="2555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finais 90, 91 e 99 respondem, mas não estão na documentação.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POC: autorizador de cartão (caso_real.js)</a:t>
            </a:r>
            <a:endParaRPr lang="en-US" sz="3200" dirty="0"/>
          </a:p>
        </p:txBody>
      </p:sp>
      <p:sp>
        <p:nvSpPr>
          <p:cNvPr id="3" name="Caixa da regra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da regra"/>
          <p:cNvSpPr txBox="1"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decisão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aprova · PARTIAL com 70% ou mais aprova · FALSE acima de R$ 1.000 bloqueia, abaixo pede confirmação · UNKNOWN ou erro segue o fluxo padrão</a:t>
            </a:r>
            <a:endParaRPr lang="en-US" sz="1400" dirty="0"/>
          </a:p>
        </p:txBody>
      </p:sp>
      <p:graphicFrame>
        <p:nvGraphicFramePr>
          <p:cNvPr id="15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188720"/>
                <a:gridCol w="2834640"/>
                <a:gridCol w="196596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R$ 89,90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Padaria Centro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R$ 4.999,00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Eletrônicos Av. Paulista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Farmácia Pinheiros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(74%)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 Marginal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PADRÃO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TX-005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Mooca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 indisponível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PADRÃO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 e cuidados</a:t>
            </a:r>
            <a:endParaRPr lang="en-US" sz="3200" dirty="0"/>
          </a:p>
        </p:txBody>
      </p:sp>
      <p:sp>
        <p:nvSpPr>
          <p:cNvPr id="3" name="Cabeçalho Vantagens"/>
          <p:cNvSpPr/>
          <p:nvPr/>
        </p:nvSpPr>
        <p:spPr>
          <a:xfrm>
            <a:off x="54864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" name="Cabeçalho Vantagens círculo"/>
          <p:cNvSpPr/>
          <p:nvPr/>
        </p:nvSpPr>
        <p:spPr>
          <a:xfrm>
            <a:off x="685800" y="124358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abeçalho Vantagen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348923"/>
            <a:ext cx="228234" cy="228234"/>
          </a:xfrm>
          <a:prstGeom prst="rect">
            <a:avLst/>
          </a:prstGeom>
        </p:spPr>
      </p:pic>
      <p:sp>
        <p:nvSpPr>
          <p:cNvPr id="6" name="Título Vantagens"/>
          <p:cNvSpPr txBox="1"/>
          <p:nvPr/>
        </p:nvSpPr>
        <p:spPr>
          <a:xfrm>
            <a:off x="128016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Vantagens</a:t>
            </a:r>
            <a:endParaRPr lang="en-US" sz="1900" dirty="0"/>
          </a:p>
        </p:txBody>
      </p:sp>
      <p:sp>
        <p:nvSpPr>
          <p:cNvPr id="7" name="Vantagens marcador 1"/>
          <p:cNvSpPr/>
          <p:nvPr/>
        </p:nvSpPr>
        <p:spPr>
          <a:xfrm>
            <a:off x="685800" y="201168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Vantagens item 1"/>
          <p:cNvSpPr txBox="1"/>
          <p:nvPr/>
        </p:nvSpPr>
        <p:spPr>
          <a:xfrm>
            <a:off x="105156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Nenhum atrito para o cliente</a:t>
            </a:r>
            <a:endParaRPr lang="en-US" sz="1600" dirty="0"/>
          </a:p>
        </p:txBody>
      </p:sp>
      <p:sp>
        <p:nvSpPr>
          <p:cNvPr id="9" name="Vantagens descrição 1"/>
          <p:cNvSpPr txBox="1"/>
          <p:nvPr/>
        </p:nvSpPr>
        <p:spPr>
          <a:xfrm>
            <a:off x="105156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Não precisa instalar app, ligar o GPS nem fazer nada: a rede já sabe a região.</a:t>
            </a:r>
            <a:endParaRPr lang="en-US" sz="1400" dirty="0"/>
          </a:p>
        </p:txBody>
      </p:sp>
      <p:sp>
        <p:nvSpPr>
          <p:cNvPr id="10" name="Vantagens marcador 2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ntagens item 2"/>
          <p:cNvSpPr txBox="1"/>
          <p:nvPr/>
        </p:nvSpPr>
        <p:spPr>
          <a:xfrm>
            <a:off x="105156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Difícil de falsificar</a:t>
            </a:r>
            <a:endParaRPr lang="en-US" sz="1600" dirty="0"/>
          </a:p>
        </p:txBody>
      </p:sp>
      <p:sp>
        <p:nvSpPr>
          <p:cNvPr id="12" name="Vantagens descrição 2"/>
          <p:cNvSpPr txBox="1"/>
          <p:nvPr/>
        </p:nvSpPr>
        <p:spPr>
          <a:xfrm>
            <a:off x="105156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posição vem da antena, não do aparelho. O GPS do celular pode ser simulado por um app.</a:t>
            </a:r>
            <a:endParaRPr lang="en-US" sz="1400" dirty="0"/>
          </a:p>
        </p:txBody>
      </p:sp>
      <p:sp>
        <p:nvSpPr>
          <p:cNvPr id="13" name="Vantagens marcador 3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ntagens item 3"/>
          <p:cNvSpPr txBox="1"/>
          <p:nvPr/>
        </p:nvSpPr>
        <p:spPr>
          <a:xfrm>
            <a:off x="105156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Privacidade</a:t>
            </a:r>
            <a:endParaRPr lang="en-US" sz="1600" dirty="0"/>
          </a:p>
        </p:txBody>
      </p:sp>
      <p:sp>
        <p:nvSpPr>
          <p:cNvPr id="15" name="Vantagens descrição 3"/>
          <p:cNvSpPr txBox="1"/>
          <p:nvPr/>
        </p:nvSpPr>
        <p:spPr>
          <a:xfrm>
            <a:off x="105156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banco recebe só sim ou não. A localização do cliente não sai da operadora.</a:t>
            </a:r>
            <a:endParaRPr lang="en-US" sz="1400" dirty="0"/>
          </a:p>
        </p:txBody>
      </p:sp>
      <p:sp>
        <p:nvSpPr>
          <p:cNvPr id="16" name="Vantagens marcador 4"/>
          <p:cNvSpPr/>
          <p:nvPr/>
        </p:nvSpPr>
        <p:spPr>
          <a:xfrm>
            <a:off x="685800" y="524865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antagens item 4"/>
          <p:cNvSpPr txBox="1"/>
          <p:nvPr/>
        </p:nvSpPr>
        <p:spPr>
          <a:xfrm>
            <a:off x="105156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Funciona em qualquer celular</a:t>
            </a:r>
            <a:endParaRPr lang="en-US" sz="1600" dirty="0"/>
          </a:p>
        </p:txBody>
      </p:sp>
      <p:sp>
        <p:nvSpPr>
          <p:cNvPr id="18" name="Vantagens descrição 4"/>
          <p:cNvSpPr txBox="1"/>
          <p:nvPr/>
        </p:nvSpPr>
        <p:spPr>
          <a:xfrm>
            <a:off x="105156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Vale até para aparelhos simples, sem smartphone nem internet.</a:t>
            </a:r>
            <a:endParaRPr lang="en-US" sz="1400" dirty="0"/>
          </a:p>
        </p:txBody>
      </p:sp>
      <p:sp>
        <p:nvSpPr>
          <p:cNvPr id="19" name="Cabeçalho Desvantagens e cuidados"/>
          <p:cNvSpPr/>
          <p:nvPr/>
        </p:nvSpPr>
        <p:spPr>
          <a:xfrm>
            <a:off x="621792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0" name="Cabeçalho Desvantagens e cuidados círculo"/>
          <p:cNvSpPr/>
          <p:nvPr/>
        </p:nvSpPr>
        <p:spPr>
          <a:xfrm>
            <a:off x="6355080" y="124358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beçalho Desvantagens e cuid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348923"/>
            <a:ext cx="228234" cy="228234"/>
          </a:xfrm>
          <a:prstGeom prst="rect">
            <a:avLst/>
          </a:prstGeom>
        </p:spPr>
      </p:pic>
      <p:sp>
        <p:nvSpPr>
          <p:cNvPr id="22" name="Título Desvantagens e cuidados"/>
          <p:cNvSpPr txBox="1"/>
          <p:nvPr/>
        </p:nvSpPr>
        <p:spPr>
          <a:xfrm>
            <a:off x="694944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Desvantagens e cuidados</a:t>
            </a:r>
            <a:endParaRPr lang="en-US" sz="1900" dirty="0"/>
          </a:p>
        </p:txBody>
      </p:sp>
      <p:sp>
        <p:nvSpPr>
          <p:cNvPr id="23" name="Desvantagens e cuidados marcador 1"/>
          <p:cNvSpPr/>
          <p:nvPr/>
        </p:nvSpPr>
        <p:spPr>
          <a:xfrm>
            <a:off x="6355080" y="2011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Desvantagens e cuidados item 1"/>
          <p:cNvSpPr txBox="1"/>
          <p:nvPr/>
        </p:nvSpPr>
        <p:spPr>
          <a:xfrm>
            <a:off x="672084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Precisão limitada</a:t>
            </a:r>
            <a:endParaRPr lang="en-US" sz="1600" dirty="0"/>
          </a:p>
        </p:txBody>
      </p:sp>
      <p:sp>
        <p:nvSpPr>
          <p:cNvPr id="25" name="Desvantagens e cuidados descrição 1"/>
          <p:cNvSpPr txBox="1"/>
          <p:nvPr/>
        </p:nvSpPr>
        <p:spPr>
          <a:xfrm>
            <a:off x="672084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área de uma antena vai de centenas de metros a quilômetros. Raio pequeno tende a dar PARTIAL ou UNKNOWN.</a:t>
            </a:r>
            <a:endParaRPr lang="en-US" sz="1400" dirty="0"/>
          </a:p>
        </p:txBody>
      </p:sp>
      <p:sp>
        <p:nvSpPr>
          <p:cNvPr id="26" name="Desvantagens e cuidados marcador 2"/>
          <p:cNvSpPr/>
          <p:nvPr/>
        </p:nvSpPr>
        <p:spPr>
          <a:xfrm>
            <a:off x="6355080" y="3090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esvantagens e cuidados item 2"/>
          <p:cNvSpPr txBox="1"/>
          <p:nvPr/>
        </p:nvSpPr>
        <p:spPr>
          <a:xfrm>
            <a:off x="672084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Posição pode estar velha</a:t>
            </a:r>
            <a:endParaRPr lang="en-US" sz="1600" dirty="0"/>
          </a:p>
        </p:txBody>
      </p:sp>
      <p:sp>
        <p:nvSpPr>
          <p:cNvPr id="28" name="Desvantagens e cuidados descrição 2"/>
          <p:cNvSpPr txBox="1"/>
          <p:nvPr/>
        </p:nvSpPr>
        <p:spPr>
          <a:xfrm>
            <a:off x="672084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Use maxAge e confira o lastLocationTime da resposta.</a:t>
            </a:r>
            <a:endParaRPr lang="en-US" sz="1400" dirty="0"/>
          </a:p>
        </p:txBody>
      </p:sp>
      <p:sp>
        <p:nvSpPr>
          <p:cNvPr id="29" name="Desvantagens e cuidados marcador 3"/>
          <p:cNvSpPr/>
          <p:nvPr/>
        </p:nvSpPr>
        <p:spPr>
          <a:xfrm>
            <a:off x="6355080" y="416966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esvantagens e cuidados item 3"/>
          <p:cNvSpPr txBox="1"/>
          <p:nvPr/>
        </p:nvSpPr>
        <p:spPr>
          <a:xfrm>
            <a:off x="672084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 sem o celular</a:t>
            </a:r>
            <a:endParaRPr lang="en-US" sz="1600" dirty="0"/>
          </a:p>
        </p:txBody>
      </p:sp>
      <p:sp>
        <p:nvSpPr>
          <p:cNvPr id="31" name="Desvantagens e cuidados descrição 3"/>
          <p:cNvSpPr txBox="1"/>
          <p:nvPr/>
        </p:nvSpPr>
        <p:spPr>
          <a:xfrm>
            <a:off x="672084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Quem esqueceu o celular em casa gera um falso alerta: nunca bloquear só por isso.</a:t>
            </a:r>
            <a:endParaRPr lang="en-US" sz="1400" dirty="0"/>
          </a:p>
        </p:txBody>
      </p:sp>
      <p:sp>
        <p:nvSpPr>
          <p:cNvPr id="32" name="Desvantagens e cuidados marcador 4"/>
          <p:cNvSpPr/>
          <p:nvPr/>
        </p:nvSpPr>
        <p:spPr>
          <a:xfrm>
            <a:off x="6355080" y="52486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Desvantagens e cuidados item 4"/>
          <p:cNvSpPr txBox="1"/>
          <p:nvPr/>
        </p:nvSpPr>
        <p:spPr>
          <a:xfrm>
            <a:off x="672084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Depende da operadora</a:t>
            </a:r>
            <a:endParaRPr lang="en-US" sz="1600" dirty="0"/>
          </a:p>
        </p:txBody>
      </p:sp>
      <p:sp>
        <p:nvSpPr>
          <p:cNvPr id="34" name="Desvantagens e cuidados descrição 4"/>
          <p:cNvSpPr txBox="1"/>
          <p:nvPr/>
        </p:nvSpPr>
        <p:spPr>
          <a:xfrm>
            <a:off x="672084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Exige contrato, consentimento do cliente e tem custo por consulta.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o módulo"/>
          <p:cNvSpPr txBox="1"/>
          <p:nvPr/>
        </p:nvSpPr>
        <p:spPr>
          <a:xfrm>
            <a:off x="73152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Know Your Customer (KYC)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</a:rPr>
              <a:t>“Os dados que o cliente digitou são do dono desta linha?”</a:t>
            </a:r>
            <a:endParaRPr lang="en-US" sz="2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APIs: KYC Match, KYC Tenure e KYC Age Verification · pasta know_your_customer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operadora confere o cadastro do cliente</a:t>
            </a:r>
            <a:endParaRPr lang="en-US" sz="3200" dirty="0"/>
          </a:p>
        </p:txBody>
      </p:sp>
      <p:sp>
        <p:nvSpPr>
          <p:cNvPr id="3" name="Rótulo Match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MATCH</a:t>
            </a:r>
            <a:endParaRPr lang="en-US" sz="1200" dirty="0"/>
          </a:p>
        </p:txBody>
      </p:sp>
      <p:sp>
        <p:nvSpPr>
          <p:cNvPr id="4" name="Texto Match"/>
          <p:cNvSpPr txBox="1"/>
          <p:nvPr/>
        </p:nvSpPr>
        <p:spPr>
          <a:xfrm>
            <a:off x="548640" y="15361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Nome, documento, endereço e e-mail batem com o dono da linha? Resposta campo a campo</a:t>
            </a:r>
            <a:endParaRPr lang="en-US" sz="1800" dirty="0"/>
          </a:p>
        </p:txBody>
      </p:sp>
      <p:sp>
        <p:nvSpPr>
          <p:cNvPr id="5" name="Rótulo Tenure"/>
          <p:cNvSpPr txBox="1"/>
          <p:nvPr/>
        </p:nvSpPr>
        <p:spPr>
          <a:xfrm>
            <a:off x="548640" y="2423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TENURE</a:t>
            </a:r>
            <a:endParaRPr lang="en-US" sz="1200" dirty="0"/>
          </a:p>
        </p:txBody>
      </p:sp>
      <p:sp>
        <p:nvSpPr>
          <p:cNvPr id="6" name="Texto Tenure"/>
          <p:cNvSpPr txBox="1"/>
          <p:nvPr/>
        </p:nvSpPr>
        <p:spPr>
          <a:xfrm>
            <a:off x="548640" y="27249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linha está ativa desde uma data? É pré-paga, pós-paga ou empresarial?</a:t>
            </a:r>
            <a:endParaRPr lang="en-US" sz="1800" dirty="0"/>
          </a:p>
        </p:txBody>
      </p:sp>
      <p:sp>
        <p:nvSpPr>
          <p:cNvPr id="7" name="Rótulo Age Verification"/>
          <p:cNvSpPr txBox="1"/>
          <p:nvPr/>
        </p:nvSpPr>
        <p:spPr>
          <a:xfrm>
            <a:off x="54864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AGE VERIFICATION</a:t>
            </a:r>
            <a:endParaRPr lang="en-US" sz="1200" dirty="0"/>
          </a:p>
        </p:txBody>
      </p:sp>
      <p:sp>
        <p:nvSpPr>
          <p:cNvPr id="8" name="Texto Age Verification"/>
          <p:cNvSpPr txBox="1"/>
          <p:nvPr/>
        </p:nvSpPr>
        <p:spPr>
          <a:xfrm>
            <a:off x="548640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titular tem a idade mínima? Informa também controle parental</a:t>
            </a:r>
            <a:endParaRPr lang="en-US" sz="1800" dirty="0"/>
          </a:p>
        </p:txBody>
      </p:sp>
      <p:sp>
        <p:nvSpPr>
          <p:cNvPr id="9" name="Caixa dos endpoints"/>
          <p:cNvSpPr/>
          <p:nvPr/>
        </p:nvSpPr>
        <p:spPr>
          <a:xfrm>
            <a:off x="548640" y="4892040"/>
            <a:ext cx="6766560" cy="1152144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Endpoints"/>
          <p:cNvSpPr txBox="1"/>
          <p:nvPr/>
        </p:nvSpPr>
        <p:spPr>
          <a:xfrm>
            <a:off x="731520" y="5029200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/kyc-match/v0.2/match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/kyc-tenure/v0.1/check-tenure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/kyc-age-verification/v0.1/verify</a:t>
            </a:r>
            <a:endParaRPr lang="en-US" sz="1300" dirty="0"/>
          </a:p>
        </p:txBody>
      </p:sp>
      <p:sp>
        <p:nvSpPr>
          <p:cNvPr id="11" name="Painel onde se usa"/>
          <p:cNvSpPr/>
          <p:nvPr/>
        </p:nvSpPr>
        <p:spPr>
          <a:xfrm>
            <a:off x="7726680" y="1234440"/>
            <a:ext cx="388620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ítulo onde se usa"/>
          <p:cNvSpPr txBox="1"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se usa</a:t>
            </a:r>
            <a:endParaRPr lang="en-US" sz="1800" dirty="0"/>
          </a:p>
        </p:txBody>
      </p:sp>
      <p:sp>
        <p:nvSpPr>
          <p:cNvPr id="13" name="Uso 1 círculo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063" y="2239183"/>
            <a:ext cx="294803" cy="294803"/>
          </a:xfrm>
          <a:prstGeom prst="rect">
            <a:avLst/>
          </a:prstGeom>
        </p:spPr>
      </p:pic>
      <p:sp>
        <p:nvSpPr>
          <p:cNvPr id="15" name="Texto uso 1"/>
          <p:cNvSpPr txBox="1"/>
          <p:nvPr/>
        </p:nvSpPr>
        <p:spPr>
          <a:xfrm>
            <a:off x="8732520" y="2084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Abrir conta sem foto de documento</a:t>
            </a:r>
            <a:endParaRPr lang="en-US" sz="1500" dirty="0"/>
          </a:p>
        </p:txBody>
      </p:sp>
      <p:sp>
        <p:nvSpPr>
          <p:cNvPr id="16" name="Uso 2 círculo"/>
          <p:cNvSpPr/>
          <p:nvPr/>
        </p:nvSpPr>
        <p:spPr>
          <a:xfrm>
            <a:off x="800100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63" y="3473623"/>
            <a:ext cx="294803" cy="294803"/>
          </a:xfrm>
          <a:prstGeom prst="rect">
            <a:avLst/>
          </a:prstGeom>
        </p:spPr>
      </p:pic>
      <p:sp>
        <p:nvSpPr>
          <p:cNvPr id="18" name="Texto uso 2"/>
          <p:cNvSpPr txBox="1"/>
          <p:nvPr/>
        </p:nvSpPr>
        <p:spPr>
          <a:xfrm>
            <a:off x="8732520" y="331927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Apostas e vendas com idade mínima</a:t>
            </a:r>
            <a:endParaRPr lang="en-US" sz="1500" dirty="0"/>
          </a:p>
        </p:txBody>
      </p:sp>
      <p:sp>
        <p:nvSpPr>
          <p:cNvPr id="19" name="Uso 3 círculo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63" y="4708063"/>
            <a:ext cx="294803" cy="294803"/>
          </a:xfrm>
          <a:prstGeom prst="rect">
            <a:avLst/>
          </a:prstGeom>
        </p:spPr>
      </p:pic>
      <p:sp>
        <p:nvSpPr>
          <p:cNvPr id="21" name="Texto uso 3"/>
          <p:cNvSpPr txBox="1"/>
          <p:nvPr/>
        </p:nvSpPr>
        <p:spPr>
          <a:xfrm>
            <a:off x="8732520" y="455371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Detectar chip comprado para golpe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Cenário: abertura de conta digital</a:t>
            </a:r>
            <a:endParaRPr lang="en-US" sz="3200" dirty="0"/>
          </a:p>
        </p:txBody>
      </p:sp>
      <p:pic>
        <p:nvPicPr>
          <p:cNvPr id="3" name="Imagem cenario_abertura_conta.png" descr="C:\Users\Embedded\Documents\projetos\virtus\camarasandbox\know_your_customer\cenario_abertura_co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104888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7104888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8019288" y="11887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contar a história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8019288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801928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549640" y="176479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Carla preenche o cadastro e a conta abre em 2 minutos, sem selfie e sem foto do RG.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8019288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80192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549640" y="322783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 golpista usa dados vazados da Paula com um chip novo: o cadastro é barrado.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8019288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801928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549640" y="469087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operadora responde só “confere” ou “não confere”.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chamadas que fizemos</a:t>
            </a:r>
            <a:endParaRPr lang="en-US" sz="3200" dirty="0"/>
          </a:p>
        </p:txBody>
      </p:sp>
      <p:pic>
        <p:nvPicPr>
          <p:cNvPr id="3" name="Imagem diagrama_experimento_kyc.png" descr="C:\Users\Embedded\Documents\projetos\virtus\camarasandbox\know_your_customer\diagrama_experimento_ky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232358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6232358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7146758" y="1188720"/>
            <a:ext cx="4493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descobrimos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7146758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714675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7677110" y="1764792"/>
            <a:ext cx="39632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300 chamadas na varredura: 32 respostas diferentes mapeadas.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7146758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714675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7677110" y="3227832"/>
            <a:ext cx="39632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exemplo oficial “Adult” devolve menor de idade: a documentação errou.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7146758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714675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7677110" y="4690872"/>
            <a:ext cx="396320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Tenure a data enviada muda a resposta para os finais 15 e 25.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POC: abertura de conta (caso_real.js)</a:t>
            </a:r>
            <a:endParaRPr lang="en-US" sz="3200" dirty="0"/>
          </a:p>
        </p:txBody>
      </p:sp>
      <p:sp>
        <p:nvSpPr>
          <p:cNvPr id="3" name="Caixa da regra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da regra"/>
          <p:cNvSpPr txBox="1"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decisão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Menor de idade recusa · Match baixo bloqueia · misto vai para análise · sem dados ou erro pede documento e selfie · linha com menos de 6 meses aprova com limite</a:t>
            </a:r>
            <a:endParaRPr lang="en-US" sz="1400" dirty="0"/>
          </a:p>
        </p:txBody>
      </p:sp>
      <p:graphicFrame>
        <p:nvGraphicFramePr>
          <p:cNvPr id="21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  <a:gridCol w="1234440"/>
                <a:gridCol w="1828800"/>
                <a:gridCol w="123444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Lima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antiga · pós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 Souza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· pré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 COM LIMITE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 Pereira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· pós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Lucas Andrade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antiga ·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RECUSAR (menor)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Paula Reis (golpe)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 Martins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· pós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TRADICIONAL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Fábio Lima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· pré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 COM LIMITE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 Rocha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TRADICIONAL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 e cuidados</a:t>
            </a:r>
            <a:endParaRPr lang="en-US" sz="3200" dirty="0"/>
          </a:p>
        </p:txBody>
      </p:sp>
      <p:sp>
        <p:nvSpPr>
          <p:cNvPr id="3" name="Cabeçalho Vantagens"/>
          <p:cNvSpPr/>
          <p:nvPr/>
        </p:nvSpPr>
        <p:spPr>
          <a:xfrm>
            <a:off x="54864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" name="Cabeçalho Vantagens círculo"/>
          <p:cNvSpPr/>
          <p:nvPr/>
        </p:nvSpPr>
        <p:spPr>
          <a:xfrm>
            <a:off x="685800" y="124358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abeçalho Vantagen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348923"/>
            <a:ext cx="228234" cy="228234"/>
          </a:xfrm>
          <a:prstGeom prst="rect">
            <a:avLst/>
          </a:prstGeom>
        </p:spPr>
      </p:pic>
      <p:sp>
        <p:nvSpPr>
          <p:cNvPr id="6" name="Título Vantagens"/>
          <p:cNvSpPr txBox="1"/>
          <p:nvPr/>
        </p:nvSpPr>
        <p:spPr>
          <a:xfrm>
            <a:off x="128016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Vantagens</a:t>
            </a:r>
            <a:endParaRPr lang="en-US" sz="1900" dirty="0"/>
          </a:p>
        </p:txBody>
      </p:sp>
      <p:sp>
        <p:nvSpPr>
          <p:cNvPr id="7" name="Vantagens marcador 1"/>
          <p:cNvSpPr/>
          <p:nvPr/>
        </p:nvSpPr>
        <p:spPr>
          <a:xfrm>
            <a:off x="685800" y="201168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Vantagens item 1"/>
          <p:cNvSpPr txBox="1"/>
          <p:nvPr/>
        </p:nvSpPr>
        <p:spPr>
          <a:xfrm>
            <a:off x="105156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Cadastro em minutos</a:t>
            </a:r>
            <a:endParaRPr lang="en-US" sz="1600" dirty="0"/>
          </a:p>
        </p:txBody>
      </p:sp>
      <p:sp>
        <p:nvSpPr>
          <p:cNvPr id="9" name="Vantagens descrição 1"/>
          <p:cNvSpPr txBox="1"/>
          <p:nvPr/>
        </p:nvSpPr>
        <p:spPr>
          <a:xfrm>
            <a:off x="105156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Sem foto de documento e sem selfie: menos clientes desistem no meio.</a:t>
            </a:r>
            <a:endParaRPr lang="en-US" sz="1400" dirty="0"/>
          </a:p>
        </p:txBody>
      </p:sp>
      <p:sp>
        <p:nvSpPr>
          <p:cNvPr id="10" name="Vantagens marcador 2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ntagens item 2"/>
          <p:cNvSpPr txBox="1"/>
          <p:nvPr/>
        </p:nvSpPr>
        <p:spPr>
          <a:xfrm>
            <a:off x="105156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Fonte confiável</a:t>
            </a:r>
            <a:endParaRPr lang="en-US" sz="1600" dirty="0"/>
          </a:p>
        </p:txBody>
      </p:sp>
      <p:sp>
        <p:nvSpPr>
          <p:cNvPr id="12" name="Vantagens descrição 2"/>
          <p:cNvSpPr txBox="1"/>
          <p:nvPr/>
        </p:nvSpPr>
        <p:spPr>
          <a:xfrm>
            <a:off x="105156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operadora já cadastrou o titular da linha com documento.</a:t>
            </a:r>
            <a:endParaRPr lang="en-US" sz="1400" dirty="0"/>
          </a:p>
        </p:txBody>
      </p:sp>
      <p:sp>
        <p:nvSpPr>
          <p:cNvPr id="13" name="Vantagens marcador 3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ntagens item 3"/>
          <p:cNvSpPr txBox="1"/>
          <p:nvPr/>
        </p:nvSpPr>
        <p:spPr>
          <a:xfrm>
            <a:off x="105156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Privacidade</a:t>
            </a:r>
            <a:endParaRPr lang="en-US" sz="1600" dirty="0"/>
          </a:p>
        </p:txBody>
      </p:sp>
      <p:sp>
        <p:nvSpPr>
          <p:cNvPr id="15" name="Vantagens descrição 3"/>
          <p:cNvSpPr txBox="1"/>
          <p:nvPr/>
        </p:nvSpPr>
        <p:spPr>
          <a:xfrm>
            <a:off x="105156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operadora só diz “confere” ou “não confere”, sem entregar os dados.</a:t>
            </a:r>
            <a:endParaRPr lang="en-US" sz="1400" dirty="0"/>
          </a:p>
        </p:txBody>
      </p:sp>
      <p:sp>
        <p:nvSpPr>
          <p:cNvPr id="16" name="Vantagens marcador 4"/>
          <p:cNvSpPr/>
          <p:nvPr/>
        </p:nvSpPr>
        <p:spPr>
          <a:xfrm>
            <a:off x="685800" y="524865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antagens item 4"/>
          <p:cNvSpPr txBox="1"/>
          <p:nvPr/>
        </p:nvSpPr>
        <p:spPr>
          <a:xfrm>
            <a:off x="105156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Pega o chip descartável</a:t>
            </a:r>
            <a:endParaRPr lang="en-US" sz="1600" dirty="0"/>
          </a:p>
        </p:txBody>
      </p:sp>
      <p:sp>
        <p:nvSpPr>
          <p:cNvPr id="18" name="Vantagens descrição 4"/>
          <p:cNvSpPr txBox="1"/>
          <p:nvPr/>
        </p:nvSpPr>
        <p:spPr>
          <a:xfrm>
            <a:off x="105156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Tenure mostra linhas recém-criadas, comuns em golpes.</a:t>
            </a:r>
            <a:endParaRPr lang="en-US" sz="1400" dirty="0"/>
          </a:p>
        </p:txBody>
      </p:sp>
      <p:sp>
        <p:nvSpPr>
          <p:cNvPr id="19" name="Cabeçalho Desvantagens e cuidados"/>
          <p:cNvSpPr/>
          <p:nvPr/>
        </p:nvSpPr>
        <p:spPr>
          <a:xfrm>
            <a:off x="621792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0" name="Cabeçalho Desvantagens e cuidados círculo"/>
          <p:cNvSpPr/>
          <p:nvPr/>
        </p:nvSpPr>
        <p:spPr>
          <a:xfrm>
            <a:off x="6355080" y="124358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beçalho Desvantagens e cuid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348923"/>
            <a:ext cx="228234" cy="228234"/>
          </a:xfrm>
          <a:prstGeom prst="rect">
            <a:avLst/>
          </a:prstGeom>
        </p:spPr>
      </p:pic>
      <p:sp>
        <p:nvSpPr>
          <p:cNvPr id="22" name="Título Desvantagens e cuidados"/>
          <p:cNvSpPr txBox="1"/>
          <p:nvPr/>
        </p:nvSpPr>
        <p:spPr>
          <a:xfrm>
            <a:off x="694944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Desvantagens e cuidados</a:t>
            </a:r>
            <a:endParaRPr lang="en-US" sz="1900" dirty="0"/>
          </a:p>
        </p:txBody>
      </p:sp>
      <p:sp>
        <p:nvSpPr>
          <p:cNvPr id="23" name="Desvantagens e cuidados marcador 1"/>
          <p:cNvSpPr/>
          <p:nvPr/>
        </p:nvSpPr>
        <p:spPr>
          <a:xfrm>
            <a:off x="6355080" y="2011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Desvantagens e cuidados item 1"/>
          <p:cNvSpPr txBox="1"/>
          <p:nvPr/>
        </p:nvSpPr>
        <p:spPr>
          <a:xfrm>
            <a:off x="672084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Cadastro desatualizado</a:t>
            </a:r>
            <a:endParaRPr lang="en-US" sz="1600" dirty="0"/>
          </a:p>
        </p:txBody>
      </p:sp>
      <p:sp>
        <p:nvSpPr>
          <p:cNvPr id="25" name="Desvantagens e cuidados descrição 1"/>
          <p:cNvSpPr txBox="1"/>
          <p:nvPr/>
        </p:nvSpPr>
        <p:spPr>
          <a:xfrm>
            <a:off x="672084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Endereço antigo ou nome mudado na operadora geram “misto” para um cliente honesto.</a:t>
            </a:r>
            <a:endParaRPr lang="en-US" sz="1400" dirty="0"/>
          </a:p>
        </p:txBody>
      </p:sp>
      <p:sp>
        <p:nvSpPr>
          <p:cNvPr id="26" name="Desvantagens e cuidados marcador 2"/>
          <p:cNvSpPr/>
          <p:nvPr/>
        </p:nvSpPr>
        <p:spPr>
          <a:xfrm>
            <a:off x="6355080" y="3090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esvantagens e cuidados item 2"/>
          <p:cNvSpPr txBox="1"/>
          <p:nvPr/>
        </p:nvSpPr>
        <p:spPr>
          <a:xfrm>
            <a:off x="672084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Titular não é o usuário</a:t>
            </a:r>
            <a:endParaRPr lang="en-US" sz="1600" dirty="0"/>
          </a:p>
        </p:txBody>
      </p:sp>
      <p:sp>
        <p:nvSpPr>
          <p:cNvPr id="28" name="Desvantagens e cuidados descrição 2"/>
          <p:cNvSpPr txBox="1"/>
          <p:nvPr/>
        </p:nvSpPr>
        <p:spPr>
          <a:xfrm>
            <a:off x="672084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Linhas no nome dos pais ou de uma empresa respondem pelo titular, não por quem usa.</a:t>
            </a:r>
            <a:endParaRPr lang="en-US" sz="1400" dirty="0"/>
          </a:p>
        </p:txBody>
      </p:sp>
      <p:sp>
        <p:nvSpPr>
          <p:cNvPr id="29" name="Desvantagens e cuidados marcador 3"/>
          <p:cNvSpPr/>
          <p:nvPr/>
        </p:nvSpPr>
        <p:spPr>
          <a:xfrm>
            <a:off x="6355080" y="416966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esvantagens e cuidados item 3"/>
          <p:cNvSpPr txBox="1"/>
          <p:nvPr/>
        </p:nvSpPr>
        <p:spPr>
          <a:xfrm>
            <a:off x="672084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Nem todo cadastro foi verificado</a:t>
            </a:r>
            <a:endParaRPr lang="en-US" sz="1600" dirty="0"/>
          </a:p>
        </p:txBody>
      </p:sp>
      <p:sp>
        <p:nvSpPr>
          <p:cNvPr id="31" name="Desvantagens e cuidados descrição 3"/>
          <p:cNvSpPr txBox="1"/>
          <p:nvPr/>
        </p:nvSpPr>
        <p:spPr>
          <a:xfrm>
            <a:off x="672084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campo verifiedStatus mostra quando o dado é só declarado.</a:t>
            </a:r>
            <a:endParaRPr lang="en-US" sz="1400" dirty="0"/>
          </a:p>
        </p:txBody>
      </p:sp>
      <p:sp>
        <p:nvSpPr>
          <p:cNvPr id="32" name="Desvantagens e cuidados marcador 4"/>
          <p:cNvSpPr/>
          <p:nvPr/>
        </p:nvSpPr>
        <p:spPr>
          <a:xfrm>
            <a:off x="6355080" y="52486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Desvantagens e cuidados item 4"/>
          <p:cNvSpPr txBox="1"/>
          <p:nvPr/>
        </p:nvSpPr>
        <p:spPr>
          <a:xfrm>
            <a:off x="672084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Não resolve tudo sozinho</a:t>
            </a:r>
            <a:endParaRPr lang="en-US" sz="1600" dirty="0"/>
          </a:p>
        </p:txBody>
      </p:sp>
      <p:sp>
        <p:nvSpPr>
          <p:cNvPr id="34" name="Desvantagens e cuidados descrição 4"/>
          <p:cNvSpPr txBox="1"/>
          <p:nvPr/>
        </p:nvSpPr>
        <p:spPr>
          <a:xfrm>
            <a:off x="672084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Regras do setor podem exigir outras verificações. Cobertura e preço variam por operadora.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o módulo"/>
          <p:cNvSpPr txBox="1"/>
          <p:nvPr/>
        </p:nvSpPr>
        <p:spPr>
          <a:xfrm>
            <a:off x="73152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Código por SMS (OTP)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</a:rPr>
              <a:t>“O código que o cliente digitou é o que a operadora mandou?”</a:t>
            </a:r>
            <a:endParaRPr lang="en-US" sz="2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API: One Time Password SMS · pasta otp_sms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operadora envia e confere o código</a:t>
            </a:r>
            <a:endParaRPr lang="en-US" sz="3200" dirty="0"/>
          </a:p>
        </p:txBody>
      </p:sp>
      <p:sp>
        <p:nvSpPr>
          <p:cNvPr id="3" name="Rótulo 1. Enviar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1. ENVIAR</a:t>
            </a:r>
            <a:endParaRPr lang="en-US" sz="1200" dirty="0"/>
          </a:p>
        </p:txBody>
      </p:sp>
      <p:sp>
        <p:nvSpPr>
          <p:cNvPr id="4" name="Texto 1. Enviar"/>
          <p:cNvSpPr txBox="1"/>
          <p:nvPr/>
        </p:nvSpPr>
        <p:spPr>
          <a:xfrm>
            <a:off x="548640" y="15361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Telefone + texto com {{code}}. Recebemos um authenticationId, o “protocolo”</a:t>
            </a:r>
            <a:endParaRPr lang="en-US" sz="1800" dirty="0"/>
          </a:p>
        </p:txBody>
      </p:sp>
      <p:sp>
        <p:nvSpPr>
          <p:cNvPr id="5" name="Rótulo 2. Validar"/>
          <p:cNvSpPr txBox="1"/>
          <p:nvPr/>
        </p:nvSpPr>
        <p:spPr>
          <a:xfrm>
            <a:off x="548640" y="2423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2. VALIDAR</a:t>
            </a:r>
            <a:endParaRPr lang="en-US" sz="1200" dirty="0"/>
          </a:p>
        </p:txBody>
      </p:sp>
      <p:sp>
        <p:nvSpPr>
          <p:cNvPr id="6" name="Texto 2. Validar"/>
          <p:cNvSpPr txBox="1"/>
          <p:nvPr/>
        </p:nvSpPr>
        <p:spPr>
          <a:xfrm>
            <a:off x="548640" y="27249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Protocolo + código digitado. Recebemos 204 (aceito) ou um erro</a:t>
            </a:r>
            <a:endParaRPr lang="en-US" sz="1800" dirty="0"/>
          </a:p>
        </p:txBody>
      </p:sp>
      <p:sp>
        <p:nvSpPr>
          <p:cNvPr id="7" name="Rótulo Detalhe"/>
          <p:cNvSpPr txBox="1"/>
          <p:nvPr/>
        </p:nvSpPr>
        <p:spPr>
          <a:xfrm>
            <a:off x="54864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DETALHE</a:t>
            </a:r>
            <a:endParaRPr lang="en-US" sz="1200" dirty="0"/>
          </a:p>
        </p:txBody>
      </p:sp>
      <p:sp>
        <p:nvSpPr>
          <p:cNvPr id="8" name="Texto Detalhe"/>
          <p:cNvSpPr txBox="1"/>
          <p:nvPr/>
        </p:nvSpPr>
        <p:spPr>
          <a:xfrm>
            <a:off x="548640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app nunca vê o código: só a operadora e o celular do cliente</a:t>
            </a:r>
            <a:endParaRPr lang="en-US" sz="1800" dirty="0"/>
          </a:p>
        </p:txBody>
      </p:sp>
      <p:sp>
        <p:nvSpPr>
          <p:cNvPr id="9" name="Caixa dos endpoints"/>
          <p:cNvSpPr/>
          <p:nvPr/>
        </p:nvSpPr>
        <p:spPr>
          <a:xfrm>
            <a:off x="548640" y="4892040"/>
            <a:ext cx="6766560" cy="859536"/>
          </a:xfrm>
          <a:prstGeom prst="roundRect">
            <a:avLst>
              <a:gd name="adj" fmla="val 638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Endpoints"/>
          <p:cNvSpPr txBox="1"/>
          <p:nvPr/>
        </p:nvSpPr>
        <p:spPr>
          <a:xfrm>
            <a:off x="731520" y="5029200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/one-time-password-sms/v1/send-code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/one-time-password-sms/v1/validate-code</a:t>
            </a:r>
            <a:endParaRPr lang="en-US" sz="1300" dirty="0"/>
          </a:p>
        </p:txBody>
      </p:sp>
      <p:sp>
        <p:nvSpPr>
          <p:cNvPr id="11" name="Painel onde se usa"/>
          <p:cNvSpPr/>
          <p:nvPr/>
        </p:nvSpPr>
        <p:spPr>
          <a:xfrm>
            <a:off x="7726680" y="1234440"/>
            <a:ext cx="388620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ítulo onde se usa"/>
          <p:cNvSpPr txBox="1"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se usa</a:t>
            </a:r>
            <a:endParaRPr lang="en-US" sz="1800" dirty="0"/>
          </a:p>
        </p:txBody>
      </p:sp>
      <p:sp>
        <p:nvSpPr>
          <p:cNvPr id="13" name="Uso 1 círculo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063" y="2239183"/>
            <a:ext cx="294803" cy="294803"/>
          </a:xfrm>
          <a:prstGeom prst="rect">
            <a:avLst/>
          </a:prstGeom>
        </p:spPr>
      </p:pic>
      <p:sp>
        <p:nvSpPr>
          <p:cNvPr id="15" name="Texto uso 1"/>
          <p:cNvSpPr txBox="1"/>
          <p:nvPr/>
        </p:nvSpPr>
        <p:spPr>
          <a:xfrm>
            <a:off x="8732520" y="2084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Login no app</a:t>
            </a:r>
            <a:endParaRPr lang="en-US" sz="1500" dirty="0"/>
          </a:p>
        </p:txBody>
      </p:sp>
      <p:sp>
        <p:nvSpPr>
          <p:cNvPr id="16" name="Uso 2 círculo"/>
          <p:cNvSpPr/>
          <p:nvPr/>
        </p:nvSpPr>
        <p:spPr>
          <a:xfrm>
            <a:off x="800100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63" y="3473623"/>
            <a:ext cx="294803" cy="294803"/>
          </a:xfrm>
          <a:prstGeom prst="rect">
            <a:avLst/>
          </a:prstGeom>
        </p:spPr>
      </p:pic>
      <p:sp>
        <p:nvSpPr>
          <p:cNvPr id="18" name="Texto uso 2"/>
          <p:cNvSpPr txBox="1"/>
          <p:nvPr/>
        </p:nvSpPr>
        <p:spPr>
          <a:xfrm>
            <a:off x="8732520" y="331927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Confirmar Pix ou troca de senha</a:t>
            </a:r>
            <a:endParaRPr lang="en-US" sz="1500" dirty="0"/>
          </a:p>
        </p:txBody>
      </p:sp>
      <p:sp>
        <p:nvSpPr>
          <p:cNvPr id="19" name="Uso 3 círculo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63" y="4708063"/>
            <a:ext cx="294803" cy="294803"/>
          </a:xfrm>
          <a:prstGeom prst="rect">
            <a:avLst/>
          </a:prstGeom>
        </p:spPr>
      </p:pic>
      <p:sp>
        <p:nvSpPr>
          <p:cNvPr id="21" name="Texto uso 3"/>
          <p:cNvSpPr txBox="1"/>
          <p:nvPr/>
        </p:nvSpPr>
        <p:spPr>
          <a:xfrm>
            <a:off x="8732520" y="455371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Confirmar o número no cadastro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Cenário: login e Pix com código</a:t>
            </a:r>
            <a:endParaRPr lang="en-US" sz="3200" dirty="0"/>
          </a:p>
        </p:txBody>
      </p:sp>
      <p:pic>
        <p:nvPicPr>
          <p:cNvPr id="3" name="Imagem cenario_codigo_sms.png" descr="C:\Users\Embedded\Documents\projetos\virtus\camarasandbox\otp_sms\cenario_codigo_s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104888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7104888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8019288" y="11887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contar a história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8019288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801928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549640" y="176479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 confirma um Pix de R$ 800 com o código que chegou ao celular dela.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8019288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80192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549640" y="322783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 golpista tem a senha da Ana, mas não o celular: erra os códigos e é bloqueado.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8019288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801928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549640" y="469087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Atenção: na troca de chip o SMS vai para o golpista. Combinar com a API SIM Swap.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chamadas que fizemos</a:t>
            </a:r>
            <a:endParaRPr lang="en-US" sz="3200" dirty="0"/>
          </a:p>
        </p:txBody>
      </p:sp>
      <p:pic>
        <p:nvPicPr>
          <p:cNvPr id="3" name="Imagem diagrama_otp_sms.png" descr="C:\Users\Embedded\Documents\projetos\virtus\camarasandbox\otp_sms\diagrama_otp_s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6766560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7680960" y="118872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descobrimos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768096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7680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211312" y="176479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finais 60–79 e 82 devolvem PHONE_NUMBER_BLOCKED, que não está na documentação.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768096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7680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211312" y="322783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Código errado, expirado e tentativas demais viram o mesmo 400 genérico.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7680960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768096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211312" y="469087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authenticationId do sandbox é sempre o mesmo valor.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POC: login e Pix com código (caso_real.js)</a:t>
            </a:r>
            <a:endParaRPr lang="en-US" sz="3200" dirty="0"/>
          </a:p>
        </p:txBody>
      </p:sp>
      <p:sp>
        <p:nvSpPr>
          <p:cNvPr id="3" name="Caixa da regra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da regra"/>
          <p:cNvSpPr txBox="1"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decisão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SMS recusado: aguardar ou usar outro método · código recusado conta uma tentativa · 3 erros bloqueiam e avisam o cliente</a:t>
            </a:r>
            <a:endParaRPr lang="en-US" sz="1400" dirty="0"/>
          </a:p>
        </p:txBody>
      </p:sp>
      <p:graphicFrame>
        <p:nvGraphicFramePr>
          <p:cNvPr id="27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2468880"/>
                <a:gridCol w="292608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de R$ 800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aceito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Golpista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com senha roubada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códigos recusados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 E ALERTAR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erra e depois acerta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senha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bloqueado para SMS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MÉTODO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de R$ 150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códigos demais pedidos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não permitido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MÉTODO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SMS tradicional × código pela operadora</a:t>
            </a:r>
            <a:endParaRPr lang="en-US" sz="3200" dirty="0"/>
          </a:p>
        </p:txBody>
      </p:sp>
      <p:graphicFrame>
        <p:nvGraphicFramePr>
          <p:cNvPr id="28" name="Tabela de compara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tradicional (agregador)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pela operadora (CAMARA)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gera o 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nosso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operadora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o código fica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banco de dados e nos logs do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na operadora e no celular do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e tentativas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app precisa programar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operadora controla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Caminho da mensagem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→ agregador → operadora → celular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Operadora → celular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chamada: enviar o texto pronto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chamadas: enviar e validar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número, em qualquer operadora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operadoras que oferecem a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chip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Vulnerável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Vulnerável: combinar com o SIM Swap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ixa do rodapé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5" name="Texto do rodapé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Nos dois casos o código chega por SMS. A diferença é quem gera, guarda e confere o código.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 e cuidados</a:t>
            </a:r>
            <a:endParaRPr lang="en-US" sz="3200" dirty="0"/>
          </a:p>
        </p:txBody>
      </p:sp>
      <p:sp>
        <p:nvSpPr>
          <p:cNvPr id="3" name="Cabeçalho Vantagens"/>
          <p:cNvSpPr/>
          <p:nvPr/>
        </p:nvSpPr>
        <p:spPr>
          <a:xfrm>
            <a:off x="54864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" name="Cabeçalho Vantagens círculo"/>
          <p:cNvSpPr/>
          <p:nvPr/>
        </p:nvSpPr>
        <p:spPr>
          <a:xfrm>
            <a:off x="685800" y="124358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abeçalho Vantagen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348923"/>
            <a:ext cx="228234" cy="228234"/>
          </a:xfrm>
          <a:prstGeom prst="rect">
            <a:avLst/>
          </a:prstGeom>
        </p:spPr>
      </p:pic>
      <p:sp>
        <p:nvSpPr>
          <p:cNvPr id="6" name="Título Vantagens"/>
          <p:cNvSpPr txBox="1"/>
          <p:nvPr/>
        </p:nvSpPr>
        <p:spPr>
          <a:xfrm>
            <a:off x="128016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Vantagens</a:t>
            </a:r>
            <a:endParaRPr lang="en-US" sz="1900" dirty="0"/>
          </a:p>
        </p:txBody>
      </p:sp>
      <p:sp>
        <p:nvSpPr>
          <p:cNvPr id="7" name="Vantagens marcador 1"/>
          <p:cNvSpPr/>
          <p:nvPr/>
        </p:nvSpPr>
        <p:spPr>
          <a:xfrm>
            <a:off x="685800" y="201168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Vantagens item 1"/>
          <p:cNvSpPr txBox="1"/>
          <p:nvPr/>
        </p:nvSpPr>
        <p:spPr>
          <a:xfrm>
            <a:off x="105156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código não passa pelo app</a:t>
            </a:r>
            <a:endParaRPr lang="en-US" sz="1600" dirty="0"/>
          </a:p>
        </p:txBody>
      </p:sp>
      <p:sp>
        <p:nvSpPr>
          <p:cNvPr id="9" name="Vantagens descrição 1"/>
          <p:cNvSpPr txBox="1"/>
          <p:nvPr/>
        </p:nvSpPr>
        <p:spPr>
          <a:xfrm>
            <a:off x="105156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Não há código guardado em banco de dados ou em log para vazar.</a:t>
            </a:r>
            <a:endParaRPr lang="en-US" sz="1400" dirty="0"/>
          </a:p>
        </p:txBody>
      </p:sp>
      <p:sp>
        <p:nvSpPr>
          <p:cNvPr id="10" name="Vantagens marcador 2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ntagens item 2"/>
          <p:cNvSpPr txBox="1"/>
          <p:nvPr/>
        </p:nvSpPr>
        <p:spPr>
          <a:xfrm>
            <a:off x="105156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Regras de segurança prontas</a:t>
            </a:r>
            <a:endParaRPr lang="en-US" sz="1600" dirty="0"/>
          </a:p>
        </p:txBody>
      </p:sp>
      <p:sp>
        <p:nvSpPr>
          <p:cNvPr id="12" name="Vantagens descrição 2"/>
          <p:cNvSpPr txBox="1"/>
          <p:nvPr/>
        </p:nvSpPr>
        <p:spPr>
          <a:xfrm>
            <a:off x="105156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Prazo de validade, limite de tentativas e de envios ficam com a operadora.</a:t>
            </a:r>
            <a:endParaRPr lang="en-US" sz="1400" dirty="0"/>
          </a:p>
        </p:txBody>
      </p:sp>
      <p:sp>
        <p:nvSpPr>
          <p:cNvPr id="13" name="Vantagens marcador 3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ntagens item 3"/>
          <p:cNvSpPr txBox="1"/>
          <p:nvPr/>
        </p:nvSpPr>
        <p:spPr>
          <a:xfrm>
            <a:off x="105156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Menos intermediários</a:t>
            </a:r>
            <a:endParaRPr lang="en-US" sz="1600" dirty="0"/>
          </a:p>
        </p:txBody>
      </p:sp>
      <p:sp>
        <p:nvSpPr>
          <p:cNvPr id="15" name="Vantagens descrição 3"/>
          <p:cNvSpPr txBox="1"/>
          <p:nvPr/>
        </p:nvSpPr>
        <p:spPr>
          <a:xfrm>
            <a:off x="105156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mensagem sai direto da operadora, sem passar por um agregador de SMS.</a:t>
            </a:r>
            <a:endParaRPr lang="en-US" sz="1400" dirty="0"/>
          </a:p>
        </p:txBody>
      </p:sp>
      <p:sp>
        <p:nvSpPr>
          <p:cNvPr id="16" name="Vantagens marcador 4"/>
          <p:cNvSpPr/>
          <p:nvPr/>
        </p:nvSpPr>
        <p:spPr>
          <a:xfrm>
            <a:off x="685800" y="524865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antagens item 4"/>
          <p:cNvSpPr txBox="1"/>
          <p:nvPr/>
        </p:nvSpPr>
        <p:spPr>
          <a:xfrm>
            <a:off x="105156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Padrão único</a:t>
            </a:r>
            <a:endParaRPr lang="en-US" sz="1600" dirty="0"/>
          </a:p>
        </p:txBody>
      </p:sp>
      <p:sp>
        <p:nvSpPr>
          <p:cNvPr id="18" name="Vantagens descrição 4"/>
          <p:cNvSpPr txBox="1"/>
          <p:nvPr/>
        </p:nvSpPr>
        <p:spPr>
          <a:xfrm>
            <a:off x="105156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mesma integração vale para qualquer operadora que ofereça a API.</a:t>
            </a:r>
            <a:endParaRPr lang="en-US" sz="1400" dirty="0"/>
          </a:p>
        </p:txBody>
      </p:sp>
      <p:sp>
        <p:nvSpPr>
          <p:cNvPr id="19" name="Cabeçalho Desvantagens e cuidados"/>
          <p:cNvSpPr/>
          <p:nvPr/>
        </p:nvSpPr>
        <p:spPr>
          <a:xfrm>
            <a:off x="621792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0" name="Cabeçalho Desvantagens e cuidados círculo"/>
          <p:cNvSpPr/>
          <p:nvPr/>
        </p:nvSpPr>
        <p:spPr>
          <a:xfrm>
            <a:off x="6355080" y="124358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beçalho Desvantagens e cuid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348923"/>
            <a:ext cx="228234" cy="228234"/>
          </a:xfrm>
          <a:prstGeom prst="rect">
            <a:avLst/>
          </a:prstGeom>
        </p:spPr>
      </p:pic>
      <p:sp>
        <p:nvSpPr>
          <p:cNvPr id="22" name="Título Desvantagens e cuidados"/>
          <p:cNvSpPr txBox="1"/>
          <p:nvPr/>
        </p:nvSpPr>
        <p:spPr>
          <a:xfrm>
            <a:off x="694944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Desvantagens e cuidados</a:t>
            </a:r>
            <a:endParaRPr lang="en-US" sz="1900" dirty="0"/>
          </a:p>
        </p:txBody>
      </p:sp>
      <p:sp>
        <p:nvSpPr>
          <p:cNvPr id="23" name="Desvantagens e cuidados marcador 1"/>
          <p:cNvSpPr/>
          <p:nvPr/>
        </p:nvSpPr>
        <p:spPr>
          <a:xfrm>
            <a:off x="6355080" y="2011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Desvantagens e cuidados item 1"/>
          <p:cNvSpPr txBox="1"/>
          <p:nvPr/>
        </p:nvSpPr>
        <p:spPr>
          <a:xfrm>
            <a:off x="672084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Continua sendo SMS</a:t>
            </a:r>
            <a:endParaRPr lang="en-US" sz="1600" dirty="0"/>
          </a:p>
        </p:txBody>
      </p:sp>
      <p:sp>
        <p:nvSpPr>
          <p:cNvPr id="25" name="Desvantagens e cuidados descrição 1"/>
          <p:cNvSpPr txBox="1"/>
          <p:nvPr/>
        </p:nvSpPr>
        <p:spPr>
          <a:xfrm>
            <a:off x="672084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 troca de chip o código chega ao golpista. Combinar com o SIM Swap (módulo 05).</a:t>
            </a:r>
            <a:endParaRPr lang="en-US" sz="1400" dirty="0"/>
          </a:p>
        </p:txBody>
      </p:sp>
      <p:sp>
        <p:nvSpPr>
          <p:cNvPr id="26" name="Desvantagens e cuidados marcador 2"/>
          <p:cNvSpPr/>
          <p:nvPr/>
        </p:nvSpPr>
        <p:spPr>
          <a:xfrm>
            <a:off x="6355080" y="3090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esvantagens e cuidados item 2"/>
          <p:cNvSpPr txBox="1"/>
          <p:nvPr/>
        </p:nvSpPr>
        <p:spPr>
          <a:xfrm>
            <a:off x="672084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Engenharia social</a:t>
            </a:r>
            <a:endParaRPr lang="en-US" sz="1600" dirty="0"/>
          </a:p>
        </p:txBody>
      </p:sp>
      <p:sp>
        <p:nvSpPr>
          <p:cNvPr id="28" name="Desvantagens e cuidados descrição 2"/>
          <p:cNvSpPr txBox="1"/>
          <p:nvPr/>
        </p:nvSpPr>
        <p:spPr>
          <a:xfrm>
            <a:off x="672084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 o cliente for enganado e repassar o código, nenhuma API impede.</a:t>
            </a:r>
            <a:endParaRPr lang="en-US" sz="1400" dirty="0"/>
          </a:p>
        </p:txBody>
      </p:sp>
      <p:sp>
        <p:nvSpPr>
          <p:cNvPr id="29" name="Desvantagens e cuidados marcador 3"/>
          <p:cNvSpPr/>
          <p:nvPr/>
        </p:nvSpPr>
        <p:spPr>
          <a:xfrm>
            <a:off x="6355080" y="416966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esvantagens e cuidados item 3"/>
          <p:cNvSpPr txBox="1"/>
          <p:nvPr/>
        </p:nvSpPr>
        <p:spPr>
          <a:xfrm>
            <a:off x="672084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Cobertura menor</a:t>
            </a:r>
            <a:endParaRPr lang="en-US" sz="1600" dirty="0"/>
          </a:p>
        </p:txBody>
      </p:sp>
      <p:sp>
        <p:nvSpPr>
          <p:cNvPr id="31" name="Desvantagens e cuidados descrição 3"/>
          <p:cNvSpPr txBox="1"/>
          <p:nvPr/>
        </p:nvSpPr>
        <p:spPr>
          <a:xfrm>
            <a:off x="672084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Só funciona com operadoras que oferecem a API. O agregador alcança qualquer número.</a:t>
            </a:r>
            <a:endParaRPr lang="en-US" sz="1400" dirty="0"/>
          </a:p>
        </p:txBody>
      </p:sp>
      <p:sp>
        <p:nvSpPr>
          <p:cNvPr id="32" name="Desvantagens e cuidados marcador 4"/>
          <p:cNvSpPr/>
          <p:nvPr/>
        </p:nvSpPr>
        <p:spPr>
          <a:xfrm>
            <a:off x="6355080" y="52486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Desvantagens e cuidados item 4"/>
          <p:cNvSpPr txBox="1"/>
          <p:nvPr/>
        </p:nvSpPr>
        <p:spPr>
          <a:xfrm>
            <a:off x="672084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Erros pouco detalhados no sandbox</a:t>
            </a:r>
            <a:endParaRPr lang="en-US" sz="1600" dirty="0"/>
          </a:p>
        </p:txBody>
      </p:sp>
      <p:sp>
        <p:nvSpPr>
          <p:cNvPr id="34" name="Desvantagens e cuidados descrição 4"/>
          <p:cNvSpPr txBox="1"/>
          <p:nvPr/>
        </p:nvSpPr>
        <p:spPr>
          <a:xfrm>
            <a:off x="672084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Código errado, expirado e tentativas demais vieram como o mesmo 400.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o módulo"/>
          <p:cNvSpPr txBox="1"/>
          <p:nvPr/>
        </p:nvSpPr>
        <p:spPr>
          <a:xfrm>
            <a:off x="73152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Localização do aparelho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</a:rPr>
              <a:t>“Onde está este celular agora?”</a:t>
            </a:r>
            <a:endParaRPr lang="en-US" sz="2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API: Device Location Retrieval · pasta device_location_retrieval_01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operadora devolve onde o celular está</a:t>
            </a:r>
            <a:endParaRPr lang="en-US" sz="3200" dirty="0"/>
          </a:p>
        </p:txBody>
      </p:sp>
      <p:sp>
        <p:nvSpPr>
          <p:cNvPr id="3" name="Rótulo Pergunta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PERGUNTA</a:t>
            </a:r>
            <a:endParaRPr lang="en-US" sz="1200" dirty="0"/>
          </a:p>
        </p:txBody>
      </p:sp>
      <p:sp>
        <p:nvSpPr>
          <p:cNvPr id="4" name="Texto Pergunta"/>
          <p:cNvSpPr txBox="1"/>
          <p:nvPr/>
        </p:nvSpPr>
        <p:spPr>
          <a:xfrm>
            <a:off x="548640" y="15361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Onde está o celular deste número?</a:t>
            </a:r>
            <a:endParaRPr lang="en-US" sz="1800" dirty="0"/>
          </a:p>
        </p:txBody>
      </p:sp>
      <p:sp>
        <p:nvSpPr>
          <p:cNvPr id="5" name="Rótulo Enviamos"/>
          <p:cNvSpPr txBox="1"/>
          <p:nvPr/>
        </p:nvSpPr>
        <p:spPr>
          <a:xfrm>
            <a:off x="548640" y="2423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ENVIAMOS</a:t>
            </a:r>
            <a:endParaRPr lang="en-US" sz="1200" dirty="0"/>
          </a:p>
        </p:txBody>
      </p:sp>
      <p:sp>
        <p:nvSpPr>
          <p:cNvPr id="6" name="Texto Enviamos"/>
          <p:cNvSpPr txBox="1"/>
          <p:nvPr/>
        </p:nvSpPr>
        <p:spPr>
          <a:xfrm>
            <a:off x="548640" y="27249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Só o telefone e, se quiser, a idade máxima da posição (maxAge)</a:t>
            </a:r>
            <a:endParaRPr lang="en-US" sz="1800" dirty="0"/>
          </a:p>
        </p:txBody>
      </p:sp>
      <p:sp>
        <p:nvSpPr>
          <p:cNvPr id="7" name="Rótulo Recebemos"/>
          <p:cNvSpPr txBox="1"/>
          <p:nvPr/>
        </p:nvSpPr>
        <p:spPr>
          <a:xfrm>
            <a:off x="54864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RECEBEMOS</a:t>
            </a:r>
            <a:endParaRPr lang="en-US" sz="1200" dirty="0"/>
          </a:p>
        </p:txBody>
      </p:sp>
      <p:sp>
        <p:nvSpPr>
          <p:cNvPr id="8" name="Texto Recebemos"/>
          <p:cNvSpPr txBox="1"/>
          <p:nvPr/>
        </p:nvSpPr>
        <p:spPr>
          <a:xfrm>
            <a:off x="548640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área aproximada: círculo (centro e raio) ou polígono, com o horário da posição</a:t>
            </a:r>
            <a:endParaRPr lang="en-US" sz="1800" dirty="0"/>
          </a:p>
        </p:txBody>
      </p:sp>
      <p:sp>
        <p:nvSpPr>
          <p:cNvPr id="9" name="Caixa dos endpoints"/>
          <p:cNvSpPr/>
          <p:nvPr/>
        </p:nvSpPr>
        <p:spPr>
          <a:xfrm>
            <a:off x="548640" y="4892040"/>
            <a:ext cx="6766560" cy="566928"/>
          </a:xfrm>
          <a:prstGeom prst="roundRect">
            <a:avLst>
              <a:gd name="adj" fmla="val 96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Endpoints"/>
          <p:cNvSpPr txBox="1"/>
          <p:nvPr/>
        </p:nvSpPr>
        <p:spPr>
          <a:xfrm>
            <a:off x="731520" y="5029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/device-location-retrieval/v0.3/retrieve</a:t>
            </a:r>
            <a:endParaRPr lang="en-US" sz="1300" dirty="0"/>
          </a:p>
        </p:txBody>
      </p:sp>
      <p:sp>
        <p:nvSpPr>
          <p:cNvPr id="11" name="Painel onde se usa"/>
          <p:cNvSpPr/>
          <p:nvPr/>
        </p:nvSpPr>
        <p:spPr>
          <a:xfrm>
            <a:off x="7726680" y="1234440"/>
            <a:ext cx="388620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ítulo onde se usa"/>
          <p:cNvSpPr txBox="1"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se usa</a:t>
            </a:r>
            <a:endParaRPr lang="en-US" sz="1800" dirty="0"/>
          </a:p>
        </p:txBody>
      </p:sp>
      <p:sp>
        <p:nvSpPr>
          <p:cNvPr id="13" name="Uso 1 círculo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063" y="2239183"/>
            <a:ext cx="294803" cy="294803"/>
          </a:xfrm>
          <a:prstGeom prst="rect">
            <a:avLst/>
          </a:prstGeom>
        </p:spPr>
      </p:pic>
      <p:sp>
        <p:nvSpPr>
          <p:cNvPr id="15" name="Texto uso 1"/>
          <p:cNvSpPr txBox="1"/>
          <p:nvPr/>
        </p:nvSpPr>
        <p:spPr>
          <a:xfrm>
            <a:off x="8732520" y="2084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Assistência 24h e guincho</a:t>
            </a:r>
            <a:endParaRPr lang="en-US" sz="1500" dirty="0"/>
          </a:p>
        </p:txBody>
      </p:sp>
      <p:sp>
        <p:nvSpPr>
          <p:cNvPr id="16" name="Uso 2 círculo"/>
          <p:cNvSpPr/>
          <p:nvPr/>
        </p:nvSpPr>
        <p:spPr>
          <a:xfrm>
            <a:off x="800100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63" y="3473623"/>
            <a:ext cx="294803" cy="294803"/>
          </a:xfrm>
          <a:prstGeom prst="rect">
            <a:avLst/>
          </a:prstGeom>
        </p:spPr>
      </p:pic>
      <p:sp>
        <p:nvSpPr>
          <p:cNvPr id="18" name="Texto uso 2"/>
          <p:cNvSpPr txBox="1"/>
          <p:nvPr/>
        </p:nvSpPr>
        <p:spPr>
          <a:xfrm>
            <a:off x="8732520" y="331927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Atendimento de emergência</a:t>
            </a:r>
            <a:endParaRPr lang="en-US" sz="1500" dirty="0"/>
          </a:p>
        </p:txBody>
      </p:sp>
      <p:sp>
        <p:nvSpPr>
          <p:cNvPr id="19" name="Uso 3 círculo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63" y="4708063"/>
            <a:ext cx="294803" cy="294803"/>
          </a:xfrm>
          <a:prstGeom prst="rect">
            <a:avLst/>
          </a:prstGeom>
        </p:spPr>
      </p:pic>
      <p:sp>
        <p:nvSpPr>
          <p:cNvPr id="21" name="Texto uso 3"/>
          <p:cNvSpPr txBox="1"/>
          <p:nvPr/>
        </p:nvSpPr>
        <p:spPr>
          <a:xfrm>
            <a:off x="8732520" y="455371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de frota e entregas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Cenário: socorro na estrada</a:t>
            </a:r>
            <a:endParaRPr lang="en-US" sz="3200" dirty="0"/>
          </a:p>
        </p:txBody>
      </p:sp>
      <p:pic>
        <p:nvPicPr>
          <p:cNvPr id="3" name="Imagem cenario_guincho.png" descr="C:\Users\Embedded\Documents\projetos\virtus\camarasandbox\device_location_retrieval_01\cenario_guin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97950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6897950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7812350" y="1188720"/>
            <a:ext cx="3827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contar a história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781235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781235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342702" y="176479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Carla, à noite numa rodovia: a operadora informa um raio de 800 m e o guincho vai até ela.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781235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781235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342702" y="322783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Rafael está sem sinal: sem posição recente, o atendente liga para confirmar o local.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7812350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781235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342702" y="469087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área é aproximada e só é consultada com autorização do cliente.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chamadas que fizemos</a:t>
            </a:r>
            <a:endParaRPr lang="en-US" sz="3200" dirty="0"/>
          </a:p>
        </p:txBody>
      </p:sp>
      <p:pic>
        <p:nvPicPr>
          <p:cNvPr id="3" name="Imagem diagrama_retrieval.png" descr="C:\Users\Embedded\Documents\projetos\virtus\camarasandbox\device_location_retrieval_01\diagrama_retri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104888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7104888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8019288" y="11887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descobrimos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8019288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801928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549640" y="176479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Finais 00–49 devolvem círculo, 50–89 polígono e 90–93 erros.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8019288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80192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549640" y="322783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posição é sempre “agora” e sempre em Lyon. O maxAge não muda nada.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8019288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801928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549640" y="469087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erro 403 aparece quando o token não tem a permissão da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POC: assistência 24h (caso_real.js)</a:t>
            </a:r>
            <a:endParaRPr lang="en-US" sz="3200" dirty="0"/>
          </a:p>
        </p:txBody>
      </p:sp>
      <p:sp>
        <p:nvSpPr>
          <p:cNvPr id="3" name="Caixa da regra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da regra"/>
          <p:cNvSpPr txBox="1"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decisão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Área de até 2 km: envia o guincho mais próximo · área maior: envia e liga para confirmar · posição com mais de 10 min ou erro: liga para o cliente</a:t>
            </a:r>
            <a:endParaRPr lang="en-US" sz="1400" dirty="0"/>
          </a:p>
        </p:txBody>
      </p:sp>
      <p:graphicFrame>
        <p:nvGraphicFramePr>
          <p:cNvPr id="34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347472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da operadora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círculo de 800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GUINCHO · 2,2 km, cerca de 13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polígono (cerca de 17 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GUINCHO · polígono convertido em centro + raio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404: aparelho não localizado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PARA O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503: serviço indisponível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PARA O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401: credencial recusada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E AVISAR A EQUIPE TÉCNICA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400: requisição inválida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PARA O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 e cuidados</a:t>
            </a:r>
            <a:endParaRPr lang="en-US" sz="3200" dirty="0"/>
          </a:p>
        </p:txBody>
      </p:sp>
      <p:sp>
        <p:nvSpPr>
          <p:cNvPr id="3" name="Cabeçalho Vantagens"/>
          <p:cNvSpPr/>
          <p:nvPr/>
        </p:nvSpPr>
        <p:spPr>
          <a:xfrm>
            <a:off x="54864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" name="Cabeçalho Vantagens círculo"/>
          <p:cNvSpPr/>
          <p:nvPr/>
        </p:nvSpPr>
        <p:spPr>
          <a:xfrm>
            <a:off x="685800" y="124358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abeçalho Vantagen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348923"/>
            <a:ext cx="228234" cy="228234"/>
          </a:xfrm>
          <a:prstGeom prst="rect">
            <a:avLst/>
          </a:prstGeom>
        </p:spPr>
      </p:pic>
      <p:sp>
        <p:nvSpPr>
          <p:cNvPr id="6" name="Título Vantagens"/>
          <p:cNvSpPr txBox="1"/>
          <p:nvPr/>
        </p:nvSpPr>
        <p:spPr>
          <a:xfrm>
            <a:off x="128016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Vantagens</a:t>
            </a:r>
            <a:endParaRPr lang="en-US" sz="1900" dirty="0"/>
          </a:p>
        </p:txBody>
      </p:sp>
      <p:sp>
        <p:nvSpPr>
          <p:cNvPr id="7" name="Vantagens marcador 1"/>
          <p:cNvSpPr/>
          <p:nvPr/>
        </p:nvSpPr>
        <p:spPr>
          <a:xfrm>
            <a:off x="685800" y="201168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Vantagens item 1"/>
          <p:cNvSpPr txBox="1"/>
          <p:nvPr/>
        </p:nvSpPr>
        <p:spPr>
          <a:xfrm>
            <a:off x="105156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Localiza sem app e sem GPS</a:t>
            </a:r>
            <a:endParaRPr lang="en-US" sz="1600" dirty="0"/>
          </a:p>
        </p:txBody>
      </p:sp>
      <p:sp>
        <p:nvSpPr>
          <p:cNvPr id="9" name="Vantagens descrição 1"/>
          <p:cNvSpPr txBox="1"/>
          <p:nvPr/>
        </p:nvSpPr>
        <p:spPr>
          <a:xfrm>
            <a:off x="105156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Funciona mesmo que o cliente não saiba ou não consiga dizer onde está.</a:t>
            </a:r>
            <a:endParaRPr lang="en-US" sz="1400" dirty="0"/>
          </a:p>
        </p:txBody>
      </p:sp>
      <p:sp>
        <p:nvSpPr>
          <p:cNvPr id="10" name="Vantagens marcador 2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ntagens item 2"/>
          <p:cNvSpPr txBox="1"/>
          <p:nvPr/>
        </p:nvSpPr>
        <p:spPr>
          <a:xfrm>
            <a:off x="105156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mais rápido</a:t>
            </a:r>
            <a:endParaRPr lang="en-US" sz="1600" dirty="0"/>
          </a:p>
        </p:txBody>
      </p:sp>
      <p:sp>
        <p:nvSpPr>
          <p:cNvPr id="12" name="Vantagens descrição 2"/>
          <p:cNvSpPr txBox="1"/>
          <p:nvPr/>
        </p:nvSpPr>
        <p:spPr>
          <a:xfrm>
            <a:off x="105156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 guincho ou o socorro sai sem depender de uma ligação para explicar o local.</a:t>
            </a:r>
            <a:endParaRPr lang="en-US" sz="1400" dirty="0"/>
          </a:p>
        </p:txBody>
      </p:sp>
      <p:sp>
        <p:nvSpPr>
          <p:cNvPr id="13" name="Vantagens marcador 3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ntagens item 3"/>
          <p:cNvSpPr txBox="1"/>
          <p:nvPr/>
        </p:nvSpPr>
        <p:spPr>
          <a:xfrm>
            <a:off x="105156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Qualquer celular</a:t>
            </a:r>
            <a:endParaRPr lang="en-US" sz="1600" dirty="0"/>
          </a:p>
        </p:txBody>
      </p:sp>
      <p:sp>
        <p:nvSpPr>
          <p:cNvPr id="15" name="Vantagens descrição 3"/>
          <p:cNvSpPr txBox="1"/>
          <p:nvPr/>
        </p:nvSpPr>
        <p:spPr>
          <a:xfrm>
            <a:off x="105156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Vale para aparelhos simples, sem internet.</a:t>
            </a:r>
            <a:endParaRPr lang="en-US" sz="1400" dirty="0"/>
          </a:p>
        </p:txBody>
      </p:sp>
      <p:sp>
        <p:nvSpPr>
          <p:cNvPr id="16" name="Vantagens marcador 4"/>
          <p:cNvSpPr/>
          <p:nvPr/>
        </p:nvSpPr>
        <p:spPr>
          <a:xfrm>
            <a:off x="685800" y="524865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antagens item 4"/>
          <p:cNvSpPr txBox="1"/>
          <p:nvPr/>
        </p:nvSpPr>
        <p:spPr>
          <a:xfrm>
            <a:off x="105156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Resposta pronta para usar</a:t>
            </a:r>
            <a:endParaRPr lang="en-US" sz="1600" dirty="0"/>
          </a:p>
        </p:txBody>
      </p:sp>
      <p:sp>
        <p:nvSpPr>
          <p:cNvPr id="18" name="Vantagens descrição 4"/>
          <p:cNvSpPr txBox="1"/>
          <p:nvPr/>
        </p:nvSpPr>
        <p:spPr>
          <a:xfrm>
            <a:off x="105156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Círculo ou polígono, já com o horário da posição.</a:t>
            </a:r>
            <a:endParaRPr lang="en-US" sz="1400" dirty="0"/>
          </a:p>
        </p:txBody>
      </p:sp>
      <p:sp>
        <p:nvSpPr>
          <p:cNvPr id="19" name="Cabeçalho Desvantagens e cuidados"/>
          <p:cNvSpPr/>
          <p:nvPr/>
        </p:nvSpPr>
        <p:spPr>
          <a:xfrm>
            <a:off x="621792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0" name="Cabeçalho Desvantagens e cuidados círculo"/>
          <p:cNvSpPr/>
          <p:nvPr/>
        </p:nvSpPr>
        <p:spPr>
          <a:xfrm>
            <a:off x="6355080" y="124358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beçalho Desvantagens e cuid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348923"/>
            <a:ext cx="228234" cy="228234"/>
          </a:xfrm>
          <a:prstGeom prst="rect">
            <a:avLst/>
          </a:prstGeom>
        </p:spPr>
      </p:pic>
      <p:sp>
        <p:nvSpPr>
          <p:cNvPr id="22" name="Título Desvantagens e cuidados"/>
          <p:cNvSpPr txBox="1"/>
          <p:nvPr/>
        </p:nvSpPr>
        <p:spPr>
          <a:xfrm>
            <a:off x="694944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Desvantagens e cuidados</a:t>
            </a:r>
            <a:endParaRPr lang="en-US" sz="1900" dirty="0"/>
          </a:p>
        </p:txBody>
      </p:sp>
      <p:sp>
        <p:nvSpPr>
          <p:cNvPr id="23" name="Desvantagens e cuidados marcador 1"/>
          <p:cNvSpPr/>
          <p:nvPr/>
        </p:nvSpPr>
        <p:spPr>
          <a:xfrm>
            <a:off x="6355080" y="2011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Desvantagens e cuidados item 1"/>
          <p:cNvSpPr txBox="1"/>
          <p:nvPr/>
        </p:nvSpPr>
        <p:spPr>
          <a:xfrm>
            <a:off x="672084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Área aproximada</a:t>
            </a:r>
            <a:endParaRPr lang="en-US" sz="1600" dirty="0"/>
          </a:p>
        </p:txBody>
      </p:sp>
      <p:sp>
        <p:nvSpPr>
          <p:cNvPr id="25" name="Desvantagens e cuidados descrição 1"/>
          <p:cNvSpPr txBox="1"/>
          <p:nvPr/>
        </p:nvSpPr>
        <p:spPr>
          <a:xfrm>
            <a:off x="672084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Em estrada, a área pode passar de quilômetros. Não é o ponto exato.</a:t>
            </a:r>
            <a:endParaRPr lang="en-US" sz="1400" dirty="0"/>
          </a:p>
        </p:txBody>
      </p:sp>
      <p:sp>
        <p:nvSpPr>
          <p:cNvPr id="26" name="Desvantagens e cuidados marcador 2"/>
          <p:cNvSpPr/>
          <p:nvPr/>
        </p:nvSpPr>
        <p:spPr>
          <a:xfrm>
            <a:off x="6355080" y="3090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esvantagens e cuidados item 2"/>
          <p:cNvSpPr txBox="1"/>
          <p:nvPr/>
        </p:nvSpPr>
        <p:spPr>
          <a:xfrm>
            <a:off x="672084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Dado sensível</a:t>
            </a:r>
            <a:endParaRPr lang="en-US" sz="1600" dirty="0"/>
          </a:p>
        </p:txBody>
      </p:sp>
      <p:sp>
        <p:nvSpPr>
          <p:cNvPr id="28" name="Desvantagens e cuidados descrição 2"/>
          <p:cNvSpPr txBox="1"/>
          <p:nvPr/>
        </p:nvSpPr>
        <p:spPr>
          <a:xfrm>
            <a:off x="672084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Exige consentimento explícito e uso restrito à finalidade (LGPD).</a:t>
            </a:r>
            <a:endParaRPr lang="en-US" sz="1400" dirty="0"/>
          </a:p>
        </p:txBody>
      </p:sp>
      <p:sp>
        <p:nvSpPr>
          <p:cNvPr id="29" name="Desvantagens e cuidados marcador 3"/>
          <p:cNvSpPr/>
          <p:nvPr/>
        </p:nvSpPr>
        <p:spPr>
          <a:xfrm>
            <a:off x="6355080" y="416966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esvantagens e cuidados item 3"/>
          <p:cNvSpPr txBox="1"/>
          <p:nvPr/>
        </p:nvSpPr>
        <p:spPr>
          <a:xfrm>
            <a:off x="672084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sinal, sem posição</a:t>
            </a:r>
            <a:endParaRPr lang="en-US" sz="1600" dirty="0"/>
          </a:p>
        </p:txBody>
      </p:sp>
      <p:sp>
        <p:nvSpPr>
          <p:cNvPr id="31" name="Desvantagens e cuidados descrição 3"/>
          <p:cNvSpPr txBox="1"/>
          <p:nvPr/>
        </p:nvSpPr>
        <p:spPr>
          <a:xfrm>
            <a:off x="672084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Celular desligado ou fora de cobertura não é localizado.</a:t>
            </a:r>
            <a:endParaRPr lang="en-US" sz="1400" dirty="0"/>
          </a:p>
        </p:txBody>
      </p:sp>
      <p:sp>
        <p:nvSpPr>
          <p:cNvPr id="32" name="Desvantagens e cuidados marcador 4"/>
          <p:cNvSpPr/>
          <p:nvPr/>
        </p:nvSpPr>
        <p:spPr>
          <a:xfrm>
            <a:off x="6355080" y="52486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Desvantagens e cuidados item 4"/>
          <p:cNvSpPr txBox="1"/>
          <p:nvPr/>
        </p:nvSpPr>
        <p:spPr>
          <a:xfrm>
            <a:off x="672084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Só a posição recente</a:t>
            </a:r>
            <a:endParaRPr lang="en-US" sz="1600" dirty="0"/>
          </a:p>
        </p:txBody>
      </p:sp>
      <p:sp>
        <p:nvSpPr>
          <p:cNvPr id="34" name="Desvantagens e cuidados descrição 4"/>
          <p:cNvSpPr txBox="1"/>
          <p:nvPr/>
        </p:nvSpPr>
        <p:spPr>
          <a:xfrm>
            <a:off x="672084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Não há histórico de onde o celular esteve.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o módulo"/>
          <p:cNvSpPr txBox="1"/>
          <p:nvPr/>
        </p:nvSpPr>
        <p:spPr>
          <a:xfrm>
            <a:off x="73152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Troca de chip (SIM Swap)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</a:rPr>
              <a:t>“O chip deste número foi trocado recentemente?”</a:t>
            </a:r>
            <a:endParaRPr lang="en-US" sz="2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API: SIM Swap · pasta sim_swap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operadora conta quando o chip foi trocado</a:t>
            </a:r>
            <a:endParaRPr lang="en-US" sz="3200" dirty="0"/>
          </a:p>
        </p:txBody>
      </p:sp>
      <p:sp>
        <p:nvSpPr>
          <p:cNvPr id="3" name="Rótulo check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CHECK</a:t>
            </a:r>
            <a:endParaRPr lang="en-US" sz="1200" dirty="0"/>
          </a:p>
        </p:txBody>
      </p:sp>
      <p:sp>
        <p:nvSpPr>
          <p:cNvPr id="4" name="Texto check"/>
          <p:cNvSpPr txBox="1"/>
          <p:nvPr/>
        </p:nvSpPr>
        <p:spPr>
          <a:xfrm>
            <a:off x="548640" y="15361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Foi trocado nas últimas X horas (maxAge de 1 a 2400)? Resposta: swapped true ou false</a:t>
            </a:r>
            <a:endParaRPr lang="en-US" sz="1800" dirty="0"/>
          </a:p>
        </p:txBody>
      </p:sp>
      <p:sp>
        <p:nvSpPr>
          <p:cNvPr id="5" name="Rótulo retrieve-date"/>
          <p:cNvSpPr txBox="1"/>
          <p:nvPr/>
        </p:nvSpPr>
        <p:spPr>
          <a:xfrm>
            <a:off x="548640" y="2423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RETRIEVE-DATE</a:t>
            </a:r>
            <a:endParaRPr lang="en-US" sz="1200" dirty="0"/>
          </a:p>
        </p:txBody>
      </p:sp>
      <p:sp>
        <p:nvSpPr>
          <p:cNvPr id="6" name="Texto retrieve-date"/>
          <p:cNvSpPr txBox="1"/>
          <p:nvPr/>
        </p:nvSpPr>
        <p:spPr>
          <a:xfrm>
            <a:off x="548640" y="272491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Quando foi a última troca? Resposta: uma data, ou null se nunca foi trocado</a:t>
            </a:r>
            <a:endParaRPr lang="en-US" sz="1800" dirty="0"/>
          </a:p>
        </p:txBody>
      </p:sp>
      <p:sp>
        <p:nvSpPr>
          <p:cNvPr id="7" name="Rótulo Por que importa"/>
          <p:cNvSpPr txBox="1"/>
          <p:nvPr/>
        </p:nvSpPr>
        <p:spPr>
          <a:xfrm>
            <a:off x="548640" y="3611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POR QUE IMPORTA</a:t>
            </a:r>
            <a:endParaRPr lang="en-US" sz="1200" dirty="0"/>
          </a:p>
        </p:txBody>
      </p:sp>
      <p:sp>
        <p:nvSpPr>
          <p:cNvPr id="8" name="Texto Por que importa"/>
          <p:cNvSpPr txBox="1"/>
          <p:nvPr/>
        </p:nvSpPr>
        <p:spPr>
          <a:xfrm>
            <a:off x="548640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golpe da troca de chip, o SMS do banco passa a chegar ao golpista</a:t>
            </a:r>
            <a:endParaRPr lang="en-US" sz="1800" dirty="0"/>
          </a:p>
        </p:txBody>
      </p:sp>
      <p:sp>
        <p:nvSpPr>
          <p:cNvPr id="9" name="Caixa dos endpoints"/>
          <p:cNvSpPr/>
          <p:nvPr/>
        </p:nvSpPr>
        <p:spPr>
          <a:xfrm>
            <a:off x="548640" y="4892040"/>
            <a:ext cx="6766560" cy="859536"/>
          </a:xfrm>
          <a:prstGeom prst="roundRect">
            <a:avLst>
              <a:gd name="adj" fmla="val 638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Endpoints"/>
          <p:cNvSpPr txBox="1"/>
          <p:nvPr/>
        </p:nvSpPr>
        <p:spPr>
          <a:xfrm>
            <a:off x="731520" y="5029200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/sim-swap/v1/check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/sim-swap/v1/retrieve-date</a:t>
            </a:r>
            <a:endParaRPr lang="en-US" sz="1300" dirty="0"/>
          </a:p>
        </p:txBody>
      </p:sp>
      <p:sp>
        <p:nvSpPr>
          <p:cNvPr id="11" name="Painel onde se usa"/>
          <p:cNvSpPr/>
          <p:nvPr/>
        </p:nvSpPr>
        <p:spPr>
          <a:xfrm>
            <a:off x="7726680" y="1234440"/>
            <a:ext cx="388620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ítulo onde se usa"/>
          <p:cNvSpPr txBox="1"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se usa</a:t>
            </a:r>
            <a:endParaRPr lang="en-US" sz="1800" dirty="0"/>
          </a:p>
        </p:txBody>
      </p:sp>
      <p:sp>
        <p:nvSpPr>
          <p:cNvPr id="13" name="Uso 1 círculo"/>
          <p:cNvSpPr/>
          <p:nvPr/>
        </p:nvSpPr>
        <p:spPr>
          <a:xfrm>
            <a:off x="80010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U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063" y="2239183"/>
            <a:ext cx="294803" cy="294803"/>
          </a:xfrm>
          <a:prstGeom prst="rect">
            <a:avLst/>
          </a:prstGeom>
        </p:spPr>
      </p:pic>
      <p:sp>
        <p:nvSpPr>
          <p:cNvPr id="15" name="Texto uso 1"/>
          <p:cNvSpPr txBox="1"/>
          <p:nvPr/>
        </p:nvSpPr>
        <p:spPr>
          <a:xfrm>
            <a:off x="8732520" y="208483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Antes de Pix alto ou troca de senha</a:t>
            </a:r>
            <a:endParaRPr lang="en-US" sz="1500" dirty="0"/>
          </a:p>
        </p:txBody>
      </p:sp>
      <p:sp>
        <p:nvSpPr>
          <p:cNvPr id="16" name="Uso 2 círculo"/>
          <p:cNvSpPr/>
          <p:nvPr/>
        </p:nvSpPr>
        <p:spPr>
          <a:xfrm>
            <a:off x="800100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63" y="3473623"/>
            <a:ext cx="294803" cy="294803"/>
          </a:xfrm>
          <a:prstGeom prst="rect">
            <a:avLst/>
          </a:prstGeom>
        </p:spPr>
      </p:pic>
      <p:sp>
        <p:nvSpPr>
          <p:cNvPr id="18" name="Texto uso 2"/>
          <p:cNvSpPr txBox="1"/>
          <p:nvPr/>
        </p:nvSpPr>
        <p:spPr>
          <a:xfrm>
            <a:off x="8732520" y="331927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Decidir se é seguro enviar código SMS</a:t>
            </a:r>
            <a:endParaRPr lang="en-US" sz="1500" dirty="0"/>
          </a:p>
        </p:txBody>
      </p:sp>
      <p:sp>
        <p:nvSpPr>
          <p:cNvPr id="19" name="Uso 3 círculo"/>
          <p:cNvSpPr/>
          <p:nvPr/>
        </p:nvSpPr>
        <p:spPr>
          <a:xfrm>
            <a:off x="8001000" y="4572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U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63" y="4708063"/>
            <a:ext cx="294803" cy="294803"/>
          </a:xfrm>
          <a:prstGeom prst="rect">
            <a:avLst/>
          </a:prstGeom>
        </p:spPr>
      </p:pic>
      <p:sp>
        <p:nvSpPr>
          <p:cNvPr id="21" name="Texto uso 3"/>
          <p:cNvSpPr txBox="1"/>
          <p:nvPr/>
        </p:nvSpPr>
        <p:spPr>
          <a:xfrm>
            <a:off x="8732520" y="4553712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Cadastrar um novo celular no 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Cenário: o golpe da troca de chip</a:t>
            </a:r>
            <a:endParaRPr lang="en-US" sz="3200" dirty="0"/>
          </a:p>
        </p:txBody>
      </p:sp>
      <p:pic>
        <p:nvPicPr>
          <p:cNvPr id="3" name="Imagem cenario_troca_de_chip.png" descr="C:\Users\Embedded\Documents\projetos\virtus\camarasandbox\sim_swap\cenario_troca_de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97950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6897950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7812350" y="1188720"/>
            <a:ext cx="3827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contar a história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781235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781235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342702" y="176479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Ana tem o chip de sempre: o código SMS é enviado e o Pix segue.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781235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781235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342702" y="322783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golpista ativou o número do Bruno num chip novo: o banco não envia o SMS.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7812350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781235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342702" y="4690872"/>
            <a:ext cx="32976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Troca recente pede verificação extra, não bloqueio: quase toda troca é legítima.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 chamadas que fizemos</a:t>
            </a:r>
            <a:endParaRPr lang="en-US" sz="3200" dirty="0"/>
          </a:p>
        </p:txBody>
      </p:sp>
      <p:pic>
        <p:nvPicPr>
          <p:cNvPr id="3" name="Imagem diagrama_sim_swap.png" descr="C:\Users\Embedded\Documents\projetos\virtus\camarasandbox\sim_swap\diagrama_sim_sw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104888" cy="5074920"/>
          </a:xfrm>
          <a:prstGeom prst="rect">
            <a:avLst/>
          </a:prstGeom>
        </p:spPr>
      </p:pic>
      <p:sp>
        <p:nvSpPr>
          <p:cNvPr id="4" name="Moldura da imagem"/>
          <p:cNvSpPr/>
          <p:nvPr/>
        </p:nvSpPr>
        <p:spPr>
          <a:xfrm>
            <a:off x="548640" y="1188720"/>
            <a:ext cx="7104888" cy="50749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5" name="Cabeçalho da coluna"/>
          <p:cNvSpPr txBox="1"/>
          <p:nvPr/>
        </p:nvSpPr>
        <p:spPr>
          <a:xfrm>
            <a:off x="8019288" y="11887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descobrimos</a:t>
            </a:r>
            <a:endParaRPr lang="en-US" sz="1800" dirty="0"/>
          </a:p>
        </p:txBody>
      </p:sp>
      <p:sp>
        <p:nvSpPr>
          <p:cNvPr id="6" name="Item 1 círculo"/>
          <p:cNvSpPr/>
          <p:nvPr/>
        </p:nvSpPr>
        <p:spPr>
          <a:xfrm>
            <a:off x="8019288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tem 1 número"/>
          <p:cNvSpPr txBox="1"/>
          <p:nvPr/>
        </p:nvSpPr>
        <p:spPr>
          <a:xfrm>
            <a:off x="801928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o do item 1"/>
          <p:cNvSpPr txBox="1"/>
          <p:nvPr/>
        </p:nvSpPr>
        <p:spPr>
          <a:xfrm>
            <a:off x="8549640" y="176479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Finais 10–19: troca há 5 dias. Finais 20–29: há 30 dias. Os demais nunca trocaram.</a:t>
            </a:r>
            <a:endParaRPr lang="en-US" sz="1500" dirty="0"/>
          </a:p>
        </p:txBody>
      </p:sp>
      <p:sp>
        <p:nvSpPr>
          <p:cNvPr id="9" name="Item 2 círculo"/>
          <p:cNvSpPr/>
          <p:nvPr/>
        </p:nvSpPr>
        <p:spPr>
          <a:xfrm>
            <a:off x="8019288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tem 2 número"/>
          <p:cNvSpPr txBox="1"/>
          <p:nvPr/>
        </p:nvSpPr>
        <p:spPr>
          <a:xfrm>
            <a:off x="801928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o do item 2"/>
          <p:cNvSpPr txBox="1"/>
          <p:nvPr/>
        </p:nvSpPr>
        <p:spPr>
          <a:xfrm>
            <a:off x="8549640" y="322783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check ignora a janela: responde “trocado” até com maxAge de 1 hora.</a:t>
            </a:r>
            <a:endParaRPr lang="en-US" sz="1500" dirty="0"/>
          </a:p>
        </p:txBody>
      </p:sp>
      <p:sp>
        <p:nvSpPr>
          <p:cNvPr id="12" name="Item 3 círculo"/>
          <p:cNvSpPr/>
          <p:nvPr/>
        </p:nvSpPr>
        <p:spPr>
          <a:xfrm>
            <a:off x="8019288" y="4709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tem 3 número"/>
          <p:cNvSpPr txBox="1"/>
          <p:nvPr/>
        </p:nvSpPr>
        <p:spPr>
          <a:xfrm>
            <a:off x="801928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o do item 3"/>
          <p:cNvSpPr txBox="1"/>
          <p:nvPr/>
        </p:nvSpPr>
        <p:spPr>
          <a:xfrm>
            <a:off x="8549640" y="4690872"/>
            <a:ext cx="3090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 isso a POC usa o retrieve-date e calcula a janela do nosso lado.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POC: proteção de operações (caso_real.js)</a:t>
            </a:r>
            <a:endParaRPr lang="en-US" sz="3200" dirty="0"/>
          </a:p>
        </p:txBody>
      </p:sp>
      <p:sp>
        <p:nvSpPr>
          <p:cNvPr id="3" name="Caixa da regra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da regra"/>
          <p:cNvSpPr txBox="1"/>
          <p:nvPr/>
        </p:nvSpPr>
        <p:spPr>
          <a:xfrm>
            <a:off x="731520" y="1188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de decisão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Troca há menos de 7 dias bloqueia e pede biometria · até 60 dias libera com limite · nunca trocado libera · operadora sem resposta pede verificação extra</a:t>
            </a:r>
            <a:endParaRPr lang="en-US" sz="1400" dirty="0"/>
          </a:p>
        </p:txBody>
      </p:sp>
      <p:graphicFrame>
        <p:nvGraphicFramePr>
          <p:cNvPr id="40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3017520"/>
                <a:gridCol w="210312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Última troca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de R$ 5.000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senha por SMS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5 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 E VERIFICAR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de R$ 2.000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30 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 COM LIMITE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celular no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de R$ 800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 EXTRA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senha por SMS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503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 EXTRA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 e cuidados</a:t>
            </a:r>
            <a:endParaRPr lang="en-US" sz="3200" dirty="0"/>
          </a:p>
        </p:txBody>
      </p:sp>
      <p:sp>
        <p:nvSpPr>
          <p:cNvPr id="3" name="Cabeçalho Vantagens"/>
          <p:cNvSpPr/>
          <p:nvPr/>
        </p:nvSpPr>
        <p:spPr>
          <a:xfrm>
            <a:off x="54864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4" name="Cabeçalho Vantagens círculo"/>
          <p:cNvSpPr/>
          <p:nvPr/>
        </p:nvSpPr>
        <p:spPr>
          <a:xfrm>
            <a:off x="685800" y="124358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abeçalho Vantagen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348923"/>
            <a:ext cx="228234" cy="228234"/>
          </a:xfrm>
          <a:prstGeom prst="rect">
            <a:avLst/>
          </a:prstGeom>
        </p:spPr>
      </p:pic>
      <p:sp>
        <p:nvSpPr>
          <p:cNvPr id="6" name="Título Vantagens"/>
          <p:cNvSpPr txBox="1"/>
          <p:nvPr/>
        </p:nvSpPr>
        <p:spPr>
          <a:xfrm>
            <a:off x="128016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Vantagens</a:t>
            </a:r>
            <a:endParaRPr lang="en-US" sz="1900" dirty="0"/>
          </a:p>
        </p:txBody>
      </p:sp>
      <p:sp>
        <p:nvSpPr>
          <p:cNvPr id="7" name="Vantagens marcador 1"/>
          <p:cNvSpPr/>
          <p:nvPr/>
        </p:nvSpPr>
        <p:spPr>
          <a:xfrm>
            <a:off x="685800" y="201168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Vantagens item 1"/>
          <p:cNvSpPr txBox="1"/>
          <p:nvPr/>
        </p:nvSpPr>
        <p:spPr>
          <a:xfrm>
            <a:off x="105156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Pega o golpe antes do prejuízo</a:t>
            </a:r>
            <a:endParaRPr lang="en-US" sz="1600" dirty="0"/>
          </a:p>
        </p:txBody>
      </p:sp>
      <p:sp>
        <p:nvSpPr>
          <p:cNvPr id="9" name="Vantagens descrição 1"/>
          <p:cNvSpPr txBox="1"/>
          <p:nvPr/>
        </p:nvSpPr>
        <p:spPr>
          <a:xfrm>
            <a:off x="105156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troca recente aparece antes de o golpista usar o SMS.</a:t>
            </a:r>
            <a:endParaRPr lang="en-US" sz="1400" dirty="0"/>
          </a:p>
        </p:txBody>
      </p:sp>
      <p:sp>
        <p:nvSpPr>
          <p:cNvPr id="10" name="Vantagens marcador 2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Vantagens item 2"/>
          <p:cNvSpPr txBox="1"/>
          <p:nvPr/>
        </p:nvSpPr>
        <p:spPr>
          <a:xfrm>
            <a:off x="105156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Invisível para o cliente</a:t>
            </a:r>
            <a:endParaRPr lang="en-US" sz="1600" dirty="0"/>
          </a:p>
        </p:txBody>
      </p:sp>
      <p:sp>
        <p:nvSpPr>
          <p:cNvPr id="12" name="Vantagens descrição 2"/>
          <p:cNvSpPr txBox="1"/>
          <p:nvPr/>
        </p:nvSpPr>
        <p:spPr>
          <a:xfrm>
            <a:off x="105156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Nenhuma etapa a mais para quem não trocou de chip.</a:t>
            </a:r>
            <a:endParaRPr lang="en-US" sz="1400" dirty="0"/>
          </a:p>
        </p:txBody>
      </p:sp>
      <p:sp>
        <p:nvSpPr>
          <p:cNvPr id="13" name="Vantagens marcador 3"/>
          <p:cNvSpPr/>
          <p:nvPr/>
        </p:nvSpPr>
        <p:spPr>
          <a:xfrm>
            <a:off x="685800" y="4169664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Vantagens item 3"/>
          <p:cNvSpPr txBox="1"/>
          <p:nvPr/>
        </p:nvSpPr>
        <p:spPr>
          <a:xfrm>
            <a:off x="105156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Simples de integrar</a:t>
            </a:r>
            <a:endParaRPr lang="en-US" sz="1600" dirty="0"/>
          </a:p>
        </p:txBody>
      </p:sp>
      <p:sp>
        <p:nvSpPr>
          <p:cNvPr id="15" name="Vantagens descrição 3"/>
          <p:cNvSpPr txBox="1"/>
          <p:nvPr/>
        </p:nvSpPr>
        <p:spPr>
          <a:xfrm>
            <a:off x="105156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Uma chamada, uma data na resposta.</a:t>
            </a:r>
            <a:endParaRPr lang="en-US" sz="1400" dirty="0"/>
          </a:p>
        </p:txBody>
      </p:sp>
      <p:sp>
        <p:nvSpPr>
          <p:cNvPr id="16" name="Vantagens marcador 4"/>
          <p:cNvSpPr/>
          <p:nvPr/>
        </p:nvSpPr>
        <p:spPr>
          <a:xfrm>
            <a:off x="685800" y="524865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antagens item 4"/>
          <p:cNvSpPr txBox="1"/>
          <p:nvPr/>
        </p:nvSpPr>
        <p:spPr>
          <a:xfrm>
            <a:off x="105156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Completa o código SMS</a:t>
            </a:r>
            <a:endParaRPr lang="en-US" sz="1600" dirty="0"/>
          </a:p>
        </p:txBody>
      </p:sp>
      <p:sp>
        <p:nvSpPr>
          <p:cNvPr id="18" name="Vantagens descrição 4"/>
          <p:cNvSpPr txBox="1"/>
          <p:nvPr/>
        </p:nvSpPr>
        <p:spPr>
          <a:xfrm>
            <a:off x="105156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Diz quando ainda dá para confiar no SMS do módulo 03.</a:t>
            </a:r>
            <a:endParaRPr lang="en-US" sz="1400" dirty="0"/>
          </a:p>
        </p:txBody>
      </p:sp>
      <p:sp>
        <p:nvSpPr>
          <p:cNvPr id="19" name="Cabeçalho Desvantagens e cuidados"/>
          <p:cNvSpPr/>
          <p:nvPr/>
        </p:nvSpPr>
        <p:spPr>
          <a:xfrm>
            <a:off x="6217920" y="11887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20" name="Cabeçalho Desvantagens e cuidados círculo"/>
          <p:cNvSpPr/>
          <p:nvPr/>
        </p:nvSpPr>
        <p:spPr>
          <a:xfrm>
            <a:off x="6355080" y="124358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beçalho Desvantagens e cuidado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19" y="1348923"/>
            <a:ext cx="228234" cy="228234"/>
          </a:xfrm>
          <a:prstGeom prst="rect">
            <a:avLst/>
          </a:prstGeom>
        </p:spPr>
      </p:pic>
      <p:sp>
        <p:nvSpPr>
          <p:cNvPr id="22" name="Título Desvantagens e cuidados"/>
          <p:cNvSpPr txBox="1"/>
          <p:nvPr/>
        </p:nvSpPr>
        <p:spPr>
          <a:xfrm>
            <a:off x="6949440" y="1188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Desvantagens e cuidados</a:t>
            </a:r>
            <a:endParaRPr lang="en-US" sz="1900" dirty="0"/>
          </a:p>
        </p:txBody>
      </p:sp>
      <p:sp>
        <p:nvSpPr>
          <p:cNvPr id="23" name="Desvantagens e cuidados marcador 1"/>
          <p:cNvSpPr/>
          <p:nvPr/>
        </p:nvSpPr>
        <p:spPr>
          <a:xfrm>
            <a:off x="6355080" y="2011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Desvantagens e cuidados item 1"/>
          <p:cNvSpPr txBox="1"/>
          <p:nvPr/>
        </p:nvSpPr>
        <p:spPr>
          <a:xfrm>
            <a:off x="6720840" y="1965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Troca legítima é comum</a:t>
            </a:r>
            <a:endParaRPr lang="en-US" sz="1600" dirty="0"/>
          </a:p>
        </p:txBody>
      </p:sp>
      <p:sp>
        <p:nvSpPr>
          <p:cNvPr id="25" name="Desvantagens e cuidados descrição 1"/>
          <p:cNvSpPr txBox="1"/>
          <p:nvPr/>
        </p:nvSpPr>
        <p:spPr>
          <a:xfrm>
            <a:off x="6720840" y="22951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Celular novo ou chip perdido geram alerta: pedir verificação, não bloquear de vez.</a:t>
            </a:r>
            <a:endParaRPr lang="en-US" sz="1400" dirty="0"/>
          </a:p>
        </p:txBody>
      </p:sp>
      <p:sp>
        <p:nvSpPr>
          <p:cNvPr id="26" name="Desvantagens e cuidados marcador 2"/>
          <p:cNvSpPr/>
          <p:nvPr/>
        </p:nvSpPr>
        <p:spPr>
          <a:xfrm>
            <a:off x="6355080" y="3090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esvantagens e cuidados item 2"/>
          <p:cNvSpPr txBox="1"/>
          <p:nvPr/>
        </p:nvSpPr>
        <p:spPr>
          <a:xfrm>
            <a:off x="6720840" y="3044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Não pega todo golpe</a:t>
            </a:r>
            <a:endParaRPr lang="en-US" sz="1600" dirty="0"/>
          </a:p>
        </p:txBody>
      </p:sp>
      <p:sp>
        <p:nvSpPr>
          <p:cNvPr id="28" name="Desvantagens e cuidados descrição 2"/>
          <p:cNvSpPr txBox="1"/>
          <p:nvPr/>
        </p:nvSpPr>
        <p:spPr>
          <a:xfrm>
            <a:off x="6720840" y="3374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Celular roubado com o chip dentro ou engenharia social passam sem troca.</a:t>
            </a:r>
            <a:endParaRPr lang="en-US" sz="1400" dirty="0"/>
          </a:p>
        </p:txBody>
      </p:sp>
      <p:sp>
        <p:nvSpPr>
          <p:cNvPr id="29" name="Desvantagens e cuidados marcador 3"/>
          <p:cNvSpPr/>
          <p:nvPr/>
        </p:nvSpPr>
        <p:spPr>
          <a:xfrm>
            <a:off x="6355080" y="416966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Desvantagens e cuidados item 3"/>
          <p:cNvSpPr txBox="1"/>
          <p:nvPr/>
        </p:nvSpPr>
        <p:spPr>
          <a:xfrm>
            <a:off x="6720840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× retrieve-date</a:t>
            </a:r>
            <a:endParaRPr lang="en-US" sz="1600" dirty="0"/>
          </a:p>
        </p:txBody>
      </p:sp>
      <p:sp>
        <p:nvSpPr>
          <p:cNvPr id="31" name="Desvantagens e cuidados descrição 3"/>
          <p:cNvSpPr txBox="1"/>
          <p:nvPr/>
        </p:nvSpPr>
        <p:spPr>
          <a:xfrm>
            <a:off x="6720840" y="44531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sandbox o check ignorou a janela. Conferir a data e decidir no nosso código.</a:t>
            </a:r>
            <a:endParaRPr lang="en-US" sz="1400" dirty="0"/>
          </a:p>
        </p:txBody>
      </p:sp>
      <p:sp>
        <p:nvSpPr>
          <p:cNvPr id="32" name="Desvantagens e cuidados marcador 4"/>
          <p:cNvSpPr/>
          <p:nvPr/>
        </p:nvSpPr>
        <p:spPr>
          <a:xfrm>
            <a:off x="6355080" y="52486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Desvantagens e cuidados item 4"/>
          <p:cNvSpPr txBox="1"/>
          <p:nvPr/>
        </p:nvSpPr>
        <p:spPr>
          <a:xfrm>
            <a:off x="6720840" y="52029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Portabilidade</a:t>
            </a:r>
            <a:endParaRPr lang="en-US" sz="1600" dirty="0"/>
          </a:p>
        </p:txBody>
      </p:sp>
      <p:sp>
        <p:nvSpPr>
          <p:cNvPr id="34" name="Desvantagens e cuidados descrição 4"/>
          <p:cNvSpPr txBox="1"/>
          <p:nvPr/>
        </p:nvSpPr>
        <p:spPr>
          <a:xfrm>
            <a:off x="6720840" y="5532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Confirmar com cada operadora se mudança de operadora conta como troca.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Os 5 módulos lado a lado</a:t>
            </a:r>
            <a:endParaRPr lang="en-US" sz="3200" dirty="0"/>
          </a:p>
        </p:txBody>
      </p:sp>
      <p:graphicFrame>
        <p:nvGraphicFramePr>
          <p:cNvPr id="42" name="Tabe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Achado no sandbox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· Verificação de localização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celular está nesta área?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FALSE, PARTIAL ou UNKNOWN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Posição e raio ignorados; finais sem documentação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Know Your Customer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dados são do dono da linha?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a campo: true, false ou not_available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“Adult” devolve menor; no Tenure a data importa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· Código por SMS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código digitado está certo?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aceito ou erro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só distingue aceito de recusado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· Localização do aparelho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está o celular?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Círculo ou polígono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Posição sempre “agora” e sempre em Lyon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· Troca de chip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chip foi trocado?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swapped ou data da troca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check ignora a janela; o retrieve-date é coerente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levamos para a prática</a:t>
            </a:r>
            <a:endParaRPr lang="en-US" sz="3200" dirty="0"/>
          </a:p>
        </p:txBody>
      </p:sp>
      <p:sp>
        <p:nvSpPr>
          <p:cNvPr id="3" name="Lição Sandbox é para integrar"/>
          <p:cNvSpPr/>
          <p:nvPr/>
        </p:nvSpPr>
        <p:spPr>
          <a:xfrm>
            <a:off x="548640" y="12801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ção Sandbox é para integrar círculo"/>
          <p:cNvSpPr/>
          <p:nvPr/>
        </p:nvSpPr>
        <p:spPr>
          <a:xfrm>
            <a:off x="82296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ição Sandbox é para integrar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741018"/>
            <a:ext cx="404165" cy="404165"/>
          </a:xfrm>
          <a:prstGeom prst="rect">
            <a:avLst/>
          </a:prstGeom>
        </p:spPr>
      </p:pic>
      <p:sp>
        <p:nvSpPr>
          <p:cNvPr id="6" name="Título lição Sandbox é para integrar"/>
          <p:cNvSpPr txBox="1"/>
          <p:nvPr/>
        </p:nvSpPr>
        <p:spPr>
          <a:xfrm>
            <a:off x="82296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Sandbox é para integrar</a:t>
            </a:r>
            <a:endParaRPr lang="en-US" sz="1800" dirty="0"/>
          </a:p>
        </p:txBody>
      </p:sp>
      <p:sp>
        <p:nvSpPr>
          <p:cNvPr id="7" name="Texto lição Sandbox é para integrar"/>
          <p:cNvSpPr txBox="1"/>
          <p:nvPr/>
        </p:nvSpPr>
        <p:spPr>
          <a:xfrm>
            <a:off x="822960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 ensina o formato das chamadas e das respostas. Não mede se a operadora acerta.</a:t>
            </a:r>
            <a:endParaRPr lang="en-US" sz="1500" dirty="0"/>
          </a:p>
        </p:txBody>
      </p:sp>
      <p:sp>
        <p:nvSpPr>
          <p:cNvPr id="8" name="Lição Teste tudo"/>
          <p:cNvSpPr/>
          <p:nvPr/>
        </p:nvSpPr>
        <p:spPr>
          <a:xfrm>
            <a:off x="4297680" y="12801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ção Teste tudo círculo"/>
          <p:cNvSpPr/>
          <p:nvPr/>
        </p:nvSpPr>
        <p:spPr>
          <a:xfrm>
            <a:off x="457200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ição Teste tud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741018"/>
            <a:ext cx="404165" cy="404165"/>
          </a:xfrm>
          <a:prstGeom prst="rect">
            <a:avLst/>
          </a:prstGeom>
        </p:spPr>
      </p:pic>
      <p:sp>
        <p:nvSpPr>
          <p:cNvPr id="11" name="Título lição Teste tudo"/>
          <p:cNvSpPr txBox="1"/>
          <p:nvPr/>
        </p:nvSpPr>
        <p:spPr>
          <a:xfrm>
            <a:off x="457200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Teste tudo</a:t>
            </a:r>
            <a:endParaRPr lang="en-US" sz="1800" dirty="0"/>
          </a:p>
        </p:txBody>
      </p:sp>
      <p:sp>
        <p:nvSpPr>
          <p:cNvPr id="12" name="Texto lição Teste tudo"/>
          <p:cNvSpPr txBox="1"/>
          <p:nvPr/>
        </p:nvSpPr>
        <p:spPr>
          <a:xfrm>
            <a:off x="4572000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documentação errou em todos os módulos: exemplos trocados, erros que não existem e erros sem documentação.</a:t>
            </a:r>
            <a:endParaRPr lang="en-US" sz="1500" dirty="0"/>
          </a:p>
        </p:txBody>
      </p:sp>
      <p:sp>
        <p:nvSpPr>
          <p:cNvPr id="13" name="Lição Combine APIs"/>
          <p:cNvSpPr/>
          <p:nvPr/>
        </p:nvSpPr>
        <p:spPr>
          <a:xfrm>
            <a:off x="8046720" y="12801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ção Combine APIs círculo"/>
          <p:cNvSpPr/>
          <p:nvPr/>
        </p:nvSpPr>
        <p:spPr>
          <a:xfrm>
            <a:off x="832104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Lição Combine API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1741018"/>
            <a:ext cx="404165" cy="404165"/>
          </a:xfrm>
          <a:prstGeom prst="rect">
            <a:avLst/>
          </a:prstGeom>
        </p:spPr>
      </p:pic>
      <p:sp>
        <p:nvSpPr>
          <p:cNvPr id="16" name="Título lição Combine APIs"/>
          <p:cNvSpPr txBox="1"/>
          <p:nvPr/>
        </p:nvSpPr>
        <p:spPr>
          <a:xfrm>
            <a:off x="832104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Combine APIs</a:t>
            </a:r>
            <a:endParaRPr lang="en-US" sz="1800" dirty="0"/>
          </a:p>
        </p:txBody>
      </p:sp>
      <p:sp>
        <p:nvSpPr>
          <p:cNvPr id="17" name="Texto lição Combine APIs"/>
          <p:cNvSpPr txBox="1"/>
          <p:nvPr/>
        </p:nvSpPr>
        <p:spPr>
          <a:xfrm>
            <a:off x="8321040" y="2971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Código SMS com SIM Swap; KYC com localização. Uma API sozinha raramente decide.</a:t>
            </a:r>
            <a:endParaRPr lang="en-US" sz="1500" dirty="0"/>
          </a:p>
        </p:txBody>
      </p:sp>
      <p:sp>
        <p:nvSpPr>
          <p:cNvPr id="18" name="Título próximos passos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19" name="Passo Piloto com uma operadora real"/>
          <p:cNvSpPr/>
          <p:nvPr/>
        </p:nvSpPr>
        <p:spPr>
          <a:xfrm>
            <a:off x="548640" y="50749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Seta passo Piloto com uma operadora re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03520"/>
            <a:ext cx="320040" cy="320040"/>
          </a:xfrm>
          <a:prstGeom prst="rect">
            <a:avLst/>
          </a:prstGeom>
        </p:spPr>
      </p:pic>
      <p:sp>
        <p:nvSpPr>
          <p:cNvPr id="21" name="Texto passo Piloto com uma operadora real"/>
          <p:cNvSpPr txBox="1"/>
          <p:nvPr/>
        </p:nvSpPr>
        <p:spPr>
          <a:xfrm>
            <a:off x="1280160" y="5074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Piloto com uma operadora real</a:t>
            </a:r>
            <a:endParaRPr lang="en-US" sz="1600" dirty="0"/>
          </a:p>
        </p:txBody>
      </p:sp>
      <p:sp>
        <p:nvSpPr>
          <p:cNvPr id="22" name="Passo Consentimento do cliente e LGPD"/>
          <p:cNvSpPr/>
          <p:nvPr/>
        </p:nvSpPr>
        <p:spPr>
          <a:xfrm>
            <a:off x="4297680" y="50749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Seta passo Consentimento do cliente e LGP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5303520"/>
            <a:ext cx="320040" cy="320040"/>
          </a:xfrm>
          <a:prstGeom prst="rect">
            <a:avLst/>
          </a:prstGeom>
        </p:spPr>
      </p:pic>
      <p:sp>
        <p:nvSpPr>
          <p:cNvPr id="24" name="Texto passo Consentimento do cliente e LGPD"/>
          <p:cNvSpPr txBox="1"/>
          <p:nvPr/>
        </p:nvSpPr>
        <p:spPr>
          <a:xfrm>
            <a:off x="5029200" y="5074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Consentimento do cliente e LGPD</a:t>
            </a:r>
            <a:endParaRPr lang="en-US" sz="1600" dirty="0"/>
          </a:p>
        </p:txBody>
      </p:sp>
      <p:sp>
        <p:nvSpPr>
          <p:cNvPr id="25" name="Passo Juntar OTP e SIM Swap no fluxo"/>
          <p:cNvSpPr/>
          <p:nvPr/>
        </p:nvSpPr>
        <p:spPr>
          <a:xfrm>
            <a:off x="8046720" y="50749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Seta passo Juntar OTP e SIM Swap no flux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5303520"/>
            <a:ext cx="320040" cy="320040"/>
          </a:xfrm>
          <a:prstGeom prst="rect">
            <a:avLst/>
          </a:prstGeom>
        </p:spPr>
      </p:pic>
      <p:sp>
        <p:nvSpPr>
          <p:cNvPr id="27" name="Texto passo Juntar OTP e SIM Swap no fluxo"/>
          <p:cNvSpPr txBox="1"/>
          <p:nvPr/>
        </p:nvSpPr>
        <p:spPr>
          <a:xfrm>
            <a:off x="8778240" y="5074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Juntar OTP e SIM Swap no fluxo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Perguntas?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Scripts, imagens e resultados estão nas 5 pastas do projeto: localizacao_seguranca · know_your_customer · otp_sms · device_location_retrieval_01 · sim_swap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 Aberta">
  <a:themeElements>
    <a:clrScheme name="Rede Aberta">
      <a:dk1>
        <a:srgbClr val="16202A"/>
      </a:dk1>
      <a:lt1>
        <a:srgbClr val="FFFFFF"/>
      </a:lt1>
      <a:dk2>
        <a:srgbClr val="0B3C49"/>
      </a:dk2>
      <a:lt2>
        <a:srgbClr val="EAF2F3"/>
      </a:lt2>
      <a:accent1>
        <a:srgbClr val="0E8A8A"/>
      </a:accent1>
      <a:accent2>
        <a:srgbClr val="E8930C"/>
      </a:accent2>
      <a:accent3>
        <a:srgbClr val="6D4BC4"/>
      </a:accent3>
      <a:accent4>
        <a:srgbClr val="15803D"/>
      </a:accent4>
      <a:accent5>
        <a:srgbClr val="C62828"/>
      </a:accent5>
      <a:accent6>
        <a:srgbClr val="5B6B7A"/>
      </a:accent6>
      <a:hlink>
        <a:srgbClr val="0E8A8A"/>
      </a:hlink>
      <a:folHlink>
        <a:srgbClr val="6D4BC4"/>
      </a:folHlink>
    </a:clrScheme>
    <a:fontScheme name="Rede Aber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 de rede na prática</dc:title>
  <dc:subject>PptxGenJS Presentation</dc:subject>
  <dc:creator>Aula CAMARA + GSMA Open Gateway</dc:creator>
  <cp:lastModifiedBy>Aula CAMARA + GSMA Open Gateway</cp:lastModifiedBy>
  <cp:revision>1</cp:revision>
  <dcterms:created xsi:type="dcterms:W3CDTF">2026-10-16T00:33:22Z</dcterms:created>
  <dcterms:modified xsi:type="dcterms:W3CDTF">2026-10-16T00:33:22Z</dcterms:modified>
</cp:coreProperties>
</file>