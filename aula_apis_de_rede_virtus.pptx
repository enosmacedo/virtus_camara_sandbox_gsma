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53"/>
  </p:notesMasterIdLst>
  <p:handoutMasterIdLst>
    <p:handoutMasterId r:id="rId54"/>
  </p:handoutMasterIdLst>
  <p:sldIdLst>
    <p:sldId id="256" r:id="rId5"/>
    <p:sldId id="257" r:id="rId6"/>
    <p:sldId id="421" r:id="rId7"/>
    <p:sldId id="422" r:id="rId8"/>
    <p:sldId id="258" r:id="rId9"/>
    <p:sldId id="259" r:id="rId10"/>
    <p:sldId id="260" r:id="rId11"/>
    <p:sldId id="261" r:id="rId12"/>
    <p:sldId id="262" r:id="rId13"/>
    <p:sldId id="263" r:id="rId14"/>
    <p:sldId id="42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/>
  <p:notesSz cx="6858000" cy="9144000"/>
  <p:embeddedFontLst>
    <p:embeddedFont>
      <p:font typeface="Montserrat" panose="00000500000000000000" pitchFamily="2" charset="0"/>
      <p:regular r:id="rId55"/>
      <p:bold r:id="rId56"/>
      <p:italic r:id="rId57"/>
      <p:boldItalic r:id="rId58"/>
    </p:embeddedFont>
    <p:embeddedFont>
      <p:font typeface="Montserrat Medium" panose="00000600000000000000" pitchFamily="2" charset="0"/>
      <p:regular r:id="rId59"/>
      <p:italic r:id="rId60"/>
    </p:embeddedFont>
    <p:embeddedFont>
      <p:font typeface="Montserrat SemiBold" panose="00000700000000000000" pitchFamily="2" charset="0"/>
      <p:bold r:id="rId61"/>
      <p:boldItalic r:id="rId62"/>
    </p:embeddedFont>
    <p:embeddedFont>
      <p:font typeface="Verdana" panose="020B0604030504040204" pitchFamily="34" charset="0"/>
      <p:regular r:id="rId63"/>
      <p:bold r:id="rId64"/>
      <p:italic r:id="rId65"/>
      <p:boldItalic r:id="rId6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41A"/>
    <a:srgbClr val="5D5D5D"/>
    <a:srgbClr val="112369"/>
    <a:srgbClr val="676767"/>
    <a:srgbClr val="C6C6C6"/>
    <a:srgbClr val="EC1C24"/>
    <a:srgbClr val="802A8D"/>
    <a:srgbClr val="EA0889"/>
    <a:srgbClr val="008A85"/>
    <a:srgbClr val="49B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84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1.fntdata"/><Relationship Id="rId63" Type="http://schemas.openxmlformats.org/officeDocument/2006/relationships/font" Target="fonts/font9.fntdata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3.fntdata"/><Relationship Id="rId61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5.fntdata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62" Type="http://schemas.openxmlformats.org/officeDocument/2006/relationships/font" Target="fonts/font8.fntdata"/><Relationship Id="rId7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ACBA1-FB54-44CC-956C-EA965A355272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B9305-672A-45ED-898F-C15141428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909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2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Abertura. Nesta aula vamos ver como apps de bancos, seguradoras e lojas podem fazer perguntas à operadora de celular, usando um padrão aberto chamado CAMARA. Tudo o que vamos mostrar foi testado de verdade no sandbox da GSMA.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Primeiro os fundamentos: o tema, o padrão CAMARA e o sandbox. Depois os 5 módulos, sempre na mesma ordem: o que a API faz, o cenário, as chamadas e a POC, e as vantagens e cuidados.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dos módulos, três fundamentos: o que a rede móvel sabe, o padrão CAMARA e o sandbox que usamos.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operadora tem informações que nenhum app tem: quem é o dono da linha, onde o aparelho está, se o chip é novo e um canal direto de SMS. A ideia das APIs de rede é transformar isso em perguntas que um app pode fazer, recebendo só a resposta, nunca os dados pessoais.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módulo da aula responde a um problema real: cartão clonado, conta aberta com dados vazados, senha roubada, cliente perdido na estrada e golpe da troca de chip. Para cada um, a pergunta certa à operadora resolve ou reduz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CAMARA é um projeto open source da Linux Foundation, criado em 2022 junto com a GSMA e as operadoras. Ele define as APIs de forma padronizada: o mesmo endereço, os mesmos campos e os mesmos erros em qualquer operadora. Para quem desenvolve, isso significa escrever o código uma vez e usar com várias operadoras.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Três camadas que costumam confundir. CAMARA é a especificação. A GSMA Open Gateway é o programa que reúne as operadoras e oferece o sandbox. As operadoras são quem implementa e responde com dados reais, em produção, com contrato e consentimento.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sandbox da GSMA criamos um app para cada módulo, ligamos as permissões, geramos um token e chamamos a API. Atenção: o token vale só 5 minutos. E o mais importante: não existe operadora de verdade por trás, as respostas são simuladas.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EF5B-7409-A72C-FD5C-A0BCE841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F3F48-0C7A-E626-8B16-25C514CC8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49377-22D7-8DF6-C1FD-9B5E8DECE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sandbox da GSMA criamos um app para cada módulo, ligamos as permissões, geramos um token e chamamos a API. Atenção: o token vale só 5 minutos. E o mais importante: não existe operadora de verdade por trás, as respostas são simuladas.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0E213-9331-053F-7FC3-CC8E64B18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58371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Essa foi a primeira grande descoberta: o sandbox decide a resposta pelos 2 últimos dígitos do telefone. No começo a resposta era sempre TRUE porque testávamos números terminados em 10 a 19. Daí criamos o método da varredura: testar todos os finais de 00 a 99 e agrupar as respostas. Somando os 5 módulos, foram mais de 1.200 chamadas.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 chamada tem 3 partes, destacadas em âmbar: o endereço da API, o token no cabeçalho Authorization e o corpo em JSON com o telefone e os parâmetros. A resposta vem em JSON. Este exemplo é da verificação de localização, com final 35, que devolve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Primeiro módulo: verificação de localização. A pergunta é de sim ou não: o celular está dentro desta área? Pasta localizacao_seguranca.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verificação de localização não diz onde o celular está. Ela só responde se ele está dentro de uma área que nós enviamos. A resposta pode ser TRUE, FALSE, PARTIAL, quando parte da área bate, ou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cenário é o antifraude de cartão. O banco pergunta à operadora se o celular do titular está perto da loja. Se estiver, aprova. Se estiver longe e o valor for alto, bloqueia e avisa 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diagrama resume o experimento. Mudamos a posição de Lyon para São Paulo e o raio de 1 para 200 quilômetros, e nada mudou. Só o final do telefone importa. Também achamos finais que a documentação não 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POC simula o autorizador do banco. O ponto mais importante é a regra para erro e UNKNOWN: nunca bloquear o cliente por falha da API. Nesses casos a compra segue o antifraude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vantagens vêm de a informação ser da rede: nada para o cliente fazer, difícil de falsificar e com privacidade. O principal cuidado é a precisão: uma antena cobre uma área grande. Por isso a verificação de localização serve como um sinal a mais no antifraude, não como decisão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Segundo módulo: Know Your Customer, ou conheça o seu cliente. São três APIs que ajudam a confirmar o cadastro de uma pessoa. Pasta know_your_customer.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KYC tem três perguntas. O Match confere os dados do cadastro, campo a campo. O Tenure diz se a linha é antiga. O Age diz se o titular tem a idade mínima. Em todas, a operadora só responde confere ou não confere.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cenário é a abertura de conta digital. Cliente de verdade passa direto. O golpista com dados vazados e chip recém-comprado é barrado, porque os dados não são do dono da linha e a linha é nova.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Aqui a varredura completa: 100 finais em 3 APIs. Descobrimos um erro na documentação: o exemplo chamado adulto devolve menor de idade. E no Tenure, ao contrário das outras, a data enviada muda a resposta para dois grupos de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POC junta as três APIs numa régua de decisão. Repare que nenhuma API decide sozinha: o Match diz se os dados batem, o Tenure dá o peso do risco e o Age barra menores.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ganho principal do KYC é tirar atrito do cadastro sem perder segurança. Os cuidados giram em torno da qualidade do cadastro da operadora: ele pode estar desatualizado ou em nome de outra pessoa. Por isso a régua da POC tem análise manual e método tradicional como saídas.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Terceiro módulo: o código por SMS, aquele que chega quando fazemos login ou confirmamos um Pix. A diferença é que quem gera e confere o código é a operadora. Pasta otp_sms.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São duas chamadas: enviar e validar. O app manda o texto com a marca {{code}} e a operadora gera o código, envia o SMS e devolve um protocolo. Depois o app manda o código digitado e a operadora diz se está certo. O app nunca conhece 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cenário, o código protege a Ana mesmo quando a senha foi roubada. Mas existe um ponto fraco: no golpe da troca de chip o SMS chega ao golpista. Por isso, em produção, vale combinar com a API SIM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Aqui o sandbox fez menos do que a documentação promete. Na validação ele só distingue aceito de recusado: os cenários de código expirado e de tentativas demais não existem. Por outro lado, apareceu um erro de envio que não está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 POC, como o sandbox não informa tentativas demais, o limite de 3 tentativas ficou no nosso app. É um exemplo de como o teste muda o desenho do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Hoje a maioria dos apps contrata um agregador de SMS: o app gera o código, guarda e manda o texto. Com a API da operadora, o app só pede o envio e depois pergunta se o código digitado está certo. Repare na última linha: nos dois modelos a troca de chip continua sendo o ponto fraco.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vantagem central é o app nunca conhecer o código. O cuidado central é que continua sendo SMS: vale para quem estiver com o chip e não protege contra o cliente que repassa o código a um golpista.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Quarto módulo: localização do aparelho. Diferente do módulo 1, aqui a pergunta é aberta: onde está o celular? Pasta device_location_retrieval_01.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Aqui não enviamos área nenhuma: perguntamos onde o celular está e recebemos uma área aproximada, em forma de círculo ou de polígono. Nunca é o ponto exato, e em produção exige autorização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cenário é a assistência 24 horas. A cliente não precisa saber o quilômetro da rodovia. E quando a operadora não consegue localizar o aparelho, o atendente liga.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 varredura deste módulo, a posição sempre veio com o horário atual e sempre no mesmo lugar, em Lyon. Isso impede testar o caso de posição antiga. E o 403 só apareceu por acidente, quando usamos o token de outro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POC calcula a distância até as bases de guincho e escolhe a mais próxima. Ela trata círculo e polígono, porque a operadora pode devolver qualquer um dos dois. Em qualquer erro, a saída é ligar para 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É a API mais poderosa e a mais sensível. Ajuda muito em emergência, mas a localização é um dado pessoal sensível: só deve ser consultada com autorização do cliente e para a finalidade combinada.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Quinto módulo: SIM Swap. Ele protege contra o golpe da troca de chip e completa o módulo 03, porque diz se ainda dá para confiar no SMS. Pasta sim_swap.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São duas perguntas: se o chip foi trocado dentro de uma janela de horas, ou quando foi a última troca. O golpista transfere o número da vítima para um chip novo e passa a receber os SMS do banco. Saber que a troca foi recente é o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cenário, o sinal mais típico do golpe é a vítima perder o sinal do celular de repente. Para o banco, a pergunta à operadora resolve: se o chip foi trocado há poucos dias, o SMS não é confiável.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tabela da página bateu, mas o check não respeita a janela: com maxAge de 1 hora ele ainda diz trocado para uma troca de 30 dias atrás. Já o retrieve-date é coerente. A lição é verificar a data e decidir a janela no nosso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com o módulo 01: lá, erro da operadora nunca bloqueava a compra. Aqui, sem resposta, o banco pede verificação extra, porque a operação é sensível. A política para falhas depende do risco.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SIM Swap é barato de integrar e não incomoda o cliente honesto. O cuidado é o falso positivo: muita gente troca de chip por motivos legítimos. Por isso a resposta para troca recente é verificação extra, não bloqueio definitivo.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fechar: um resumo dos 5 módulos e as lições para levar à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 resumo dos 5 módulos. Repare que cada API faz uma pergunta diferente e que, em todos os módulos, o sandbox teve alguma diferença em relação à documentação.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Três lições. O sandbox serve para aprender a integrar, não para medir a precisão. A documentação errou em todos os módulos, então teste tudo. E combine APIs: uma sozinha raramente basta para decidir. Os próximos passos são um piloto com uma operadora, cuidar do consentimento e da LGPD e juntar o código SMS com o SIM Swap num mesmo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para perguntas. Os scripts de cada módulo podem ser rodados de novo: basta gerar um token no sandbox e colar no arquivo de teste da pasta.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virtus.ufcg.edu.br/" TargetMode="External"/><Relationship Id="rId4" Type="http://schemas.openxmlformats.org/officeDocument/2006/relationships/image" Target="../media/image3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virtus.ufcg.edu.br/" TargetMode="External"/><Relationship Id="rId4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www.virtus.ufcg.edu.br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 marca do parcei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1C1060-DB4C-6344-2EF9-3AFFD7908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4040" y="0"/>
            <a:ext cx="9157960" cy="68589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59240" y="805522"/>
            <a:ext cx="6189401" cy="1736191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defRPr sz="3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40" y="2760174"/>
            <a:ext cx="6189401" cy="1051335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3BC6E41-382D-4667-BB91-1DFBC89B923F}"/>
              </a:ext>
            </a:extLst>
          </p:cNvPr>
          <p:cNvSpPr/>
          <p:nvPr userDrawn="1"/>
        </p:nvSpPr>
        <p:spPr>
          <a:xfrm>
            <a:off x="9424656" y="4855003"/>
            <a:ext cx="2767343" cy="1326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93146E0-DE73-2F05-8AF7-330EE45147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37316" y="5002212"/>
            <a:ext cx="1711325" cy="1031875"/>
          </a:xfr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200" b="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parceiro. Se não for inserir a marca, use o outro layout de capa sem este espaço.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5F4A42B-D1FD-06D6-2DA1-5EA203DB0E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F577998-67A1-F8F0-184F-07A19FD29A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6596" y="4589638"/>
            <a:ext cx="4833968" cy="16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 sem marca do parcei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09555D3-A253-FED9-D9E4-6E45DE3DA1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4040" y="0"/>
            <a:ext cx="9157960" cy="68589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59240" y="805522"/>
            <a:ext cx="6189401" cy="1736191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40" y="2760174"/>
            <a:ext cx="6189401" cy="1051335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C3E3C5E-2751-BF98-7C48-656F8DD6FB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5B90B25-0FA7-5845-0CF6-DA9C5B7F2A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6596" y="4589638"/>
            <a:ext cx="4833968" cy="16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3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Padrão]">
    <p:bg>
      <p:bgPr>
        <a:solidFill>
          <a:srgbClr val="E4E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rgbClr val="1027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A56B1D-53FB-89CD-1622-3903FB118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91880"/>
          <a:stretch/>
        </p:blipFill>
        <p:spPr>
          <a:xfrm>
            <a:off x="0" y="0"/>
            <a:ext cx="548640" cy="6858000"/>
          </a:xfrm>
          <a:prstGeom prst="rect">
            <a:avLst/>
          </a:prstGeom>
        </p:spPr>
      </p:pic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EFC33E6D-6C9F-06A7-8D34-55E95B609E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133" y="5961780"/>
            <a:ext cx="953734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6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16" name="Título 9">
            <a:extLst>
              <a:ext uri="{FF2B5EF4-FFF2-40B4-BE49-F238E27FC236}">
                <a16:creationId xmlns:a16="http://schemas.microsoft.com/office/drawing/2014/main" id="{C6650682-5581-E461-E7E7-28E1AE8E4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7DA8E824-7904-3B78-DDA4-7412FF82A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B232126-6554-7B29-DBE9-812491DD48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BBE21-C2DF-F306-6C02-4E95A5E210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29131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2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C53ECBF-CB73-892A-11CA-2B8677ED9E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A3F5C830-5F88-FC35-9CFC-60644941D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E343EB41-82AC-3FB6-B9F4-32950B8704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252AFB2-2E0A-BF0A-EA92-90BF21162E6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27588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  <a:endParaRPr lang="pt-BR" sz="900"/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F6226082-3B3A-2417-3537-6ED0A847E2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BC01E1C-40F2-5195-2381-44BEF13A2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09A8B2A-AE6D-8A44-C1A2-2C09D12427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3" name="Título 9">
            <a:extLst>
              <a:ext uri="{FF2B5EF4-FFF2-40B4-BE49-F238E27FC236}">
                <a16:creationId xmlns:a16="http://schemas.microsoft.com/office/drawing/2014/main" id="{F5872B4D-5C9A-3E05-3D0E-45DC5656C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81BA4C7-18C7-BD40-6BEE-2FAF4B4A56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53468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4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7B08138-4802-D782-6B13-07DEA0070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D6709D41-E827-A5A7-C52F-16BB149413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86420EDB-A4D6-853F-4AA7-FFCDC1DF7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B41A47F1-A077-2ED7-A82D-3E0C988DC4C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A4FFC4AE-631F-8878-4DE2-8C1671C4158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9447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4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  <a:endParaRPr lang="pt-BR" sz="900"/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9EFFF04-AADB-94F5-D1A5-1D23F52FD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E2C19320-B002-FD22-D348-40706EC76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375A7706-BE8B-F626-E9AC-2C75A59FA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DBE1F822-6A90-663C-CB4C-4D1D7C5D39E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2076456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Azul]">
    <p:bg>
      <p:bgPr>
        <a:solidFill>
          <a:srgbClr val="1123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AA6922C-E6ED-5FC6-27EB-3D4DA77C9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6767"/>
          <a:stretch/>
        </p:blipFill>
        <p:spPr>
          <a:xfrm>
            <a:off x="0" y="0"/>
            <a:ext cx="89408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9BC5A3-9D50-4E88-8AC2-223D50D381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0681C94-AAE3-0E4F-916B-409EAE5E46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850FDD2C-EAA5-0C49-52A9-26FB19EFDA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5BB5B1B3-3B12-F0CD-15A8-463F3703E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1A7FEC5-A245-C9AA-C37A-47A3FDFD46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61236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2A45770-1A31-6693-6DF1-0A7FE8CDB4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57B5BE03-2526-0600-1FE6-B73698052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25191BD6-55B5-CDE2-2642-547AC34625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8F8AF11F-447A-F7F5-AE82-0896E03730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62808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4DAE225-E23B-49FD-B0FD-242994344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C32CB37-2439-5A53-C0BE-9FF20A177E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49453718-18A5-5505-0A99-3698AF90D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85059547-D6BE-1B82-A122-306D3A27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855B9256-19B0-61A8-ECB5-7B20C86B099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95856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Montserrat SemiBold" pitchFamily="2" charset="77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Montserrat SemiBold" pitchFamily="2" charset="77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Montserrat" pitchFamily="2" charset="77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Montserrat Medium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Montserrat Medium" pitchFamily="2" charset="77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5C07D29-794C-289A-BDFD-93CAE35A4E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C3740A7E-F361-7BA0-C9E9-8B034A106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7FA786CA-46E9-4763-7FE9-697E264B1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7970F12F-3F3D-E6EF-889D-1E51D00BB5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B52A31A0-711B-23A3-06CC-4D55372D920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1408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E70ECF-24C7-ABC9-5C05-376FB726CB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362AF5C3-0B34-DD6C-55DA-46B8C4E883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7689FDCA-C4D6-600A-87F3-A4F0CBEE20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F524A1E2-6B50-D2E5-8CF1-2B1C3CB3077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1128786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Verde claro]">
    <p:bg>
      <p:bgPr>
        <a:solidFill>
          <a:srgbClr val="49B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356F2F9-E9EE-F08D-075F-40C800D9A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624"/>
          <a:stretch/>
        </p:blipFill>
        <p:spPr>
          <a:xfrm>
            <a:off x="0" y="0"/>
            <a:ext cx="70104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1E296D-2B05-54D7-B44B-905EC998CE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57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9E2333B-2718-35F1-87DC-ECB5250601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E8590B9F-D978-E6E9-8C04-5B4EC797E0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236D4C73-80F5-45FF-2D23-3CB6AE6DD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03B8388A-C80A-65F2-31D4-596641937E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3797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410A23D-E21E-EBAB-C2F7-7CCCB5B104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E1C5D96A-BB22-44CD-5D85-11417A536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C8809D75-6388-19B7-C234-631E39E49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D845D139-6AD9-C1B6-6316-DA2C028F5CF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53991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8E4AB4C-F4C8-D734-44D9-8324B06C6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921F27C-EBFF-56E3-1106-E5627855F6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AC09D67-2CAE-4F17-B8C0-0B4177365DF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295C20E7-65FE-BEA0-FCFE-51551E8D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C3D4B424-46F3-0A59-5214-A176CFED91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99DFC41C-6C4A-AA7D-9BD7-F140FBA4D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8310CB3-2132-4BE4-2A2F-1AD4F6D62C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74535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78A2003-E7BD-2A92-298F-7CC8761217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EAC74EC-E7A9-A51D-F385-7759F5DC0F9A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A4CD2A68-FF90-7DD6-69F3-463B3BBD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DBC4F50A-2B63-D1A2-D096-47FFFADF4F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EAA198A5-1644-90A3-9763-F27AB0B92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49B6AA1D-33D4-3BA3-E6C2-F7B50C742A7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88F158A2-ADA4-568D-1FA5-8D834307F96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84727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09B94E3-1D8C-1FCD-C395-9E58135FCD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179CBFD-251E-0D8B-0927-56F8F8D2230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E4C470EE-EACA-4541-6F16-885279633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9153731C-0997-610B-2B7D-0E6EE7548C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D37B2DD4-C2A3-44A6-BD12-2CCD18C5D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0D38CBB-1671-C230-80E9-063AE9CF129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863015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Verde escuro]">
    <p:bg>
      <p:bgPr>
        <a:solidFill>
          <a:srgbClr val="008A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2364D7-8657-46F7-C232-6F17C4CE4B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6316"/>
          <a:stretch/>
        </p:blipFill>
        <p:spPr>
          <a:xfrm>
            <a:off x="0" y="0"/>
            <a:ext cx="92456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A3129E9-251C-4C7D-CAFD-60285A0D78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281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5698C76-FCA3-95AA-A6EC-6B50BEBBC0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B96B46A-28B9-037F-8358-2DA242843671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44384B8F-EE4E-3BBC-AD0D-C96FC7F6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B6D85B74-F5C1-DE8F-4FCD-600118355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DE2F11DD-24EF-E1E0-9181-29A729111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BA02DCEA-C748-14F4-1CED-4D7889EE37B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36626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4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87B03F0-C5C5-F8C4-A74A-021C41D68D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7D394D6-FDB9-9499-70E7-56DFD26E9D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59D17B1E-98ED-F84E-EA33-B66E6A3F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8BF23E13-F0A6-7267-29E3-4CA3A9E9B0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A4FF3956-EA49-AEA8-F351-AB8EAF306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04FD44C4-2CBC-3860-2244-73920549F17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62674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B23A3A1-CAC3-6154-AE7E-94F8177C98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0755B2D-9282-AEFC-AF53-EB56157D0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13BED7F-54FF-1ECF-121F-6EF46BA5092C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6692DDDB-0CD1-73A5-DA01-E59EBB98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088C342-8A32-1644-851D-372DD739E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09360DC2-BB6B-15E3-ED70-FAAB2255C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4BD2086B-C64F-FF39-6E8F-693DDFB2A4A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64584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26346FC-4350-C57C-70D5-1A6F7C8D60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76CCB5C-2DB3-244B-9C1F-7368F648A3B0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10834464-47F6-6537-C353-11AA0459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2A337E21-283F-ABB1-2E46-46B754AC47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F1897BA8-D288-2259-5838-6518C0B430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816A287E-730B-E32C-0348-CC74308991A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183D5508-116C-143C-B8DC-AE01E2B0154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2835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5CA405C-9586-BBD1-5EEF-EE44F3FDB6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32D16B8-4A57-DCC8-CC0A-406EA2EBEF76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C58565B1-C0B8-DCAF-ADF9-BBB444E9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A2F9382-E0FC-B941-45A2-FE04AB6C9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FA87787F-C3D4-F2D8-8C9F-4F4AB9A55C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361CDED-232C-35EA-9256-149AF1D1AFD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356524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Rosa]">
    <p:bg>
      <p:bgPr>
        <a:solidFill>
          <a:srgbClr val="EA0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230A35E-DB79-36A6-55E8-BC217EF9D7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6316"/>
          <a:stretch/>
        </p:blipFill>
        <p:spPr>
          <a:xfrm>
            <a:off x="0" y="0"/>
            <a:ext cx="92456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CC43C2C-8840-2075-EDFE-F887EB0C9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611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FFB66D5-912F-C0F7-406C-EF8257D86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D6B5926-F276-0E06-F452-E6757225ACE5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3C35F0E4-D13C-7DBE-9A10-C60B114C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2D6212-D842-D2D8-847F-4BF4E1CFC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9E7FD4EB-9A57-325F-114F-7689051A8C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FAED71BF-8532-BF7C-4026-CE40D3D3FF3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989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EEEA925-1E73-EC61-7503-9EAA0AF6F4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424FFD5-C700-7B39-3EE7-F50045C425A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Espaço Reservado para Rodapé 3">
            <a:extLst>
              <a:ext uri="{FF2B5EF4-FFF2-40B4-BE49-F238E27FC236}">
                <a16:creationId xmlns:a16="http://schemas.microsoft.com/office/drawing/2014/main" id="{07F7E279-CFEB-A9C3-A36F-18CBC755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85731D52-12D2-867D-D6E4-A63B4D6DE2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CCD93E17-3B6B-C393-E09E-816C1A5281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8B52FF6-B8EA-4836-F216-E3E9A7B8847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50216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B327DBA-802B-9B22-B5AF-E493685AAB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205AF45-C8F4-EA41-3131-901F2ACD49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CC5845-B609-4ABF-779C-06B79DEDB244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Espaço Reservado para Rodapé 3">
            <a:extLst>
              <a:ext uri="{FF2B5EF4-FFF2-40B4-BE49-F238E27FC236}">
                <a16:creationId xmlns:a16="http://schemas.microsoft.com/office/drawing/2014/main" id="{C16A1998-02F2-83C7-BEEF-A866A880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0758579E-D734-996E-48C6-4842E6430B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ADC8421E-49B2-C821-CE75-3632021BF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E3B0D08-ED2A-03A3-7D17-9159EC73838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9173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A3404D9-0D79-1BF5-475F-7E9196099A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5A4F54C-0E66-347C-7F1F-A3980270ACCA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Espaço Reservado para Rodapé 3">
            <a:extLst>
              <a:ext uri="{FF2B5EF4-FFF2-40B4-BE49-F238E27FC236}">
                <a16:creationId xmlns:a16="http://schemas.microsoft.com/office/drawing/2014/main" id="{A3667BF5-48C1-6E17-4BFE-33A586DB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9749D2E9-36EF-1F89-99E4-49C06C0F20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5258D0E1-F086-8349-7B60-DD2E40C8D4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72302BA-6C5E-B088-0B23-0C498E0DCE8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E98F0EF7-B236-D411-CE75-56E76655924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8684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000D50-822B-B258-64CE-45083849DE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3AFA08E-C795-2CCA-E231-F266E8E9FB92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69115C47-19D1-72B5-DE3D-5D022620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15CB4143-F17E-6424-222D-3400856F8C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95424768-11F9-1DEF-C782-2B12108F8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5626C50-15B6-1D1B-AEA3-67960004A3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350870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Roxo]">
    <p:bg>
      <p:bgPr>
        <a:solidFill>
          <a:srgbClr val="802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83AE9F-18E1-B7D7-D2D6-9ABA77253C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173"/>
          <a:stretch/>
        </p:blipFill>
        <p:spPr>
          <a:xfrm>
            <a:off x="0" y="0"/>
            <a:ext cx="73152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4D1D760-8D71-A1EB-7D66-37638D5963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103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5E24A11-EF3D-CF5E-522C-F0FF19D9F6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8E3872-106F-4824-811D-DAF43F7BF80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C77AD358-5283-94C4-588C-DE2DB469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E90034C1-3B0F-5BE4-D6AB-4C5A2B2850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1C4EB38B-B9C4-BCF3-6FB7-A4AE0A0E2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2D5843D-1A43-B729-43D7-3808C5D4D2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8175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04C32FD-192A-6BB5-0F12-DE93675406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BBDD84A-E42B-71C7-073D-F880102E33A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91EB37AA-F1CE-BFAF-1EFA-C15C79BF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0C1C7E3-164E-FFC4-4057-DA4024B09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484B6A52-F8C7-3E3B-6FEC-4E6D7084F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39C964BA-8BF0-F870-C422-3F697398289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25617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E42660D-A508-223E-05BE-E20B86A3C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AB7AC4C-E6A3-1472-AEAB-AA5AAE6576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A834A43-22CF-F73B-F357-4201BAB72DF5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D04CA6F1-B7B3-CE33-ECB9-03906B05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10874234-CF46-5E5D-ECD1-782A4ABBED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35C0E77F-1442-3946-3D0A-09121CAFCA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B4D0E9E-FD03-C39D-61FE-67CE002A6D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17762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22A2855-0C8B-8AD9-4C96-A2C0BED997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C8729D6-D509-47CC-4AD4-0767D7F9E866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4BF00F5D-4850-0EA8-DD2F-31AC5930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A80AFBA4-279A-DA1A-C9A1-3A2B36988B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3A292885-349E-AF53-FF12-2C19B8D0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A073CFB2-1581-338D-0D5D-24685D41A4D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8A39CA68-18D2-38B0-335F-0D9C099E759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0725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9448BA3-407C-9DF4-2889-18CBAA1E60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2E2F036-0C97-7560-8A88-FB9C404FEF0A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4BF61614-0CEB-507D-27A0-24B9EBA68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3C1FF03-97D6-6E15-CA99-A01BA2401B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D23A2D76-1ED4-EF2D-0337-4A455FEEF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6B20DA3-761F-3433-FF76-4339F61DB9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785325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Laranja]">
    <p:bg>
      <p:bgPr>
        <a:solidFill>
          <a:srgbClr val="F9A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BC52978-2814-F311-E3F8-687C7C43AC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90226"/>
          <a:stretch/>
        </p:blipFill>
        <p:spPr>
          <a:xfrm>
            <a:off x="0" y="0"/>
            <a:ext cx="6604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05E359-84DF-2068-BC08-41C63484F4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668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D8788DA-14C2-E0FA-233E-4346F86467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DCED76-8CDD-7A60-DA3F-885E741480D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550A6BE1-E397-ECA6-14BB-54EAF012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EC14510D-49E1-A62C-C8DE-829B5302F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001164C7-A10C-5FB1-9AB1-CBFD979523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1B23695-5268-C3B6-21AC-12F91F4F23A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02481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209ECC2-107E-8E9A-FED2-252AB1EC01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CA735AD-4973-B661-1565-3FC2C6C0C51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658E3436-1B66-0316-0B85-A62E58F56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3625830A-9F0C-B6E0-3D36-4198715AC0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0D0B5771-DFCA-6E35-EB67-D7704872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CE03353-C234-F99E-002B-BE5AAD8B1E4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55557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B9EFEA0-3F63-9EAF-ACB0-1FABF5F736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3857086-E64B-2B79-35CC-488041FA3B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2D5CC6-44FE-59A0-5CDC-2B8A8C91142E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40E47431-389C-8D0A-7D23-1216DAAD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23CBEB2B-E3E1-C728-39AA-6BD6AB40E9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E22327BF-6BD7-DD1F-B54F-5999EE447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1CCB61D-05F6-5FE4-2F8E-4998DD4AE1E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26010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269C55D-A9BE-1F1D-430D-2FD08F1524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19BDAE6-3157-124A-FE5D-32BFF4BBFBAF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5B2139E8-7C8C-F188-C757-549D2B43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9DDE15C8-040C-EBA4-9CAA-CF75CD0DEC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010CE208-1A24-105E-AF1E-27C8EC59C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D6BFBBB-391D-79C6-B494-53CBC6A477A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19730B06-3C66-85FF-DB6D-A62819C7BC5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74455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Laranj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75263D-5572-C880-997A-91DEF6874F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54E1C70-6C7F-3A04-0800-AFA9F3B6E648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0EA21DEA-98B5-0BCD-C671-CDD36F99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40155715-FA91-1AFF-D1F8-6BD877525D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0265E432-B0EB-7DA7-85B0-7AF91E0C9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3C5DE50-36D1-33BB-8185-B3E1CDE5A1D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203551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Vermelho]">
    <p:bg>
      <p:bgPr>
        <a:solidFill>
          <a:srgbClr val="EC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6F9AB72-834F-3372-1D2B-BFBE0A4633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173"/>
          <a:stretch/>
        </p:blipFill>
        <p:spPr>
          <a:xfrm>
            <a:off x="0" y="0"/>
            <a:ext cx="73152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E4EF8AD-B61E-D312-ABFB-25BF3FC54D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817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940F796-91AF-9386-01CE-D6CC7F4E8E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5ECFC1C-F92F-6CA5-0AC2-DA4FE1C4BEFE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72313B7A-BE49-B237-8475-4F1699C5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55A54907-2A22-6AFA-A769-FD03D9987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9" name="Título 9">
            <a:extLst>
              <a:ext uri="{FF2B5EF4-FFF2-40B4-BE49-F238E27FC236}">
                <a16:creationId xmlns:a16="http://schemas.microsoft.com/office/drawing/2014/main" id="{B6208482-EB15-3A3B-6854-59630BD08B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5ADB84E5-B0AA-8BE3-DF59-88F13FAFBA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13440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C850AF4D-EF8F-E472-007A-CD920E5852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2A06005-1D5E-2F2C-675B-A3A9C26CCE55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CB531415-D41E-FBE3-5841-F2E27EAA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B6EB3C40-7FE6-270B-E40D-E047FAA391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4E16F36F-DA2A-629F-7887-707471E8F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FB87D28E-BD56-E1C5-7545-ABD3DEC0FF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5188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A072135-4524-CCF1-08D3-AD5AC13C78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9908C7C-085C-BC06-11F0-D90BC00322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CF17B7-65DE-2B27-85EA-9353A96097C0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570D8C55-4C85-018B-19F6-F0E5E309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D57571ED-8555-7F42-D112-E7317A5E96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CC8B5E1F-9242-E729-2F35-6ED42B527B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4DBF063-C7CC-762A-C4A4-407265F1C3D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519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806849C-9D7A-6FBB-B4D0-DF7C3ACBE4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D5BF127-8D52-8887-FC62-8754F3BCDE4C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881483F6-E097-A49F-2915-19AD6741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02921D1F-E563-7D2C-1834-CC02C1EC03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671D72C9-DAC7-A680-B968-80EF9733E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5A9574D-B7E3-BB59-C4C3-79D80560C44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1D584BE7-7DB3-3CDB-F8B1-5EF214E7FF6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37846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AFAA184-7E83-EB1C-C5F3-6734E82FD5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1A6F7BE-BF14-3FB1-5EFE-B097AC522CD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FA842965-429E-88AC-510E-F6DD5026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D49CBC40-4B57-A9B5-0CEF-335D1FF64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567C8705-A80F-C05C-E09E-F75556DA5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1C3A9628-D37D-9486-7AC1-86A99782FF0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20132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-capa com 2 n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D62C9FC-F92B-77D2-AC6D-D37640952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Espaço Reservado para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6244282" y="4214129"/>
            <a:ext cx="5404360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17" name="Espaço Reservado para Texto 15"/>
          <p:cNvSpPr>
            <a:spLocks noGrp="1"/>
          </p:cNvSpPr>
          <p:nvPr>
            <p:ph type="body" sz="quarter" idx="11" hasCustomPrompt="1"/>
          </p:nvPr>
        </p:nvSpPr>
        <p:spPr>
          <a:xfrm>
            <a:off x="6244282" y="3800781"/>
            <a:ext cx="5404360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15" name="Espaço Reservado para Tex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6244281" y="5606664"/>
            <a:ext cx="5404359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20" name="Espaço Reservado para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6244281" y="5193316"/>
            <a:ext cx="5404359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5459239" y="296532"/>
            <a:ext cx="6189402" cy="1736191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39" y="2251186"/>
            <a:ext cx="6189402" cy="1051334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75D308-1CB2-7663-76DC-E42DADBA9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4110547"/>
            <a:ext cx="2686050" cy="19812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0668DBB-24DC-FA5F-87BB-F29E4E6058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6500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hlinkClick r:id="rId5"/>
            <a:extLst>
              <a:ext uri="{FF2B5EF4-FFF2-40B4-BE49-F238E27FC236}">
                <a16:creationId xmlns:a16="http://schemas.microsoft.com/office/drawing/2014/main" id="{C812E07A-CE77-6FC8-065D-1B3E7229F25E}"/>
              </a:ext>
            </a:extLst>
          </p:cNvPr>
          <p:cNvSpPr txBox="1"/>
          <p:nvPr userDrawn="1"/>
        </p:nvSpPr>
        <p:spPr>
          <a:xfrm>
            <a:off x="1259240" y="5750114"/>
            <a:ext cx="2028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0" i="0" spc="0" err="1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virtus.ufcg.edu.br</a:t>
            </a:r>
            <a:endParaRPr lang="pt-BR" sz="1600" b="0" i="0" spc="0">
              <a:solidFill>
                <a:srgbClr val="11236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Espaço Reservado para Imagem 5">
            <a:extLst>
              <a:ext uri="{FF2B5EF4-FFF2-40B4-BE49-F238E27FC236}">
                <a16:creationId xmlns:a16="http://schemas.microsoft.com/office/drawing/2014/main" id="{C5B9516A-78F6-BA46-FD8E-F80B7472AE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17637" y="3024242"/>
            <a:ext cx="1711325" cy="1031875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8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</p:spTree>
    <p:extLst>
      <p:ext uri="{BB962C8B-B14F-4D97-AF65-F5344CB8AC3E}">
        <p14:creationId xmlns:p14="http://schemas.microsoft.com/office/powerpoint/2010/main" val="19641720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-capa com 1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D62C9FC-F92B-77D2-AC6D-D37640952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5" name="Espaço Reservado para Tex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6194854" y="5105917"/>
            <a:ext cx="5453786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20" name="Espaço Reservado para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6194854" y="4692569"/>
            <a:ext cx="5453786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5459239" y="805523"/>
            <a:ext cx="6189402" cy="1736191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39" y="2760177"/>
            <a:ext cx="6189402" cy="1051334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75D308-1CB2-7663-76DC-E42DADBA9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4110547"/>
            <a:ext cx="2686050" cy="19812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0668DBB-24DC-FA5F-87BB-F29E4E6058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6500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hlinkClick r:id="rId5"/>
            <a:extLst>
              <a:ext uri="{FF2B5EF4-FFF2-40B4-BE49-F238E27FC236}">
                <a16:creationId xmlns:a16="http://schemas.microsoft.com/office/drawing/2014/main" id="{C812E07A-CE77-6FC8-065D-1B3E7229F25E}"/>
              </a:ext>
            </a:extLst>
          </p:cNvPr>
          <p:cNvSpPr txBox="1"/>
          <p:nvPr userDrawn="1"/>
        </p:nvSpPr>
        <p:spPr>
          <a:xfrm>
            <a:off x="1259240" y="5750114"/>
            <a:ext cx="2028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0" i="0" spc="0" err="1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virtus.ufcg.edu.br</a:t>
            </a:r>
            <a:endParaRPr lang="pt-BR" sz="1600" b="0" i="0" spc="0">
              <a:solidFill>
                <a:srgbClr val="11236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Espaço Reservado para Imagem 5">
            <a:extLst>
              <a:ext uri="{FF2B5EF4-FFF2-40B4-BE49-F238E27FC236}">
                <a16:creationId xmlns:a16="http://schemas.microsoft.com/office/drawing/2014/main" id="{C5B9516A-78F6-BA46-FD8E-F80B7472AE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17637" y="3024242"/>
            <a:ext cx="1711325" cy="1031875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8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</p:spTree>
    <p:extLst>
      <p:ext uri="{BB962C8B-B14F-4D97-AF65-F5344CB8AC3E}">
        <p14:creationId xmlns:p14="http://schemas.microsoft.com/office/powerpoint/2010/main" val="4792545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údo - Espaço único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B232126-6554-7B29-DBE9-812491DD48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29E2453-8F9D-3AE2-379A-5F0BCF52AB8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E6211BD8-2E60-A0C4-8C28-D992D1FC4D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10687052" cy="430118"/>
          </a:xfrm>
          <a:noFill/>
        </p:spPr>
        <p:txBody>
          <a:bodyPr wrap="square" lIns="900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60A431DD-4268-95DE-E830-02D204FBDB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947" y="86766"/>
            <a:ext cx="1068705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E7094C5-3EB4-CDB0-88FC-21AC30ADE4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752" y="263959"/>
            <a:ext cx="953734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50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-capa com 2 nomes [PT-Br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D62C9FC-F92B-77D2-AC6D-D37640952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4064"/>
            <a:ext cx="9144000" cy="6858000"/>
          </a:xfrm>
          <a:prstGeom prst="rect">
            <a:avLst/>
          </a:prstGeom>
        </p:spPr>
      </p:pic>
      <p:sp>
        <p:nvSpPr>
          <p:cNvPr id="16" name="Espaço Reservado para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6244282" y="4214129"/>
            <a:ext cx="5404360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17" name="Espaço Reservado para Texto 15"/>
          <p:cNvSpPr>
            <a:spLocks noGrp="1"/>
          </p:cNvSpPr>
          <p:nvPr>
            <p:ph type="body" sz="quarter" idx="11" hasCustomPrompt="1"/>
          </p:nvPr>
        </p:nvSpPr>
        <p:spPr>
          <a:xfrm>
            <a:off x="6244282" y="3800781"/>
            <a:ext cx="5404360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15" name="Espaço Reservado para Tex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6244281" y="5606664"/>
            <a:ext cx="5404359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20" name="Espaço Reservado para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6244281" y="5193316"/>
            <a:ext cx="5404359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5459239" y="296532"/>
            <a:ext cx="6189402" cy="1736191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39" y="2251186"/>
            <a:ext cx="6189402" cy="1051334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668DBB-24DC-FA5F-87BB-F29E4E6058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6500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hlinkClick r:id="rId4"/>
            <a:extLst>
              <a:ext uri="{FF2B5EF4-FFF2-40B4-BE49-F238E27FC236}">
                <a16:creationId xmlns:a16="http://schemas.microsoft.com/office/drawing/2014/main" id="{C812E07A-CE77-6FC8-065D-1B3E7229F25E}"/>
              </a:ext>
            </a:extLst>
          </p:cNvPr>
          <p:cNvSpPr txBox="1"/>
          <p:nvPr userDrawn="1"/>
        </p:nvSpPr>
        <p:spPr>
          <a:xfrm>
            <a:off x="977359" y="5750114"/>
            <a:ext cx="2335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0" i="0" spc="0" err="1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virtus.ufcg.edu.br</a:t>
            </a:r>
            <a:r>
              <a:rPr lang="pt-BR" sz="1600" b="0" i="0" spc="0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/cc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648FD0-ECDB-E469-A5A5-54C201FEDD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676" y="2945769"/>
            <a:ext cx="2735263" cy="100340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92B407D-10AE-7DF4-1254-24A287D9F25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349" y="4096767"/>
            <a:ext cx="2333917" cy="1310722"/>
          </a:xfrm>
          <a:prstGeom prst="rect">
            <a:avLst/>
          </a:prstGeom>
        </p:spPr>
      </p:pic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BD98E23F-D4DB-B01D-D33D-117A46C8C49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49" y="991355"/>
            <a:ext cx="2046715" cy="161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C8E0-0F88-40D3-BAD8-F689354AD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1" r:id="rId2"/>
    <p:sldLayoutId id="2147483662" r:id="rId3"/>
    <p:sldLayoutId id="2147483669" r:id="rId4"/>
    <p:sldLayoutId id="2147483677" r:id="rId5"/>
    <p:sldLayoutId id="2147483678" r:id="rId6"/>
    <p:sldLayoutId id="2147483679" r:id="rId7"/>
    <p:sldLayoutId id="2147483680" r:id="rId8"/>
    <p:sldLayoutId id="214748367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71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72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73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674" r:id="rId33"/>
    <p:sldLayoutId id="2147483701" r:id="rId34"/>
    <p:sldLayoutId id="2147483702" r:id="rId35"/>
    <p:sldLayoutId id="2147483703" r:id="rId36"/>
    <p:sldLayoutId id="2147483704" r:id="rId37"/>
    <p:sldLayoutId id="2147483705" r:id="rId38"/>
    <p:sldLayoutId id="2147483675" r:id="rId39"/>
    <p:sldLayoutId id="2147483706" r:id="rId40"/>
    <p:sldLayoutId id="2147483707" r:id="rId41"/>
    <p:sldLayoutId id="2147483708" r:id="rId42"/>
    <p:sldLayoutId id="2147483709" r:id="rId43"/>
    <p:sldLayoutId id="2147483710" r:id="rId44"/>
    <p:sldLayoutId id="2147483676" r:id="rId45"/>
    <p:sldLayoutId id="2147483711" r:id="rId46"/>
    <p:sldLayoutId id="2147483712" r:id="rId47"/>
    <p:sldLayoutId id="2147483713" r:id="rId48"/>
    <p:sldLayoutId id="2147483714" r:id="rId49"/>
    <p:sldLayoutId id="2147483715" r:id="rId50"/>
    <p:sldLayoutId id="2147483667" r:id="rId51"/>
    <p:sldLayoutId id="2147483716" r:id="rId52"/>
    <p:sldLayoutId id="2147483718" r:id="rId53"/>
    <p:sldLayoutId id="2147483719" r:id="rId5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Tx/>
        <a:buBlip>
          <a:blip r:embed="rId5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amaraproject.org/blockchain-public-address/" TargetMode="External"/><Relationship Id="rId13" Type="http://schemas.openxmlformats.org/officeDocument/2006/relationships/hyperlink" Target="https://camaraproject.org/carrier-billing/" TargetMode="External"/><Relationship Id="rId18" Type="http://schemas.openxmlformats.org/officeDocument/2006/relationships/hyperlink" Target="https://camaraproject.org/carrier-billing-refund/" TargetMode="External"/><Relationship Id="rId26" Type="http://schemas.openxmlformats.org/officeDocument/2006/relationships/hyperlink" Target="https://camaraproject.org/device-reachability-status-subscriptions/" TargetMode="External"/><Relationship Id="rId3" Type="http://schemas.openxmlformats.org/officeDocument/2006/relationships/hyperlink" Target="https://camaraproject.org/geofencing-subscriptions/" TargetMode="External"/><Relationship Id="rId21" Type="http://schemas.openxmlformats.org/officeDocument/2006/relationships/hyperlink" Target="https://camaraproject.org/qos-profiles/" TargetMode="External"/><Relationship Id="rId34" Type="http://schemas.openxmlformats.org/officeDocument/2006/relationships/hyperlink" Target="https://camaraproject.org/one-time-password-sms/" TargetMode="External"/><Relationship Id="rId7" Type="http://schemas.openxmlformats.org/officeDocument/2006/relationships/hyperlink" Target="https://camaraproject.org/simple-edge-discovery/" TargetMode="External"/><Relationship Id="rId12" Type="http://schemas.openxmlformats.org/officeDocument/2006/relationships/hyperlink" Target="https://camaraproject.org/connected-network-type-subscriptions/" TargetMode="External"/><Relationship Id="rId17" Type="http://schemas.openxmlformats.org/officeDocument/2006/relationships/hyperlink" Target="https://camaraproject.org/device-identifier/" TargetMode="External"/><Relationship Id="rId25" Type="http://schemas.openxmlformats.org/officeDocument/2006/relationships/hyperlink" Target="https://camaraproject.org/qod-provisioning/" TargetMode="External"/><Relationship Id="rId33" Type="http://schemas.openxmlformats.org/officeDocument/2006/relationships/hyperlink" Target="https://camaraproject.org/number-verification/" TargetMode="External"/><Relationship Id="rId2" Type="http://schemas.openxmlformats.org/officeDocument/2006/relationships/hyperlink" Target="https://camaraproject.org/call-forwarding-signal/" TargetMode="External"/><Relationship Id="rId16" Type="http://schemas.openxmlformats.org/officeDocument/2006/relationships/hyperlink" Target="https://camaraproject.org/connectivity-insights-subscriptions/" TargetMode="External"/><Relationship Id="rId20" Type="http://schemas.openxmlformats.org/officeDocument/2006/relationships/hyperlink" Target="https://camaraproject.org/population-density-data/" TargetMode="External"/><Relationship Id="rId29" Type="http://schemas.openxmlformats.org/officeDocument/2006/relationships/hyperlink" Target="https://camaraproject.org/device-roaming-status/" TargetMode="Externa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camaraproject.org/connected-network-type/" TargetMode="External"/><Relationship Id="rId11" Type="http://schemas.openxmlformats.org/officeDocument/2006/relationships/hyperlink" Target="https://camaraproject.org/connectivity-insights/" TargetMode="External"/><Relationship Id="rId24" Type="http://schemas.openxmlformats.org/officeDocument/2006/relationships/hyperlink" Target="https://camaraproject.org/region-user-count/" TargetMode="External"/><Relationship Id="rId32" Type="http://schemas.openxmlformats.org/officeDocument/2006/relationships/hyperlink" Target="https://camaraproject.org/number-recycling/" TargetMode="External"/><Relationship Id="rId37" Type="http://schemas.openxmlformats.org/officeDocument/2006/relationships/hyperlink" Target="https://camaraproject.org/sim-swap-subscriptions/" TargetMode="External"/><Relationship Id="rId5" Type="http://schemas.openxmlformats.org/officeDocument/2006/relationships/hyperlink" Target="https://camaraproject.org/application-profiles/" TargetMode="External"/><Relationship Id="rId15" Type="http://schemas.openxmlformats.org/officeDocument/2006/relationships/hyperlink" Target="https://camaraproject.org/location-verification/" TargetMode="External"/><Relationship Id="rId23" Type="http://schemas.openxmlformats.org/officeDocument/2006/relationships/hyperlink" Target="https://camaraproject.org/know-your-customer-fill-in/" TargetMode="External"/><Relationship Id="rId28" Type="http://schemas.openxmlformats.org/officeDocument/2006/relationships/hyperlink" Target="https://camaraproject.org/quality-on-demand/" TargetMode="External"/><Relationship Id="rId36" Type="http://schemas.openxmlformats.org/officeDocument/2006/relationships/hyperlink" Target="https://camaraproject.org/sim-swap/" TargetMode="External"/><Relationship Id="rId10" Type="http://schemas.openxmlformats.org/officeDocument/2006/relationships/hyperlink" Target="https://camaraproject.org/location-retrieval/" TargetMode="External"/><Relationship Id="rId19" Type="http://schemas.openxmlformats.org/officeDocument/2006/relationships/hyperlink" Target="https://camaraproject.org/know-your-customer-age-verification/" TargetMode="External"/><Relationship Id="rId31" Type="http://schemas.openxmlformats.org/officeDocument/2006/relationships/hyperlink" Target="https://camaraproject.org/device-roaming-status-subscriptions/" TargetMode="External"/><Relationship Id="rId4" Type="http://schemas.openxmlformats.org/officeDocument/2006/relationships/hyperlink" Target="https://camaraproject.org/webrtc-apis/" TargetMode="External"/><Relationship Id="rId9" Type="http://schemas.openxmlformats.org/officeDocument/2006/relationships/hyperlink" Target="https://camaraproject.org/customer-insights/" TargetMode="External"/><Relationship Id="rId14" Type="http://schemas.openxmlformats.org/officeDocument/2006/relationships/hyperlink" Target="https://camaraproject.org/device-swap/" TargetMode="External"/><Relationship Id="rId22" Type="http://schemas.openxmlformats.org/officeDocument/2006/relationships/hyperlink" Target="https://camaraproject.org/device-reachability-status/" TargetMode="External"/><Relationship Id="rId27" Type="http://schemas.openxmlformats.org/officeDocument/2006/relationships/hyperlink" Target="https://camaraproject.org/know-your-customer-match/" TargetMode="External"/><Relationship Id="rId30" Type="http://schemas.openxmlformats.org/officeDocument/2006/relationships/hyperlink" Target="https://camaraproject.org/know-your-customer-tenure/" TargetMode="External"/><Relationship Id="rId35" Type="http://schemas.openxmlformats.org/officeDocument/2006/relationships/hyperlink" Target="https://www.gsma.com/solutions-and-impact/gsma-open-gateway/gsma-open-gateway-api-descriptions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38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39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59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59.png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APIs de rede na prática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CAMARA e GSMA Open Gateway: 5 </a:t>
            </a:r>
            <a:r>
              <a:rPr dirty="0" err="1"/>
              <a:t>experimentos</a:t>
            </a:r>
            <a:r>
              <a:rPr dirty="0"/>
              <a:t> no sandbox</a:t>
            </a:r>
          </a:p>
        </p:txBody>
      </p:sp>
      <p:sp>
        <p:nvSpPr>
          <p:cNvPr id="4" name="Espaço Reservado para Texto 1">
            <a:extLst>
              <a:ext uri="{FF2B5EF4-FFF2-40B4-BE49-F238E27FC236}">
                <a16:creationId xmlns:a16="http://schemas.microsoft.com/office/drawing/2014/main" id="{10DEAD3B-F5C0-1E94-61E8-1C7E86EBF2AA}"/>
              </a:ext>
            </a:extLst>
          </p:cNvPr>
          <p:cNvSpPr txBox="1">
            <a:spLocks/>
          </p:cNvSpPr>
          <p:nvPr/>
        </p:nvSpPr>
        <p:spPr>
          <a:xfrm>
            <a:off x="6244282" y="4635878"/>
            <a:ext cx="5404360" cy="7868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000" dirty="0">
                <a:solidFill>
                  <a:schemeClr val="bg1"/>
                </a:solidFill>
              </a:rPr>
              <a:t>daniel.macedo@virtus-cc.ufcg.edu.br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B1E851EF-E874-585D-71D6-E3E3112ACAFF}"/>
              </a:ext>
            </a:extLst>
          </p:cNvPr>
          <p:cNvSpPr txBox="1">
            <a:spLocks/>
          </p:cNvSpPr>
          <p:nvPr/>
        </p:nvSpPr>
        <p:spPr>
          <a:xfrm>
            <a:off x="6244282" y="4042275"/>
            <a:ext cx="5404360" cy="362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>
                <a:solidFill>
                  <a:schemeClr val="bg1"/>
                </a:solidFill>
              </a:rPr>
              <a:t>Daniel Macedo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vamos ver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Fundamentos</a:t>
            </a:r>
          </a:p>
        </p:txBody>
      </p:sp>
      <p:sp>
        <p:nvSpPr>
          <p:cNvPr id="6" name="Círculo 1"/>
          <p:cNvSpPr/>
          <p:nvPr/>
        </p:nvSpPr>
        <p:spPr>
          <a:xfrm>
            <a:off x="365760" y="1737360"/>
            <a:ext cx="402336" cy="402336"/>
          </a:xfrm>
          <a:prstGeom prst="ellipse">
            <a:avLst/>
          </a:prstGeom>
          <a:solidFill>
            <a:srgbClr val="24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Número 1"/>
          <p:cNvSpPr txBox="1"/>
          <p:nvPr/>
        </p:nvSpPr>
        <p:spPr>
          <a:xfrm>
            <a:off x="365760" y="17373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965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O tema: o que a rede móvel sabe</a:t>
            </a:r>
          </a:p>
        </p:txBody>
      </p:sp>
      <p:sp>
        <p:nvSpPr>
          <p:cNvPr id="9" name="Círculo 2"/>
          <p:cNvSpPr/>
          <p:nvPr/>
        </p:nvSpPr>
        <p:spPr>
          <a:xfrm>
            <a:off x="365760" y="2377439"/>
            <a:ext cx="402336" cy="402336"/>
          </a:xfrm>
          <a:prstGeom prst="ellipse">
            <a:avLst/>
          </a:prstGeom>
          <a:solidFill>
            <a:srgbClr val="24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Número 2"/>
          <p:cNvSpPr txBox="1"/>
          <p:nvPr/>
        </p:nvSpPr>
        <p:spPr>
          <a:xfrm>
            <a:off x="365760" y="237743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9735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API CAMARA: o padrão aberto</a:t>
            </a:r>
          </a:p>
        </p:txBody>
      </p:sp>
      <p:sp>
        <p:nvSpPr>
          <p:cNvPr id="12" name="Círculo 3"/>
          <p:cNvSpPr/>
          <p:nvPr/>
        </p:nvSpPr>
        <p:spPr>
          <a:xfrm>
            <a:off x="365760" y="3017520"/>
            <a:ext cx="402336" cy="402336"/>
          </a:xfrm>
          <a:prstGeom prst="ellipse">
            <a:avLst/>
          </a:prstGeom>
          <a:solidFill>
            <a:srgbClr val="24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úmero 3"/>
          <p:cNvSpPr txBox="1"/>
          <p:nvPr/>
        </p:nvSpPr>
        <p:spPr>
          <a:xfrm>
            <a:off x="365760" y="30175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99815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O sandbox e o nosso método</a:t>
            </a:r>
          </a:p>
        </p:txBody>
      </p:sp>
      <p:sp>
        <p:nvSpPr>
          <p:cNvPr id="15" name="Caixa roteiro"/>
          <p:cNvSpPr/>
          <p:nvPr/>
        </p:nvSpPr>
        <p:spPr>
          <a:xfrm>
            <a:off x="365760" y="38862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2D66"/>
                </a:solidFill>
                <a:latin typeface="Verdana"/>
              </a:rPr>
              <a:t>Em cada módulo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8056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•  O que a funcionalidade faz</a:t>
            </a:r>
          </a:p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•  O cenário de aplicação</a:t>
            </a:r>
          </a:p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•  As chamadas e a POC</a:t>
            </a:r>
          </a:p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•  Vantagens e cuidados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23444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Os 5 módulos</a:t>
            </a:r>
          </a:p>
        </p:txBody>
      </p:sp>
      <p:sp>
        <p:nvSpPr>
          <p:cNvPr id="19" name="Círculo 01"/>
          <p:cNvSpPr/>
          <p:nvPr/>
        </p:nvSpPr>
        <p:spPr>
          <a:xfrm>
            <a:off x="6035040" y="1737360"/>
            <a:ext cx="603504" cy="603504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úmero 01"/>
          <p:cNvSpPr txBox="1"/>
          <p:nvPr/>
        </p:nvSpPr>
        <p:spPr>
          <a:xfrm>
            <a:off x="6035040" y="17373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773936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433"/>
                </a:solidFill>
                <a:latin typeface="Verdana"/>
              </a:rPr>
              <a:t>Verificação de localização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066543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76767"/>
                </a:solidFill>
                <a:latin typeface="Verdana"/>
              </a:rPr>
              <a:t>cenário: antifraude de cartão</a:t>
            </a:r>
          </a:p>
        </p:txBody>
      </p:sp>
      <p:sp>
        <p:nvSpPr>
          <p:cNvPr id="23" name="Círculo 02"/>
          <p:cNvSpPr/>
          <p:nvPr/>
        </p:nvSpPr>
        <p:spPr>
          <a:xfrm>
            <a:off x="6035040" y="2578608"/>
            <a:ext cx="603504" cy="603504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úmero 02"/>
          <p:cNvSpPr txBox="1"/>
          <p:nvPr/>
        </p:nvSpPr>
        <p:spPr>
          <a:xfrm>
            <a:off x="6035040" y="257860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615184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433"/>
                </a:solidFill>
                <a:latin typeface="Verdana"/>
              </a:rPr>
              <a:t>Know Your 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907791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76767"/>
                </a:solidFill>
                <a:latin typeface="Verdana"/>
              </a:rPr>
              <a:t>cenário: abertura de conta</a:t>
            </a:r>
          </a:p>
        </p:txBody>
      </p:sp>
      <p:sp>
        <p:nvSpPr>
          <p:cNvPr id="27" name="Círculo 03"/>
          <p:cNvSpPr/>
          <p:nvPr/>
        </p:nvSpPr>
        <p:spPr>
          <a:xfrm>
            <a:off x="6035040" y="3419856"/>
            <a:ext cx="603504" cy="603504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úmero 03"/>
          <p:cNvSpPr txBox="1"/>
          <p:nvPr/>
        </p:nvSpPr>
        <p:spPr>
          <a:xfrm>
            <a:off x="6035040" y="341985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456432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433"/>
                </a:solidFill>
                <a:latin typeface="Verdana"/>
              </a:rPr>
              <a:t>Código por SMS (OTP)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7490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76767"/>
                </a:solidFill>
                <a:latin typeface="Verdana"/>
              </a:rPr>
              <a:t>cenário: login e Pix</a:t>
            </a:r>
          </a:p>
        </p:txBody>
      </p:sp>
      <p:sp>
        <p:nvSpPr>
          <p:cNvPr id="31" name="Círculo 04"/>
          <p:cNvSpPr/>
          <p:nvPr/>
        </p:nvSpPr>
        <p:spPr>
          <a:xfrm>
            <a:off x="6035040" y="4261104"/>
            <a:ext cx="603504" cy="603504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úmero 04"/>
          <p:cNvSpPr txBox="1"/>
          <p:nvPr/>
        </p:nvSpPr>
        <p:spPr>
          <a:xfrm>
            <a:off x="6035040" y="426110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29768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433"/>
                </a:solidFill>
                <a:latin typeface="Verdana"/>
              </a:rPr>
              <a:t>Localização do aparelho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59028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76767"/>
                </a:solidFill>
                <a:latin typeface="Verdana"/>
              </a:rPr>
              <a:t>cenário: socorro na estrada</a:t>
            </a:r>
          </a:p>
        </p:txBody>
      </p:sp>
      <p:sp>
        <p:nvSpPr>
          <p:cNvPr id="35" name="Círculo 05"/>
          <p:cNvSpPr/>
          <p:nvPr/>
        </p:nvSpPr>
        <p:spPr>
          <a:xfrm>
            <a:off x="6035040" y="5102352"/>
            <a:ext cx="603504" cy="603504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úmero 05"/>
          <p:cNvSpPr txBox="1"/>
          <p:nvPr/>
        </p:nvSpPr>
        <p:spPr>
          <a:xfrm>
            <a:off x="6035040" y="510235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13892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433"/>
                </a:solidFill>
                <a:latin typeface="Verdana"/>
              </a:rPr>
              <a:t>Troca de chip (SIM Swap)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43153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76767"/>
                </a:solidFill>
                <a:latin typeface="Verdana"/>
              </a:rPr>
              <a:t>cenário: golpe da troca de chip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FE0764C-F1CA-1153-98D4-CF4D8376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CONFIDENTIAL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200A871-EF1B-328D-B39A-C6EF524F3E8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86944" y="240740"/>
            <a:ext cx="11818112" cy="6406696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4C346A4-FD27-DA1C-608C-2B4085BF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CAPARA API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D8DF50-9A64-065B-EA47-7B23759105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59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B186-FB34-4A3B-65F5-F67F12B3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0948538-78A8-FA16-E851-E1A50D60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CONFIDENTIAL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8D0756-C690-0FF9-2238-519134EC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CAPARA API</a:t>
            </a:r>
          </a:p>
        </p:txBody>
      </p:sp>
      <p:graphicFrame>
        <p:nvGraphicFramePr>
          <p:cNvPr id="14" name="Espaço Reservado para Conteúdo 7">
            <a:extLst>
              <a:ext uri="{FF2B5EF4-FFF2-40B4-BE49-F238E27FC236}">
                <a16:creationId xmlns:a16="http://schemas.microsoft.com/office/drawing/2014/main" id="{D002960E-E038-E81C-0CD8-0B39BE52D0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7725872"/>
              </p:ext>
            </p:extLst>
          </p:nvPr>
        </p:nvGraphicFramePr>
        <p:xfrm>
          <a:off x="505524" y="1097280"/>
          <a:ext cx="11181283" cy="5129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9072">
                  <a:extLst>
                    <a:ext uri="{9D8B030D-6E8A-4147-A177-3AD203B41FA5}">
                      <a16:colId xmlns:a16="http://schemas.microsoft.com/office/drawing/2014/main" val="2270169974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8560102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81300649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321996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10301386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6578555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222864515"/>
                    </a:ext>
                  </a:extLst>
                </a:gridCol>
                <a:gridCol w="1186891">
                  <a:extLst>
                    <a:ext uri="{9D8B030D-6E8A-4147-A177-3AD203B41FA5}">
                      <a16:colId xmlns:a16="http://schemas.microsoft.com/office/drawing/2014/main" val="191627273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Authentication and Fraud Prevention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Location Services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Communication Services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Communication Quality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Device Information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Computing Services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Payments and Charging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Service Management</a:t>
                      </a:r>
                      <a:endParaRPr lang="pt-BR" sz="1400" b="1">
                        <a:solidFill>
                          <a:srgbClr val="FFFFFF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42D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74749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"/>
                        </a:rPr>
                        <a:t>Call Forwarding Signal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"/>
                        </a:rPr>
                        <a:t>Geofencing Subscriptions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4"/>
                        </a:rPr>
                        <a:t>WebRTC Call Handling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5"/>
                        </a:rPr>
                        <a:t>Application Profiles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6"/>
                        </a:rPr>
                        <a:t>Connected Network Type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7"/>
                        </a:rPr>
                        <a:t>Simple Edge Discovery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8"/>
                        </a:rPr>
                        <a:t>Blockchain Public Address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3688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9"/>
                        </a:rPr>
                        <a:t>Customer Insights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0"/>
                        </a:rPr>
                        <a:t>Location Retrieval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4"/>
                        </a:rPr>
                        <a:t>WebRTC Event Subscription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1"/>
                        </a:rPr>
                        <a:t>Connectivity Insights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2"/>
                        </a:rPr>
                        <a:t>Connected Network Type Subscriptions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3"/>
                        </a:rPr>
                        <a:t>Carrier Billing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8684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4"/>
                        </a:rPr>
                        <a:t>Device Swap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5"/>
                        </a:rPr>
                        <a:t>Location Verification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4"/>
                        </a:rPr>
                        <a:t>WebRTC Registration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6"/>
                        </a:rPr>
                        <a:t>Connectivity Insights Subscriptions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7"/>
                        </a:rPr>
                        <a:t>Device Identifier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8"/>
                        </a:rPr>
                        <a:t>Carrier Billing Refund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5205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19"/>
                        </a:rPr>
                        <a:t>Know Your Customer Age Verification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0"/>
                        </a:rPr>
                        <a:t>Population Density Data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1"/>
                        </a:rPr>
                        <a:t>QoS Profiles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2"/>
                        </a:rPr>
                        <a:t>Device Reachability Status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2819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3"/>
                        </a:rPr>
                        <a:t>Know Your Customer Fill In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4"/>
                        </a:rPr>
                        <a:t>Region Device Count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5"/>
                        </a:rPr>
                        <a:t>QoS Provisioning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6"/>
                        </a:rPr>
                        <a:t>Device Reachability Status Subscriptions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32491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7"/>
                        </a:rPr>
                        <a:t>Know Your Customer Match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8"/>
                        </a:rPr>
                        <a:t>Quality on Demand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29"/>
                        </a:rPr>
                        <a:t>Device Roaming Status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97384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0"/>
                        </a:rPr>
                        <a:t>Know Your Customer Tenure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1"/>
                        </a:rPr>
                        <a:t>Device Roaming Status Subscriptions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032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2"/>
                        </a:rPr>
                        <a:t>Number Recycling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53924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3"/>
                        </a:rPr>
                        <a:t>Number Verification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4204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4"/>
                        </a:rPr>
                        <a:t>One Time Password SMS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37936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5"/>
                        </a:rPr>
                        <a:t>Scam Signal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2324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6"/>
                        </a:rPr>
                        <a:t>Sim Swap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74664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>
                          <a:solidFill>
                            <a:srgbClr val="242D66"/>
                          </a:solidFill>
                          <a:effectLst/>
                          <a:latin typeface="Arial"/>
                          <a:hlinkClick r:id="rId37"/>
                        </a:rPr>
                        <a:t>Sim Swap Subscriptions</a:t>
                      </a: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 dirty="0">
                        <a:solidFill>
                          <a:srgbClr val="111111"/>
                        </a:solidFill>
                        <a:effectLst/>
                        <a:latin typeface="inherit"/>
                      </a:endParaRPr>
                    </a:p>
                  </a:txBody>
                  <a:tcPr marL="50292" marR="50292" marT="22860" marB="22860">
                    <a:lnL w="6350">
                      <a:solidFill>
                        <a:srgbClr val="DCE2EC"/>
                      </a:solidFill>
                    </a:lnL>
                    <a:lnR w="6350">
                      <a:solidFill>
                        <a:srgbClr val="DCE2EC"/>
                      </a:solidFill>
                    </a:lnR>
                    <a:lnT w="6350">
                      <a:solidFill>
                        <a:srgbClr val="DCE2EC"/>
                      </a:solidFill>
                    </a:lnT>
                    <a:lnB w="6350">
                      <a:solidFill>
                        <a:srgbClr val="DCE2EC"/>
                      </a:solidFill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015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44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600" b="1" i="0"/>
              <a:t>Fundamentos</a:t>
            </a:r>
          </a:p>
          <a:p>
            <a:r>
              <a:rPr sz="2000" b="0" i="0"/>
              <a:t>O tema, o padrão CAMARA e o sandbox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rede móvel sabe coisas que nenhum app sabe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5" name="Cartão Quem é o dono da linha"/>
          <p:cNvSpPr/>
          <p:nvPr/>
        </p:nvSpPr>
        <p:spPr>
          <a:xfrm>
            <a:off x="365760" y="1280160"/>
            <a:ext cx="2697480" cy="342900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IdCard"/>
          <p:cNvSpPr/>
          <p:nvPr/>
        </p:nvSpPr>
        <p:spPr>
          <a:xfrm>
            <a:off x="594360" y="1508760"/>
            <a:ext cx="777240" cy="777240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IdCard" descr="FaIdC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" y="1695297"/>
            <a:ext cx="404164" cy="404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4688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Quem é o dono da linha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chip é cadastrado com nome e CPF do titular.</a:t>
            </a:r>
          </a:p>
        </p:txBody>
      </p:sp>
      <p:sp>
        <p:nvSpPr>
          <p:cNvPr id="10" name="Cartão Onde o aparelho está"/>
          <p:cNvSpPr/>
          <p:nvPr/>
        </p:nvSpPr>
        <p:spPr>
          <a:xfrm>
            <a:off x="3291840" y="1280160"/>
            <a:ext cx="2697480" cy="342900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írculo FaTowerCell"/>
          <p:cNvSpPr/>
          <p:nvPr/>
        </p:nvSpPr>
        <p:spPr>
          <a:xfrm>
            <a:off x="3520440" y="1508760"/>
            <a:ext cx="777240" cy="77724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Ícone FaTowerCell" descr="FaTowerCel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977" y="1695297"/>
            <a:ext cx="404164" cy="404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0440" y="24688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Onde o aparelho está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 antena que atende o chip indica a região.</a:t>
            </a:r>
          </a:p>
        </p:txBody>
      </p:sp>
      <p:sp>
        <p:nvSpPr>
          <p:cNvPr id="15" name="Cartão Se a linha é nova"/>
          <p:cNvSpPr/>
          <p:nvPr/>
        </p:nvSpPr>
        <p:spPr>
          <a:xfrm>
            <a:off x="6217920" y="1280160"/>
            <a:ext cx="2697480" cy="342900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FaSimCard"/>
          <p:cNvSpPr/>
          <p:nvPr/>
        </p:nvSpPr>
        <p:spPr>
          <a:xfrm>
            <a:off x="6446520" y="1508760"/>
            <a:ext cx="777240" cy="777240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Ícone FaSimCard" descr="FaSimC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057" y="169529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46520" y="24688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Se a linha é nova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Desde quando a linha existe e quando o chip foi trocado.</a:t>
            </a:r>
          </a:p>
        </p:txBody>
      </p:sp>
      <p:sp>
        <p:nvSpPr>
          <p:cNvPr id="20" name="Cartão Como falar com o celular"/>
          <p:cNvSpPr/>
          <p:nvPr/>
        </p:nvSpPr>
        <p:spPr>
          <a:xfrm>
            <a:off x="9144000" y="1280160"/>
            <a:ext cx="2697480" cy="342900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írculo FaCommentSms"/>
          <p:cNvSpPr/>
          <p:nvPr/>
        </p:nvSpPr>
        <p:spPr>
          <a:xfrm>
            <a:off x="9372600" y="1508760"/>
            <a:ext cx="777240" cy="777240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FaCommentSms" descr="FaCommentSm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137" y="1695297"/>
            <a:ext cx="404164" cy="404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72600" y="24688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Como falar com o celular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20040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 operadora entrega mensagens direto ao aparelho.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242D66"/>
                </a:solidFill>
                <a:latin typeface="Verdana"/>
              </a:rPr>
              <a:t>As APIs de rede deixam um app fazer perguntas à operadora sobre essas informações, sem receber os dados pessoais do 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isso importa: fraudes do dia a dia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C1C24"/>
                </a:solidFill>
                <a:latin typeface="Verdana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18872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8A85"/>
                </a:solidFill>
                <a:latin typeface="Verdana"/>
              </a:rPr>
              <a:t>A PERGUNTA À OPERADORA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4937760" cy="768096"/>
          </a:xfrm>
          <a:prstGeom prst="roundRect">
            <a:avLst>
              <a:gd name="adj" fmla="val 9523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írculo FaCreditCard"/>
          <p:cNvSpPr/>
          <p:nvPr/>
        </p:nvSpPr>
        <p:spPr>
          <a:xfrm>
            <a:off x="502920" y="1691639"/>
            <a:ext cx="493776" cy="493776"/>
          </a:xfrm>
          <a:prstGeom prst="ellipse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Ícone FaCreditCard" descr="FaCreditC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26" y="1810146"/>
            <a:ext cx="256763" cy="2567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1554480"/>
            <a:ext cx="40233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Cartão clonado usado numa loja</a:t>
            </a:r>
          </a:p>
        </p:txBody>
      </p:sp>
      <p:pic>
        <p:nvPicPr>
          <p:cNvPr id="11" name="Seta" descr="FaArrow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773936"/>
            <a:ext cx="329184" cy="3291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0" y="1554480"/>
            <a:ext cx="5797296" cy="768096"/>
          </a:xfrm>
          <a:prstGeom prst="roundRect">
            <a:avLst>
              <a:gd name="adj" fmla="val 952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42062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42D66"/>
                </a:solidFill>
                <a:latin typeface="Verdana"/>
              </a:rPr>
              <a:t>O celular do cliente está perto da loja?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554480"/>
            <a:ext cx="11887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12369"/>
                </a:solidFill>
                <a:latin typeface="Verdana"/>
              </a:rPr>
              <a:t>Módulo 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468880"/>
            <a:ext cx="4937760" cy="768096"/>
          </a:xfrm>
          <a:prstGeom prst="roundRect">
            <a:avLst>
              <a:gd name="adj" fmla="val 9523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FaUserSecret"/>
          <p:cNvSpPr/>
          <p:nvPr/>
        </p:nvSpPr>
        <p:spPr>
          <a:xfrm>
            <a:off x="502920" y="2606040"/>
            <a:ext cx="493776" cy="493776"/>
          </a:xfrm>
          <a:prstGeom prst="ellipse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Ícone FaUserSecret" descr="FaUserSecr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26" y="2724546"/>
            <a:ext cx="256763" cy="25676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88720" y="2468880"/>
            <a:ext cx="40233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Conta aberta com dados vazados</a:t>
            </a:r>
          </a:p>
        </p:txBody>
      </p:sp>
      <p:pic>
        <p:nvPicPr>
          <p:cNvPr id="19" name="Seta" descr="FaArrow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2688336"/>
            <a:ext cx="329184" cy="32918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35040" y="2468880"/>
            <a:ext cx="5797296" cy="768096"/>
          </a:xfrm>
          <a:prstGeom prst="roundRect">
            <a:avLst>
              <a:gd name="adj" fmla="val 952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468880"/>
            <a:ext cx="42062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42D66"/>
                </a:solidFill>
                <a:latin typeface="Verdana"/>
              </a:rPr>
              <a:t>Os dados são do dono desta linha?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468880"/>
            <a:ext cx="11887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08A85"/>
                </a:solidFill>
                <a:latin typeface="Verdana"/>
              </a:rPr>
              <a:t>Módulo 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383280"/>
            <a:ext cx="4937760" cy="768096"/>
          </a:xfrm>
          <a:prstGeom prst="roundRect">
            <a:avLst>
              <a:gd name="adj" fmla="val 9523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írculo FaKey"/>
          <p:cNvSpPr/>
          <p:nvPr/>
        </p:nvSpPr>
        <p:spPr>
          <a:xfrm>
            <a:off x="502920" y="3520440"/>
            <a:ext cx="493776" cy="493776"/>
          </a:xfrm>
          <a:prstGeom prst="ellipse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Ícone FaKey" descr="Fa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26" y="3638946"/>
            <a:ext cx="256763" cy="2567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8720" y="3383280"/>
            <a:ext cx="40233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Senha roubada usada no login</a:t>
            </a:r>
          </a:p>
        </p:txBody>
      </p:sp>
      <p:pic>
        <p:nvPicPr>
          <p:cNvPr id="27" name="Seta" descr="FaArrow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3602736"/>
            <a:ext cx="329184" cy="32918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035040" y="3383280"/>
            <a:ext cx="5797296" cy="768096"/>
          </a:xfrm>
          <a:prstGeom prst="roundRect">
            <a:avLst>
              <a:gd name="adj" fmla="val 952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383280"/>
            <a:ext cx="42062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42D66"/>
                </a:solidFill>
                <a:latin typeface="Verdana"/>
              </a:rPr>
              <a:t>O código chegou ao celular certo?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383280"/>
            <a:ext cx="11887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802A8D"/>
                </a:solidFill>
                <a:latin typeface="Verdana"/>
              </a:rPr>
              <a:t>Módulo 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4937760" cy="768096"/>
          </a:xfrm>
          <a:prstGeom prst="roundRect">
            <a:avLst>
              <a:gd name="adj" fmla="val 9523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írculo FaCar"/>
          <p:cNvSpPr/>
          <p:nvPr/>
        </p:nvSpPr>
        <p:spPr>
          <a:xfrm>
            <a:off x="502920" y="4434840"/>
            <a:ext cx="493776" cy="493776"/>
          </a:xfrm>
          <a:prstGeom prst="ellipse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Ícone FaCar" descr="FaC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26" y="4553346"/>
            <a:ext cx="256763" cy="25676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88720" y="4297680"/>
            <a:ext cx="40233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Cliente perdido na estrada</a:t>
            </a:r>
          </a:p>
        </p:txBody>
      </p:sp>
      <p:pic>
        <p:nvPicPr>
          <p:cNvPr id="35" name="Seta" descr="FaArrow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4517136"/>
            <a:ext cx="329184" cy="32918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035040" y="4297680"/>
            <a:ext cx="5797296" cy="768096"/>
          </a:xfrm>
          <a:prstGeom prst="roundRect">
            <a:avLst>
              <a:gd name="adj" fmla="val 952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4297680"/>
            <a:ext cx="42062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42D66"/>
                </a:solidFill>
                <a:latin typeface="Verdana"/>
              </a:rPr>
              <a:t>Onde está o celular?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4297680"/>
            <a:ext cx="11887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9A41A"/>
                </a:solidFill>
                <a:latin typeface="Verdana"/>
              </a:rPr>
              <a:t>Módulo 04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212080"/>
            <a:ext cx="4937760" cy="768096"/>
          </a:xfrm>
          <a:prstGeom prst="roundRect">
            <a:avLst>
              <a:gd name="adj" fmla="val 9523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írculo FaSimCard"/>
          <p:cNvSpPr/>
          <p:nvPr/>
        </p:nvSpPr>
        <p:spPr>
          <a:xfrm>
            <a:off x="502920" y="5349240"/>
            <a:ext cx="493776" cy="493776"/>
          </a:xfrm>
          <a:prstGeom prst="ellipse">
            <a:avLst/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Ícone FaSimCard" descr="FaSimCar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26" y="5467746"/>
            <a:ext cx="256763" cy="25676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88720" y="5212080"/>
            <a:ext cx="402336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Golpe da troca de chip</a:t>
            </a:r>
          </a:p>
        </p:txBody>
      </p:sp>
      <p:pic>
        <p:nvPicPr>
          <p:cNvPr id="43" name="Seta" descr="FaArrow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5431536"/>
            <a:ext cx="329184" cy="32918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035040" y="5212080"/>
            <a:ext cx="5797296" cy="768096"/>
          </a:xfrm>
          <a:prstGeom prst="roundRect">
            <a:avLst>
              <a:gd name="adj" fmla="val 952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5212080"/>
            <a:ext cx="42062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42D66"/>
                </a:solidFill>
                <a:latin typeface="Verdana"/>
              </a:rPr>
              <a:t>O chip deste número foi trocado?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5212080"/>
            <a:ext cx="11887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A0889"/>
                </a:solidFill>
                <a:latin typeface="Verdana"/>
              </a:rPr>
              <a:t>Módulo 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CAMARA: o mesmo contrato em toda operadora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BuildingColumns"/>
          <p:cNvSpPr/>
          <p:nvPr/>
        </p:nvSpPr>
        <p:spPr>
          <a:xfrm>
            <a:off x="502920" y="1444752"/>
            <a:ext cx="475488" cy="475488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BuildingColumns" descr="FaBuildingColum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7" y="1558869"/>
            <a:ext cx="247253" cy="2472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1325880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Banco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9456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FaShieldHalved"/>
          <p:cNvSpPr/>
          <p:nvPr/>
        </p:nvSpPr>
        <p:spPr>
          <a:xfrm>
            <a:off x="502920" y="2313432"/>
            <a:ext cx="475488" cy="475488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Ícone FaShieldHalved" descr="FaShieldHalve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7" y="2427549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2194560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Seguradora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63239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írculo FaStore"/>
          <p:cNvSpPr/>
          <p:nvPr/>
        </p:nvSpPr>
        <p:spPr>
          <a:xfrm>
            <a:off x="502920" y="3182111"/>
            <a:ext cx="475488" cy="475488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Ícone FaStore" descr="FaStor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37" y="3296229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3000" y="3063239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Loja online</a:t>
            </a:r>
          </a:p>
        </p:txBody>
      </p:sp>
      <p:pic>
        <p:nvPicPr>
          <p:cNvPr id="17" name="Seta" descr="FaArrowRight_6767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2304288"/>
            <a:ext cx="384048" cy="384048"/>
          </a:xfrm>
          <a:prstGeom prst="rect">
            <a:avLst/>
          </a:prstGeom>
        </p:spPr>
      </p:pic>
      <p:sp>
        <p:nvSpPr>
          <p:cNvPr id="18" name="Caixa API CAMARA"/>
          <p:cNvSpPr/>
          <p:nvPr/>
        </p:nvSpPr>
        <p:spPr>
          <a:xfrm>
            <a:off x="3703320" y="1325880"/>
            <a:ext cx="4343400" cy="2450592"/>
          </a:xfrm>
          <a:prstGeom prst="roundRect">
            <a:avLst>
              <a:gd name="adj" fmla="val 2985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1691640"/>
            <a:ext cx="39776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API CAMARA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468880"/>
            <a:ext cx="39776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D9DCEB"/>
                </a:solidFill>
                <a:latin typeface="Verdana"/>
              </a:rPr>
              <a:t>mesmos endereços, campos, respostas e erros</a:t>
            </a:r>
          </a:p>
        </p:txBody>
      </p:sp>
      <p:pic>
        <p:nvPicPr>
          <p:cNvPr id="21" name="Seta" descr="FaArrowRight_6767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79" y="2304288"/>
            <a:ext cx="384048" cy="38404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732520" y="1325880"/>
            <a:ext cx="3099816" cy="512064"/>
          </a:xfrm>
          <a:prstGeom prst="roundRect">
            <a:avLst>
              <a:gd name="adj" fmla="val 14285"/>
            </a:avLst>
          </a:prstGeom>
          <a:solidFill>
            <a:srgbClr val="F3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1325880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02A8D"/>
                </a:solidFill>
                <a:latin typeface="Verdana"/>
              </a:rPr>
              <a:t>Vivo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965960"/>
            <a:ext cx="3099816" cy="512064"/>
          </a:xfrm>
          <a:prstGeom prst="roundRect">
            <a:avLst>
              <a:gd name="adj" fmla="val 14285"/>
            </a:avLst>
          </a:prstGeom>
          <a:solidFill>
            <a:srgbClr val="F3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15400" y="1965960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02A8D"/>
                </a:solidFill>
                <a:latin typeface="Verdana"/>
              </a:rPr>
              <a:t>Claro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2606039"/>
            <a:ext cx="3099816" cy="512064"/>
          </a:xfrm>
          <a:prstGeom prst="roundRect">
            <a:avLst>
              <a:gd name="adj" fmla="val 14285"/>
            </a:avLst>
          </a:prstGeom>
          <a:solidFill>
            <a:srgbClr val="F3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15400" y="2606039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802A8D"/>
                </a:solidFill>
                <a:latin typeface="Verdana"/>
              </a:rPr>
              <a:t>TIM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3246120"/>
            <a:ext cx="3099816" cy="512064"/>
          </a:xfrm>
          <a:prstGeom prst="roundRect">
            <a:avLst>
              <a:gd name="adj" fmla="val 14285"/>
            </a:avLst>
          </a:prstGeom>
          <a:solidFill>
            <a:srgbClr val="F3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15400" y="3246120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802A8D"/>
                </a:solidFill>
                <a:latin typeface="Verdana"/>
              </a:rPr>
              <a:t>+ operadoras no mundo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160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8A85"/>
                </a:solidFill>
                <a:latin typeface="Verdana"/>
              </a:rPr>
              <a:t>Projeto aberto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5720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Mantido na Linux Foundation, com a GSMA e as operadoras, desde 2022.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160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8A85"/>
                </a:solidFill>
                <a:latin typeface="Verdana"/>
              </a:rPr>
              <a:t>Especificação pública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720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Cada API tem um arquivo OpenAPI com campos, respostas e erros.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60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8A85"/>
                </a:solidFill>
                <a:latin typeface="Verdana"/>
              </a:rPr>
              <a:t>Troca sem reescrever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5720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mesmo código serve para qualquer operadora: muda a URL e o login.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Três camadas: quem faz o quê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749039" cy="1371600"/>
          </a:xfrm>
          <a:prstGeom prst="roundRect">
            <a:avLst>
              <a:gd name="adj" fmla="val 5333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Book"/>
          <p:cNvSpPr/>
          <p:nvPr/>
        </p:nvSpPr>
        <p:spPr>
          <a:xfrm>
            <a:off x="566928" y="1645919"/>
            <a:ext cx="640080" cy="640080"/>
          </a:xfrm>
          <a:prstGeom prst="ellipse">
            <a:avLst/>
          </a:prstGeom>
          <a:solidFill>
            <a:srgbClr val="24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Book" descr="Fa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1799539"/>
            <a:ext cx="332841" cy="3328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15544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Verdana"/>
              </a:rPr>
              <a:t>a especificação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7534656" cy="1371600"/>
          </a:xfrm>
          <a:prstGeom prst="roundRect">
            <a:avLst>
              <a:gd name="adj" fmla="val 533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280160"/>
            <a:ext cx="71323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Define a pergunta, os campos, as respostas e os códigos de erro. Exemplo: verificationResult pode ser TRUE, FALSE, PARTIAL ou UNKNOWN.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880360"/>
            <a:ext cx="3749039" cy="1371600"/>
          </a:xfrm>
          <a:prstGeom prst="roundRect">
            <a:avLst>
              <a:gd name="adj" fmla="val 5333"/>
            </a:avLst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FaLayerGroup"/>
          <p:cNvSpPr/>
          <p:nvPr/>
        </p:nvSpPr>
        <p:spPr>
          <a:xfrm>
            <a:off x="566928" y="3246120"/>
            <a:ext cx="640080" cy="640080"/>
          </a:xfrm>
          <a:prstGeom prst="ellipse">
            <a:avLst/>
          </a:prstGeom>
          <a:solidFill>
            <a:srgbClr val="24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Ícone FaLayerGroup" descr="FaLayerGrou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3399739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3154679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GSMA Open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118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Verdana"/>
              </a:rPr>
              <a:t>o programa e o sandbox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880360"/>
            <a:ext cx="7534656" cy="1371600"/>
          </a:xfrm>
          <a:prstGeom prst="roundRect">
            <a:avLst>
              <a:gd name="adj" fmla="val 533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2880360"/>
            <a:ext cx="71323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Reúne as operadoras, publica as APIs para as empresas e oferece o ambiente de testes que usamos nesta aula.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480560"/>
            <a:ext cx="3749039" cy="1371600"/>
          </a:xfrm>
          <a:prstGeom prst="roundRect">
            <a:avLst>
              <a:gd name="adj" fmla="val 5333"/>
            </a:avLst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írculo FaTowerCell"/>
          <p:cNvSpPr/>
          <p:nvPr/>
        </p:nvSpPr>
        <p:spPr>
          <a:xfrm>
            <a:off x="566928" y="4846320"/>
            <a:ext cx="640080" cy="640080"/>
          </a:xfrm>
          <a:prstGeom prst="ellipse">
            <a:avLst/>
          </a:prstGeom>
          <a:solidFill>
            <a:srgbClr val="24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Ícone FaTowerCell" descr="FaTowerCel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" y="4999939"/>
            <a:ext cx="332841" cy="3328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47548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Operadoras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120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Verdana"/>
              </a:rPr>
              <a:t>a implementação 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480560"/>
            <a:ext cx="7534656" cy="1371600"/>
          </a:xfrm>
          <a:prstGeom prst="roundRect">
            <a:avLst>
              <a:gd name="adj" fmla="val 5333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4480560"/>
            <a:ext cx="71323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Respondem com dados de verdade em produção, com contrato, cobrança e consentimento do cliente.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sandbox: como começamos a testar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697480" cy="269748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1"/>
          <p:cNvSpPr/>
          <p:nvPr/>
        </p:nvSpPr>
        <p:spPr>
          <a:xfrm>
            <a:off x="566928" y="1481328"/>
            <a:ext cx="420624" cy="420624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Número 1"/>
          <p:cNvSpPr txBox="1"/>
          <p:nvPr/>
        </p:nvSpPr>
        <p:spPr>
          <a:xfrm>
            <a:off x="566928" y="1481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8" name="Círculo FaPlus"/>
          <p:cNvSpPr/>
          <p:nvPr/>
        </p:nvSpPr>
        <p:spPr>
          <a:xfrm>
            <a:off x="2331720" y="1444752"/>
            <a:ext cx="512064" cy="512064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Ícone FaPlus" descr="FaPlu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615" y="1567647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Criar um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51760"/>
            <a:ext cx="2331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Escolher as APIs liberadas: localização, KYC, OTP, SIM Swap e outras.</a:t>
            </a:r>
          </a:p>
        </p:txBody>
      </p:sp>
      <p:pic>
        <p:nvPicPr>
          <p:cNvPr id="12" name="Seta" descr="FaChevron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468880"/>
            <a:ext cx="201168" cy="2011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91840" y="1280160"/>
            <a:ext cx="2697480" cy="269748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írculo 2"/>
          <p:cNvSpPr/>
          <p:nvPr/>
        </p:nvSpPr>
        <p:spPr>
          <a:xfrm>
            <a:off x="3493008" y="1481328"/>
            <a:ext cx="420624" cy="420624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úmero 2"/>
          <p:cNvSpPr txBox="1"/>
          <p:nvPr/>
        </p:nvSpPr>
        <p:spPr>
          <a:xfrm>
            <a:off x="3493008" y="1481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6" name="Círculo FaToggleOn"/>
          <p:cNvSpPr/>
          <p:nvPr/>
        </p:nvSpPr>
        <p:spPr>
          <a:xfrm>
            <a:off x="5257800" y="1444752"/>
            <a:ext cx="512064" cy="512064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Ícone FaToggleOn" descr="FaToggle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695" y="1567647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93008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Ativar escopos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651760"/>
            <a:ext cx="2331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Cada API tem uma permissão, por exemplo kyc-match:match.</a:t>
            </a:r>
          </a:p>
        </p:txBody>
      </p:sp>
      <p:pic>
        <p:nvPicPr>
          <p:cNvPr id="20" name="Seta" descr="FaChevron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468880"/>
            <a:ext cx="201168" cy="20116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17920" y="1280160"/>
            <a:ext cx="2697480" cy="269748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3"/>
          <p:cNvSpPr/>
          <p:nvPr/>
        </p:nvSpPr>
        <p:spPr>
          <a:xfrm>
            <a:off x="6419088" y="1481328"/>
            <a:ext cx="420624" cy="420624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úmero 3"/>
          <p:cNvSpPr txBox="1"/>
          <p:nvPr/>
        </p:nvSpPr>
        <p:spPr>
          <a:xfrm>
            <a:off x="6419088" y="1481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24" name="Círculo FaKey"/>
          <p:cNvSpPr/>
          <p:nvPr/>
        </p:nvSpPr>
        <p:spPr>
          <a:xfrm>
            <a:off x="8183880" y="1444752"/>
            <a:ext cx="512064" cy="512064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Ícone FaKey" descr="Fa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775" y="1567647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19088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Gerar o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651760"/>
            <a:ext cx="2331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Fluxo Client Credentials. O token vale só 5 minutos.</a:t>
            </a:r>
          </a:p>
        </p:txBody>
      </p:sp>
      <p:pic>
        <p:nvPicPr>
          <p:cNvPr id="28" name="Seta" descr="FaChevronRight_676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2468880"/>
            <a:ext cx="201168" cy="20116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144000" y="1280160"/>
            <a:ext cx="2697480" cy="2697480"/>
          </a:xfrm>
          <a:prstGeom prst="roundRect">
            <a:avLst>
              <a:gd name="adj" fmla="val 271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írculo 4"/>
          <p:cNvSpPr/>
          <p:nvPr/>
        </p:nvSpPr>
        <p:spPr>
          <a:xfrm>
            <a:off x="9345168" y="1481328"/>
            <a:ext cx="420624" cy="420624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úmero 4"/>
          <p:cNvSpPr txBox="1"/>
          <p:nvPr/>
        </p:nvSpPr>
        <p:spPr>
          <a:xfrm>
            <a:off x="9345168" y="1481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32" name="Círculo FaCode"/>
          <p:cNvSpPr/>
          <p:nvPr/>
        </p:nvSpPr>
        <p:spPr>
          <a:xfrm>
            <a:off x="11109960" y="1444752"/>
            <a:ext cx="512064" cy="512064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Ícone FaCode" descr="FaCod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2855" y="1567647"/>
            <a:ext cx="266273" cy="2662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45168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Chamar a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2651760"/>
            <a:ext cx="2331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POST com o token no cabeçalho Authorization: Bearer.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2976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írculo FaTriangleExclamation"/>
          <p:cNvSpPr/>
          <p:nvPr/>
        </p:nvSpPr>
        <p:spPr>
          <a:xfrm>
            <a:off x="594360" y="4681728"/>
            <a:ext cx="685800" cy="68580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Ícone FaTriangleExclamation" descr="FaTriangleExclamation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4846320"/>
            <a:ext cx="356616" cy="35661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508760" y="4297680"/>
            <a:ext cx="42519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Não há operadora de verdade: as respostas são simuladas e os números de telefone são fictícios.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4496" y="42976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írculo FaGraduationCap"/>
          <p:cNvSpPr/>
          <p:nvPr/>
        </p:nvSpPr>
        <p:spPr>
          <a:xfrm>
            <a:off x="6483096" y="4681728"/>
            <a:ext cx="685800" cy="68580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Ícone FaGraduationCap" descr="FaGraduationCap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846320"/>
            <a:ext cx="356616" cy="35661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97496" y="4297680"/>
            <a:ext cx="42519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Ótimo para aprender a integração e preparar o sistema para todas as respostas possíveis.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1906C-ABA5-E540-2770-C8354272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F65E77-A81F-0285-9AFE-82B42A98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sandbox: como começamos a testar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F3653-B995-1834-27CE-3903973A54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EBE0EAC8-1CF0-73DF-A6B3-477D69B99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95"/>
          <a:stretch>
            <a:fillRect/>
          </a:stretch>
        </p:blipFill>
        <p:spPr>
          <a:xfrm>
            <a:off x="484228" y="1211693"/>
            <a:ext cx="5331746" cy="496163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D0B8A224-B1CA-6F19-CFC6-1F8B0F012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990" y="1378357"/>
            <a:ext cx="6206010" cy="369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37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segredo do sandbox: os 2 últimos dígitos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943600" cy="1325880"/>
          </a:xfrm>
          <a:prstGeom prst="roundRect">
            <a:avLst>
              <a:gd name="adj" fmla="val 5517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94360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ourier New"/>
              </a:rPr>
              <a:t>+1555000</a:t>
            </a:r>
            <a:r>
              <a:rPr sz="4000" b="1" i="0">
                <a:solidFill>
                  <a:srgbClr val="F9A41A"/>
                </a:solidFill>
                <a:latin typeface="Courier New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Final 35 na verificação de localização: resposta FALSE, fora da área.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611880"/>
            <a:ext cx="1115568" cy="1005840"/>
          </a:xfrm>
          <a:prstGeom prst="roundRect">
            <a:avLst>
              <a:gd name="adj" fmla="val 7272"/>
            </a:avLst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00–24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1480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Verdana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3611880"/>
            <a:ext cx="1115568" cy="1005840"/>
          </a:xfrm>
          <a:prstGeom prst="roundRect">
            <a:avLst>
              <a:gd name="adj" fmla="val 7272"/>
            </a:avLst>
          </a:prstGeom>
          <a:solidFill>
            <a:srgbClr val="E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2768" y="37033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25–49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411480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Verdana"/>
              </a:rPr>
              <a:t>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9776" y="3611880"/>
            <a:ext cx="1115568" cy="1005840"/>
          </a:xfrm>
          <a:prstGeom prst="roundRect">
            <a:avLst>
              <a:gd name="adj" fmla="val 7272"/>
            </a:avLst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9776" y="37033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50–74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411480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Verdana"/>
              </a:rPr>
              <a:t>PARTIAL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6784" y="3611880"/>
            <a:ext cx="1115568" cy="1005840"/>
          </a:xfrm>
          <a:prstGeom prst="roundRect">
            <a:avLst>
              <a:gd name="adj" fmla="val 7272"/>
            </a:avLst>
          </a:prstGeom>
          <a:solidFill>
            <a:srgbClr val="67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86784" y="37033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75–89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4" y="411480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Verdana"/>
              </a:rPr>
              <a:t>UNKNOWN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3611880"/>
            <a:ext cx="1115568" cy="1005840"/>
          </a:xfrm>
          <a:prstGeom prst="roundRect">
            <a:avLst>
              <a:gd name="adj" fmla="val 7272"/>
            </a:avLst>
          </a:prstGeom>
          <a:solidFill>
            <a:srgbClr val="24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93792" y="370332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90–93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4114800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Verdana"/>
              </a:rPr>
              <a:t>erros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463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76767"/>
                </a:solidFill>
                <a:latin typeface="Verdana"/>
              </a:rPr>
              <a:t>Cada módulo tem a sua tabela. Algumas faixas não estão documentadas.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2801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42D66"/>
                </a:solidFill>
                <a:latin typeface="Verdana"/>
              </a:rPr>
              <a:t>Nosso método: varredura</a:t>
            </a:r>
          </a:p>
        </p:txBody>
      </p:sp>
      <p:sp>
        <p:nvSpPr>
          <p:cNvPr id="25" name="Círculo 1"/>
          <p:cNvSpPr/>
          <p:nvPr/>
        </p:nvSpPr>
        <p:spPr>
          <a:xfrm>
            <a:off x="6858000" y="1828800"/>
            <a:ext cx="384048" cy="384048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úmero 1"/>
          <p:cNvSpPr txBox="1"/>
          <p:nvPr/>
        </p:nvSpPr>
        <p:spPr>
          <a:xfrm>
            <a:off x="685800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892807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Chamar a API com os finais 00 a 99</a:t>
            </a:r>
          </a:p>
        </p:txBody>
      </p:sp>
      <p:sp>
        <p:nvSpPr>
          <p:cNvPr id="28" name="Círculo 2"/>
          <p:cNvSpPr/>
          <p:nvPr/>
        </p:nvSpPr>
        <p:spPr>
          <a:xfrm>
            <a:off x="6858000" y="2432304"/>
            <a:ext cx="384048" cy="384048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úmero 2"/>
          <p:cNvSpPr txBox="1"/>
          <p:nvPr/>
        </p:nvSpPr>
        <p:spPr>
          <a:xfrm>
            <a:off x="6858000" y="24323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49631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Agrupar as respostas iguais</a:t>
            </a:r>
          </a:p>
        </p:txBody>
      </p:sp>
      <p:sp>
        <p:nvSpPr>
          <p:cNvPr id="31" name="Círculo 3"/>
          <p:cNvSpPr/>
          <p:nvPr/>
        </p:nvSpPr>
        <p:spPr>
          <a:xfrm>
            <a:off x="6858000" y="3035808"/>
            <a:ext cx="384048" cy="384048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úmero 3"/>
          <p:cNvSpPr txBox="1"/>
          <p:nvPr/>
        </p:nvSpPr>
        <p:spPr>
          <a:xfrm>
            <a:off x="6858000" y="3035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09981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Comparar com a documentação</a:t>
            </a:r>
          </a:p>
        </p:txBody>
      </p:sp>
      <p:sp>
        <p:nvSpPr>
          <p:cNvPr id="34" name="Círculo 4"/>
          <p:cNvSpPr/>
          <p:nvPr/>
        </p:nvSpPr>
        <p:spPr>
          <a:xfrm>
            <a:off x="6858000" y="3639312"/>
            <a:ext cx="384048" cy="384048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úmero 4"/>
          <p:cNvSpPr txBox="1"/>
          <p:nvPr/>
        </p:nvSpPr>
        <p:spPr>
          <a:xfrm>
            <a:off x="6858000" y="3639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7033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Testar se os dados enviados mudam algo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891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9A41A"/>
                </a:solidFill>
                <a:latin typeface="Verdana"/>
              </a:rPr>
              <a:t>1.200+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57200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42D66"/>
                </a:solidFill>
                <a:latin typeface="Verdana"/>
              </a:rPr>
              <a:t>chamadas ao sandbox nos 5 módulos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Anatomia de uma chamada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6492240" cy="4800600"/>
          </a:xfrm>
          <a:prstGeom prst="roundRect">
            <a:avLst>
              <a:gd name="adj" fmla="val 1523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612648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const resposta = await fetch(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"https://open-gateway-sandbox.gsma.com" +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"/device-location-verification/v1/verify", {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 method: "POST",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 headers: {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  Authorization: `Bearer ${TOKEN}`,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   "Content-Type": "application/json"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 },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body: JSON.stringify({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  device: { phoneNumber: "+155500035" },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  area: { areaType: "CIRCLE",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    center: { latitude: 45.754, longitude: 4.86 },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    radius: 1000 },</a:t>
            </a:r>
          </a:p>
          <a:p>
            <a:pPr algn="l"/>
            <a:r>
              <a:rPr sz="1200" b="0" i="0">
                <a:solidFill>
                  <a:srgbClr val="F9A41A"/>
                </a:solidFill>
                <a:latin typeface="Courier New"/>
              </a:rPr>
              <a:t>    maxAge: 120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 })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234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9A41A"/>
                </a:solidFill>
                <a:latin typeface="Verdana"/>
              </a:rPr>
              <a:t>RESPOSTA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572768"/>
            <a:ext cx="4654296" cy="1600200"/>
          </a:xfrm>
          <a:prstGeom prst="roundRect">
            <a:avLst>
              <a:gd name="adj" fmla="val 4571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69164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F2433"/>
                </a:solidFill>
                <a:latin typeface="Courier New"/>
              </a:rPr>
              <a:t>200 OK</a:t>
            </a:r>
          </a:p>
          <a:p>
            <a:pPr algn="l"/>
            <a:r>
              <a:rPr sz="1100" b="0" i="0">
                <a:solidFill>
                  <a:srgbClr val="1F2433"/>
                </a:solidFill>
                <a:latin typeface="Courier New"/>
              </a:rPr>
              <a:t>{</a:t>
            </a:r>
          </a:p>
          <a:p>
            <a:pPr algn="l"/>
            <a:r>
              <a:rPr sz="1100" b="0" i="0">
                <a:solidFill>
                  <a:srgbClr val="1F2433"/>
                </a:solidFill>
                <a:latin typeface="Courier New"/>
              </a:rPr>
              <a:t>  "verificationResult": "FALSE",</a:t>
            </a:r>
          </a:p>
          <a:p>
            <a:pPr algn="l"/>
            <a:r>
              <a:rPr sz="1100" b="0" i="0">
                <a:solidFill>
                  <a:srgbClr val="1F2433"/>
                </a:solidFill>
                <a:latin typeface="Courier New"/>
              </a:rPr>
              <a:t>  "lastLocationTime":</a:t>
            </a:r>
          </a:p>
          <a:p>
            <a:pPr algn="l"/>
            <a:r>
              <a:rPr sz="1100" b="0" i="0">
                <a:solidFill>
                  <a:srgbClr val="1F2433"/>
                </a:solidFill>
                <a:latin typeface="Courier New"/>
              </a:rPr>
              <a:t>    "2023-09-07T10:40:52Z"</a:t>
            </a:r>
          </a:p>
          <a:p>
            <a:pPr algn="l"/>
            <a:r>
              <a:rPr sz="1100" b="0" i="0">
                <a:solidFill>
                  <a:srgbClr val="1F2433"/>
                </a:solidFill>
                <a:latin typeface="Courier New"/>
              </a:rPr>
              <a:t>}</a:t>
            </a:r>
          </a:p>
        </p:txBody>
      </p:sp>
      <p:sp>
        <p:nvSpPr>
          <p:cNvPr id="10" name="Círculo 1"/>
          <p:cNvSpPr/>
          <p:nvPr/>
        </p:nvSpPr>
        <p:spPr>
          <a:xfrm>
            <a:off x="7178040" y="3520440"/>
            <a:ext cx="384048" cy="384048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1"/>
          <p:cNvSpPr txBox="1"/>
          <p:nvPr/>
        </p:nvSpPr>
        <p:spPr>
          <a:xfrm>
            <a:off x="7178040" y="3520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538728"/>
            <a:ext cx="4069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Endereço: servidor do sandbox + caminho da API</a:t>
            </a:r>
          </a:p>
        </p:txBody>
      </p:sp>
      <p:sp>
        <p:nvSpPr>
          <p:cNvPr id="13" name="Círculo 2"/>
          <p:cNvSpPr/>
          <p:nvPr/>
        </p:nvSpPr>
        <p:spPr>
          <a:xfrm>
            <a:off x="7178040" y="4297680"/>
            <a:ext cx="384048" cy="384048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2"/>
          <p:cNvSpPr txBox="1"/>
          <p:nvPr/>
        </p:nvSpPr>
        <p:spPr>
          <a:xfrm>
            <a:off x="7178040" y="4297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315968"/>
            <a:ext cx="4069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Token de 5 minutos no cabeçalho</a:t>
            </a:r>
          </a:p>
        </p:txBody>
      </p:sp>
      <p:sp>
        <p:nvSpPr>
          <p:cNvPr id="16" name="Círculo 3"/>
          <p:cNvSpPr/>
          <p:nvPr/>
        </p:nvSpPr>
        <p:spPr>
          <a:xfrm>
            <a:off x="7178040" y="5074920"/>
            <a:ext cx="384048" cy="384048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úmero 3"/>
          <p:cNvSpPr txBox="1"/>
          <p:nvPr/>
        </p:nvSpPr>
        <p:spPr>
          <a:xfrm>
            <a:off x="7178040" y="5074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093207"/>
            <a:ext cx="4069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Corpo em JSON: telefone e parâmetros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 b="0" i="0"/>
              <a:t>Módulo 01</a:t>
            </a:r>
          </a:p>
          <a:p>
            <a:r>
              <a:rPr sz="3200" b="1" i="0"/>
              <a:t>Verificação de localização</a:t>
            </a:r>
          </a:p>
          <a:p>
            <a:r>
              <a:rPr sz="1600" b="0" i="1"/>
              <a:t>“Este celular está perto desta loja?”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 ou não: o celular está nesta área?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01 · Verificação de localização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2369"/>
                </a:solidFill>
                <a:latin typeface="Verdana"/>
              </a:rPr>
              <a:t>PERGUNTA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O celular deste número está dentro desta área?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2369"/>
                </a:solidFill>
                <a:latin typeface="Verdana"/>
              </a:rPr>
              <a:t>ENVIAMOS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15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Telefone, uma área (círculo: centro e raio) e a idade máxima da posição (maxAge)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2369"/>
                </a:solidFill>
                <a:latin typeface="Verdana"/>
              </a:rPr>
              <a:t>RECEBEMOS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58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TRUE, FALSE, PARTIAL (com matchRate de 0 a 100) ou UNKNOWN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/device-location-verification/v1/verify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280160"/>
            <a:ext cx="4151376" cy="4617720"/>
          </a:xfrm>
          <a:prstGeom prst="roundRect">
            <a:avLst>
              <a:gd name="adj" fmla="val 1762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Onde se usa</a:t>
            </a:r>
          </a:p>
        </p:txBody>
      </p:sp>
      <p:sp>
        <p:nvSpPr>
          <p:cNvPr id="15" name="Círculo FaCreditCard"/>
          <p:cNvSpPr/>
          <p:nvPr/>
        </p:nvSpPr>
        <p:spPr>
          <a:xfrm>
            <a:off x="7955279" y="2103120"/>
            <a:ext cx="548640" cy="548640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FaCreditCard" descr="FaCreditC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3" y="223479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0" y="208483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Antifraude de cartão em compra presencial</a:t>
            </a:r>
          </a:p>
        </p:txBody>
      </p:sp>
      <p:sp>
        <p:nvSpPr>
          <p:cNvPr id="18" name="Círculo FaMobileScreen"/>
          <p:cNvSpPr/>
          <p:nvPr/>
        </p:nvSpPr>
        <p:spPr>
          <a:xfrm>
            <a:off x="7955279" y="3291839"/>
            <a:ext cx="548640" cy="548640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FaMobileScreen" descr="FaMobileScre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3" y="3423513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0" y="327355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Confirmar Pix ou login no local de sempre</a:t>
            </a:r>
          </a:p>
        </p:txBody>
      </p:sp>
      <p:sp>
        <p:nvSpPr>
          <p:cNvPr id="21" name="Círculo FaPersonWalking"/>
          <p:cNvSpPr/>
          <p:nvPr/>
        </p:nvSpPr>
        <p:spPr>
          <a:xfrm>
            <a:off x="7955279" y="4480560"/>
            <a:ext cx="548640" cy="548640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FaPersonWalking" descr="FaPersonWalk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3" y="461223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0" y="4462272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Check-in de técnico ou entregador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antifraude de cartão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01 · Verificação de localização</a:t>
            </a:r>
          </a:p>
        </p:txBody>
      </p:sp>
      <p:pic>
        <p:nvPicPr>
          <p:cNvPr id="5" name="Picture 4" descr="cenario_antifr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649374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35174" y="1234440"/>
            <a:ext cx="449716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2369"/>
                </a:solidFill>
                <a:latin typeface="Verdana"/>
              </a:rPr>
              <a:t>Para contar a história</a:t>
            </a:r>
          </a:p>
        </p:txBody>
      </p:sp>
      <p:sp>
        <p:nvSpPr>
          <p:cNvPr id="7" name="Círculo 1"/>
          <p:cNvSpPr/>
          <p:nvPr/>
        </p:nvSpPr>
        <p:spPr>
          <a:xfrm>
            <a:off x="7335174" y="1737360"/>
            <a:ext cx="347472" cy="347472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335174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662" y="171907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Ana compra na padaria e o celular dela está perto: a compra é aprovada na hora.</a:t>
            </a:r>
          </a:p>
        </p:txBody>
      </p:sp>
      <p:sp>
        <p:nvSpPr>
          <p:cNvPr id="10" name="Círculo 2"/>
          <p:cNvSpPr/>
          <p:nvPr/>
        </p:nvSpPr>
        <p:spPr>
          <a:xfrm>
            <a:off x="7335174" y="3200400"/>
            <a:ext cx="347472" cy="347472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335174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662" y="318211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cartão do Bruno foi clonado: o celular dele está em outra cidade e a compra é bloqueada.</a:t>
            </a:r>
          </a:p>
        </p:txBody>
      </p:sp>
      <p:sp>
        <p:nvSpPr>
          <p:cNvPr id="13" name="Círculo 3"/>
          <p:cNvSpPr/>
          <p:nvPr/>
        </p:nvSpPr>
        <p:spPr>
          <a:xfrm>
            <a:off x="7335174" y="4663440"/>
            <a:ext cx="347472" cy="347472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335174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662" y="464515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cliente não faz nada: a operadora já sabe em que região o celular está.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chamadas que fizemos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01 · Verificação de localização</a:t>
            </a:r>
          </a:p>
        </p:txBody>
      </p:sp>
      <p:pic>
        <p:nvPicPr>
          <p:cNvPr id="5" name="Picture 4" descr="diagrama_experi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7364361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050161" y="1234440"/>
            <a:ext cx="378217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12369"/>
                </a:solidFill>
                <a:latin typeface="Verdana"/>
              </a:rPr>
              <a:t>O que descobrimos</a:t>
            </a:r>
          </a:p>
        </p:txBody>
      </p:sp>
      <p:sp>
        <p:nvSpPr>
          <p:cNvPr id="7" name="Círculo 1"/>
          <p:cNvSpPr/>
          <p:nvPr/>
        </p:nvSpPr>
        <p:spPr>
          <a:xfrm>
            <a:off x="8050161" y="1737360"/>
            <a:ext cx="347472" cy="347472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8050161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5649" y="1719072"/>
            <a:ext cx="3306686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No início a resposta era sempre TRUE: os números testados terminavam em 10–19.</a:t>
            </a:r>
          </a:p>
        </p:txBody>
      </p:sp>
      <p:sp>
        <p:nvSpPr>
          <p:cNvPr id="10" name="Círculo 2"/>
          <p:cNvSpPr/>
          <p:nvPr/>
        </p:nvSpPr>
        <p:spPr>
          <a:xfrm>
            <a:off x="8050161" y="3200400"/>
            <a:ext cx="347472" cy="347472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8050161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5649" y="3182112"/>
            <a:ext cx="3306686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Posição e raio são ignorados no sandbox. Só o final do telefone decide.</a:t>
            </a:r>
          </a:p>
        </p:txBody>
      </p:sp>
      <p:sp>
        <p:nvSpPr>
          <p:cNvPr id="13" name="Círculo 3"/>
          <p:cNvSpPr/>
          <p:nvPr/>
        </p:nvSpPr>
        <p:spPr>
          <a:xfrm>
            <a:off x="8050161" y="4663440"/>
            <a:ext cx="347472" cy="347472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8050161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5649" y="4645152"/>
            <a:ext cx="3306686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Os finais 90, 91 e 99 respondem, mas não estão na documentação.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POC: autorizador de cartão (caso_real.js)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01 · Verificação de localização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1466576" cy="73152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12369"/>
                </a:solidFill>
                <a:latin typeface="Verdana"/>
              </a:rPr>
              <a:t>Regra de decisão  </a:t>
            </a:r>
            <a:r>
              <a:rPr sz="1200" b="0" i="0">
                <a:solidFill>
                  <a:srgbClr val="1F2433"/>
                </a:solidFill>
                <a:latin typeface="Verdana"/>
              </a:rPr>
              <a:t>TRUE aprova · PARTIAL com 70% ou mais aprova · FALSE acima de R$ 1.000 bloqueia, abaixo pede confirmação · UNKNOWN ou erro segue o fluxo padrão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194560"/>
          <a:ext cx="11466573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4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7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9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Transação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Cliente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Valor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Loja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Operadora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Decisão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TX-001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Ana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R$ 89,90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Padaria Centro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TRUE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APROVAR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TX-002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Bruno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R$ 4.999,00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Eletrônicos Av. Paulista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FALSE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3121A"/>
                          </a:solidFill>
                          <a:latin typeface="Verdana"/>
                        </a:rPr>
                        <a:t>BLOQUEAR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TX-003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Carla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R$ 320,00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Farmácia Pinheiros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PARTIAL (74%)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APROVAR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TX-004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Diego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R$ 150,00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Posto Marginal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UNKNOWN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76767"/>
                          </a:solidFill>
                          <a:latin typeface="Verdana"/>
                        </a:rPr>
                        <a:t>FLUXO PADRÃO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TX-005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Elisa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R$ 60,00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Mercado Mooca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503 indisponível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76767"/>
                          </a:solidFill>
                          <a:latin typeface="Verdana"/>
                        </a:rPr>
                        <a:t>FLUXO PADRÃO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cuidados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01 · Verificação de localização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CircleCheck"/>
          <p:cNvSpPr/>
          <p:nvPr/>
        </p:nvSpPr>
        <p:spPr>
          <a:xfrm>
            <a:off x="493776" y="1280160"/>
            <a:ext cx="438912" cy="43891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CircleCheck" descr="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4" y="1385498"/>
            <a:ext cx="228234" cy="228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Vantagens</a:t>
            </a:r>
          </a:p>
        </p:txBody>
      </p:sp>
      <p:sp>
        <p:nvSpPr>
          <p:cNvPr id="9" name="Oval 8"/>
          <p:cNvSpPr/>
          <p:nvPr/>
        </p:nvSpPr>
        <p:spPr>
          <a:xfrm>
            <a:off x="493776" y="2029967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Nenhum atrito para o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Não precisa instalar app, ligar o GPS nem fazer nada: a rede já sabe a região.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" y="3108960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Difícil de falsificar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A posição vem da antena, não do aparelho. O GPS do celular pode ser simulado por um app.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" y="4187952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Privacidade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O banco recebe só sim ou não. A localização do cliente não sai da operadora.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" y="5266944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Funciona em qualquer celular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Vale até para aparelhos simples, sem smartphone nem internet.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FaTriangleExclamation"/>
          <p:cNvSpPr/>
          <p:nvPr/>
        </p:nvSpPr>
        <p:spPr>
          <a:xfrm>
            <a:off x="6409944" y="1280160"/>
            <a:ext cx="438912" cy="43891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FaTriangleExclamation" descr="FaTriangleExclamati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282" y="1385498"/>
            <a:ext cx="228234" cy="2282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13448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Desvantagens e cuidados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2029967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8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Precisão limitada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A área de uma antena vai de centenas de metros a quilômetros. Raio pequeno tende a dar PARTIAL ou UNKNOWN.</a:t>
            </a:r>
          </a:p>
        </p:txBody>
      </p:sp>
      <p:sp>
        <p:nvSpPr>
          <p:cNvPr id="28" name="Oval 27"/>
          <p:cNvSpPr/>
          <p:nvPr/>
        </p:nvSpPr>
        <p:spPr>
          <a:xfrm>
            <a:off x="6409944" y="3108960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8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Posição pode estar velha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Use maxAge e confira o lastLocationTime da resposta.</a:t>
            </a:r>
          </a:p>
        </p:txBody>
      </p:sp>
      <p:sp>
        <p:nvSpPr>
          <p:cNvPr id="31" name="Oval 30"/>
          <p:cNvSpPr/>
          <p:nvPr/>
        </p:nvSpPr>
        <p:spPr>
          <a:xfrm>
            <a:off x="6409944" y="4187952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8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Cliente sem o celular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Quem esqueceu o celular em casa gera um falso alerta: nunca bloquear só por isso.</a:t>
            </a:r>
          </a:p>
        </p:txBody>
      </p:sp>
      <p:sp>
        <p:nvSpPr>
          <p:cNvPr id="34" name="Oval 33"/>
          <p:cNvSpPr/>
          <p:nvPr/>
        </p:nvSpPr>
        <p:spPr>
          <a:xfrm>
            <a:off x="6409944" y="5266944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39128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Depende da operadora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Exige contrato, consentimento do cliente e tem custo por consulta.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 b="0" i="0"/>
              <a:t>Módulo 02</a:t>
            </a:r>
          </a:p>
          <a:p>
            <a:r>
              <a:rPr sz="3200" b="1" i="0"/>
              <a:t>Know Your Customer (KYC)</a:t>
            </a:r>
          </a:p>
          <a:p>
            <a:r>
              <a:rPr sz="1600" b="0" i="1"/>
              <a:t>“Os dados que o cliente digitou são do dono desta linha?”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operadora confere o cadastro do cliente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02 · Know Your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8A85"/>
                </a:solidFill>
                <a:latin typeface="Verdana"/>
              </a:rPr>
              <a:t>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Nome, documento, endereço e e-mail batem com o dono da linha? Resposta campo a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8A85"/>
                </a:solidFill>
                <a:latin typeface="Verdana"/>
              </a:rPr>
              <a:t>TENURE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15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A linha está ativa desde uma data? É pré-paga, pós-paga ou empresarial?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8A85"/>
                </a:solidFill>
                <a:latin typeface="Verdana"/>
              </a:rPr>
              <a:t>AGE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58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O titular tem a idade mínima? Informa também controle parental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6949440" cy="1097280"/>
          </a:xfrm>
          <a:prstGeom prst="roundRect">
            <a:avLst>
              <a:gd name="adj" fmla="val 6666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658368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/kyc-match/v0.2/match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/kyc-tenure/v0.1/check-tenure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/kyc-age-verification/v0.1/verify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280160"/>
            <a:ext cx="4151376" cy="4617720"/>
          </a:xfrm>
          <a:prstGeom prst="roundRect">
            <a:avLst>
              <a:gd name="adj" fmla="val 1762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Onde se usa</a:t>
            </a:r>
          </a:p>
        </p:txBody>
      </p:sp>
      <p:sp>
        <p:nvSpPr>
          <p:cNvPr id="15" name="Círculo FaUserCheck"/>
          <p:cNvSpPr/>
          <p:nvPr/>
        </p:nvSpPr>
        <p:spPr>
          <a:xfrm>
            <a:off x="7955279" y="2103120"/>
            <a:ext cx="548640" cy="54864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FaUserCheck" descr="FaUser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3" y="223479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0" y="208483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Abrir conta sem foto de documento</a:t>
            </a:r>
          </a:p>
        </p:txBody>
      </p:sp>
      <p:sp>
        <p:nvSpPr>
          <p:cNvPr id="18" name="Círculo FaDice"/>
          <p:cNvSpPr/>
          <p:nvPr/>
        </p:nvSpPr>
        <p:spPr>
          <a:xfrm>
            <a:off x="7955279" y="3291839"/>
            <a:ext cx="548640" cy="54864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FaDice" descr="FaDic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3" y="3423513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0" y="327355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Apostas e vendas com idade mínima</a:t>
            </a:r>
          </a:p>
        </p:txBody>
      </p:sp>
      <p:sp>
        <p:nvSpPr>
          <p:cNvPr id="21" name="Círculo FaSimCard"/>
          <p:cNvSpPr/>
          <p:nvPr/>
        </p:nvSpPr>
        <p:spPr>
          <a:xfrm>
            <a:off x="7955279" y="4480560"/>
            <a:ext cx="548640" cy="54864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FaSimCard" descr="FaSimC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3" y="461223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0" y="4462272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Detectar chip comprado para golpe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abertura de conta digital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02 · Know Your Customer</a:t>
            </a:r>
          </a:p>
        </p:txBody>
      </p:sp>
      <p:pic>
        <p:nvPicPr>
          <p:cNvPr id="5" name="Picture 4" descr="cenario_abertura_con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848855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534656" y="1234440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8A85"/>
                </a:solidFill>
                <a:latin typeface="Verdana"/>
              </a:rPr>
              <a:t>Para contar a história</a:t>
            </a:r>
          </a:p>
        </p:txBody>
      </p:sp>
      <p:sp>
        <p:nvSpPr>
          <p:cNvPr id="7" name="Círculo 1"/>
          <p:cNvSpPr/>
          <p:nvPr/>
        </p:nvSpPr>
        <p:spPr>
          <a:xfrm>
            <a:off x="7534656" y="1737360"/>
            <a:ext cx="347472" cy="34747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534656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171907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Carla preenche o cadastro e a conta abre em 2 minutos, sem selfie e sem foto do RG.</a:t>
            </a:r>
          </a:p>
        </p:txBody>
      </p:sp>
      <p:sp>
        <p:nvSpPr>
          <p:cNvPr id="10" name="Círculo 2"/>
          <p:cNvSpPr/>
          <p:nvPr/>
        </p:nvSpPr>
        <p:spPr>
          <a:xfrm>
            <a:off x="7534656" y="3200400"/>
            <a:ext cx="347472" cy="34747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534656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318211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Um golpista usa dados vazados da Paula com um chip novo: o cadastro é barrado.</a:t>
            </a:r>
          </a:p>
        </p:txBody>
      </p:sp>
      <p:sp>
        <p:nvSpPr>
          <p:cNvPr id="13" name="Círculo 3"/>
          <p:cNvSpPr/>
          <p:nvPr/>
        </p:nvSpPr>
        <p:spPr>
          <a:xfrm>
            <a:off x="7534656" y="4663440"/>
            <a:ext cx="347472" cy="34747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534656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464515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 operadora responde só “confere” ou “não confere”.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chamadas que fizemos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02 · Know Your Customer</a:t>
            </a:r>
          </a:p>
        </p:txBody>
      </p:sp>
      <p:pic>
        <p:nvPicPr>
          <p:cNvPr id="5" name="Picture 4" descr="diagrama_experimento_ky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007768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693568" y="1234440"/>
            <a:ext cx="5138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8A85"/>
                </a:solidFill>
                <a:latin typeface="Verdana"/>
              </a:rPr>
              <a:t>O que descobrimos</a:t>
            </a:r>
          </a:p>
        </p:txBody>
      </p:sp>
      <p:sp>
        <p:nvSpPr>
          <p:cNvPr id="7" name="Círculo 1"/>
          <p:cNvSpPr/>
          <p:nvPr/>
        </p:nvSpPr>
        <p:spPr>
          <a:xfrm>
            <a:off x="6693568" y="1737360"/>
            <a:ext cx="347472" cy="34747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6693568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9056" y="1719072"/>
            <a:ext cx="4663279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300 chamadas na varredura: 32 respostas diferentes mapeadas.</a:t>
            </a:r>
          </a:p>
        </p:txBody>
      </p:sp>
      <p:sp>
        <p:nvSpPr>
          <p:cNvPr id="10" name="Círculo 2"/>
          <p:cNvSpPr/>
          <p:nvPr/>
        </p:nvSpPr>
        <p:spPr>
          <a:xfrm>
            <a:off x="6693568" y="3200400"/>
            <a:ext cx="347472" cy="34747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6693568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9056" y="3182112"/>
            <a:ext cx="4663279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exemplo oficial “Adult” devolve menor de idade: a documentação errou.</a:t>
            </a:r>
          </a:p>
        </p:txBody>
      </p:sp>
      <p:sp>
        <p:nvSpPr>
          <p:cNvPr id="13" name="Círculo 3"/>
          <p:cNvSpPr/>
          <p:nvPr/>
        </p:nvSpPr>
        <p:spPr>
          <a:xfrm>
            <a:off x="6693568" y="4663440"/>
            <a:ext cx="347472" cy="34747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6693568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9056" y="4645152"/>
            <a:ext cx="4663279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No Tenure a data enviada muda a resposta para os finais 15 e 25.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POC: abertura de conta (caso_real.js)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02 · Know Your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1466576" cy="73152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08A85"/>
                </a:solidFill>
                <a:latin typeface="Verdana"/>
              </a:rPr>
              <a:t>Regra de decisão  </a:t>
            </a:r>
            <a:r>
              <a:rPr sz="1200" b="0" i="0">
                <a:solidFill>
                  <a:srgbClr val="1F2433"/>
                </a:solidFill>
                <a:latin typeface="Verdana"/>
              </a:rPr>
              <a:t>Menor de idade recusa · Match baixo bloqueia · misto vai para análise · sem dados ou erro pede documento e selfie · linha com menos de 6 meses aprova com limite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194560"/>
          <a:ext cx="11466572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3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3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8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Pedido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Cliente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Match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Linha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18+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Decisão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AC-001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Carla Lima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alto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antiga · pós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sim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APROVAR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Rafael Souza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alto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nova · pré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sim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APROVAR COM LIMITE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AC-003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Marcos Pereira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misto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nova · pós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sim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ANÁLISE MANUAL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Lucas Andrade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misto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antiga · premium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não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3121A"/>
                          </a:solidFill>
                          <a:latin typeface="Verdana"/>
                        </a:rPr>
                        <a:t>RECUSAR (menor)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AC-005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Paula Reis (golpe)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baixo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nova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sem dados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3121A"/>
                          </a:solidFill>
                          <a:latin typeface="Verdana"/>
                        </a:rPr>
                        <a:t>BLOQUEAR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Diego Martins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sem dados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nova · pós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sim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76767"/>
                          </a:solidFill>
                          <a:latin typeface="Verdana"/>
                        </a:rPr>
                        <a:t>MÉTODO TRADICIONAL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AC-007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Fábio Lima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alto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nova · pré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sim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APROVAR COM LIMITE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AC-008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Elisa Rocha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erro 404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erro 404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erro 400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76767"/>
                          </a:solidFill>
                          <a:latin typeface="Verdana"/>
                        </a:rPr>
                        <a:t>MÉTODO TRADICIONAL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cuidados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02 · Know Your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CircleCheck"/>
          <p:cNvSpPr/>
          <p:nvPr/>
        </p:nvSpPr>
        <p:spPr>
          <a:xfrm>
            <a:off x="493776" y="1280160"/>
            <a:ext cx="438912" cy="43891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CircleCheck" descr="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4" y="1385498"/>
            <a:ext cx="228234" cy="228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Vantagens</a:t>
            </a:r>
          </a:p>
        </p:txBody>
      </p:sp>
      <p:sp>
        <p:nvSpPr>
          <p:cNvPr id="9" name="Oval 8"/>
          <p:cNvSpPr/>
          <p:nvPr/>
        </p:nvSpPr>
        <p:spPr>
          <a:xfrm>
            <a:off x="493776" y="2029967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Cadastro em minutos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Sem foto de documento e sem selfie: menos clientes desistem no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" y="3108960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Fonte confiável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A operadora já cadastrou o titular da linha com documento.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" y="4187952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Privacidade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A operadora só diz “confere” ou “não confere”, sem entregar os dados.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" y="5266944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Pega o chip descartável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O Tenure mostra linhas recém-criadas, comuns em golpes.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FaTriangleExclamation"/>
          <p:cNvSpPr/>
          <p:nvPr/>
        </p:nvSpPr>
        <p:spPr>
          <a:xfrm>
            <a:off x="6409944" y="1280160"/>
            <a:ext cx="438912" cy="43891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FaTriangleExclamation" descr="FaTriangleExclamati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282" y="1385498"/>
            <a:ext cx="228234" cy="2282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13448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Desvantagens e cuidados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2029967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8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Cadastro desatualizado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Endereço antigo ou nome mudado na operadora geram “misto” para um cliente honesto.</a:t>
            </a:r>
          </a:p>
        </p:txBody>
      </p:sp>
      <p:sp>
        <p:nvSpPr>
          <p:cNvPr id="28" name="Oval 27"/>
          <p:cNvSpPr/>
          <p:nvPr/>
        </p:nvSpPr>
        <p:spPr>
          <a:xfrm>
            <a:off x="6409944" y="3108960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8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Titular não é o usuário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Linhas no nome dos pais ou de uma empresa respondem pelo titular, não por quem usa.</a:t>
            </a:r>
          </a:p>
        </p:txBody>
      </p:sp>
      <p:sp>
        <p:nvSpPr>
          <p:cNvPr id="31" name="Oval 30"/>
          <p:cNvSpPr/>
          <p:nvPr/>
        </p:nvSpPr>
        <p:spPr>
          <a:xfrm>
            <a:off x="6409944" y="4187952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8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Nem todo cadastro foi verificado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O campo verifiedStatus mostra quando o dado é só declarado.</a:t>
            </a:r>
          </a:p>
        </p:txBody>
      </p:sp>
      <p:sp>
        <p:nvSpPr>
          <p:cNvPr id="34" name="Oval 33"/>
          <p:cNvSpPr/>
          <p:nvPr/>
        </p:nvSpPr>
        <p:spPr>
          <a:xfrm>
            <a:off x="6409944" y="5266944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39128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Não resolve tudo sozinho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Regras do setor podem exigir outras verificações. Cobertura e preço variam por operadora.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 b="0" i="0"/>
              <a:t>Módulo 03</a:t>
            </a:r>
          </a:p>
          <a:p>
            <a:r>
              <a:rPr sz="3200" b="1" i="0"/>
              <a:t>Código por SMS (OTP)</a:t>
            </a:r>
          </a:p>
          <a:p>
            <a:r>
              <a:rPr sz="1600" b="0" i="1"/>
              <a:t>“O código que o cliente digitou é o que a operadora mandou?”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operadora envia e confere o código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03 · Código por 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02A8D"/>
                </a:solidFill>
                <a:latin typeface="Verdana"/>
              </a:rPr>
              <a:t>1. ENVIAR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Telefone + texto com {{code}}. Recebemos um authenticationId, o “protocolo”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02A8D"/>
                </a:solidFill>
                <a:latin typeface="Verdana"/>
              </a:rPr>
              <a:t>2. VALIDAR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15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Protocolo + código digitado. Recebemos 204 (aceito) ou um erro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02A8D"/>
                </a:solidFill>
                <a:latin typeface="Verdana"/>
              </a:rPr>
              <a:t>DETALHE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58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O app nunca vê o código: só a operadora e o celular do 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6949440" cy="822959"/>
          </a:xfrm>
          <a:prstGeom prst="roundRect">
            <a:avLst>
              <a:gd name="adj" fmla="val 8888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/one-time-password-sms/v1/send-code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/one-time-password-sms/v1/validate-code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280160"/>
            <a:ext cx="4151376" cy="4617720"/>
          </a:xfrm>
          <a:prstGeom prst="roundRect">
            <a:avLst>
              <a:gd name="adj" fmla="val 1762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Onde se usa</a:t>
            </a:r>
          </a:p>
        </p:txBody>
      </p:sp>
      <p:sp>
        <p:nvSpPr>
          <p:cNvPr id="15" name="Círculo FaRightToBracket"/>
          <p:cNvSpPr/>
          <p:nvPr/>
        </p:nvSpPr>
        <p:spPr>
          <a:xfrm>
            <a:off x="7955279" y="2103120"/>
            <a:ext cx="548640" cy="548640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FaRightToBracket" descr="FaRightToBrack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3" y="223479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0" y="208483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Login no app</a:t>
            </a:r>
          </a:p>
        </p:txBody>
      </p:sp>
      <p:sp>
        <p:nvSpPr>
          <p:cNvPr id="18" name="Círculo FaMoneyBillTransfer"/>
          <p:cNvSpPr/>
          <p:nvPr/>
        </p:nvSpPr>
        <p:spPr>
          <a:xfrm>
            <a:off x="7955279" y="3291839"/>
            <a:ext cx="548640" cy="548640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FaMoneyBillTransfer" descr="FaMoneyBillTransf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3" y="3423513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0" y="327355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Confirmar Pix ou troca de senha</a:t>
            </a:r>
          </a:p>
        </p:txBody>
      </p:sp>
      <p:sp>
        <p:nvSpPr>
          <p:cNvPr id="21" name="Círculo FaMobileScreen"/>
          <p:cNvSpPr/>
          <p:nvPr/>
        </p:nvSpPr>
        <p:spPr>
          <a:xfrm>
            <a:off x="7955279" y="4480560"/>
            <a:ext cx="548640" cy="548640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FaMobileScreen" descr="FaMobileScree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3" y="461223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0" y="4462272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Confirmar o número no cadastro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login e Pix com código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03 · Código por SMS</a:t>
            </a:r>
          </a:p>
        </p:txBody>
      </p:sp>
      <p:pic>
        <p:nvPicPr>
          <p:cNvPr id="5" name="Picture 4" descr="cenario_codigo_s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848855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534656" y="1234440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02A8D"/>
                </a:solidFill>
                <a:latin typeface="Verdana"/>
              </a:rPr>
              <a:t>Para contar a história</a:t>
            </a:r>
          </a:p>
        </p:txBody>
      </p:sp>
      <p:sp>
        <p:nvSpPr>
          <p:cNvPr id="7" name="Círculo 1"/>
          <p:cNvSpPr/>
          <p:nvPr/>
        </p:nvSpPr>
        <p:spPr>
          <a:xfrm>
            <a:off x="7534656" y="1737360"/>
            <a:ext cx="347472" cy="347472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534656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171907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Ana confirma um Pix de R$ 800 com o código que chegou ao celular dela.</a:t>
            </a:r>
          </a:p>
        </p:txBody>
      </p:sp>
      <p:sp>
        <p:nvSpPr>
          <p:cNvPr id="10" name="Círculo 2"/>
          <p:cNvSpPr/>
          <p:nvPr/>
        </p:nvSpPr>
        <p:spPr>
          <a:xfrm>
            <a:off x="7534656" y="3200400"/>
            <a:ext cx="347472" cy="347472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534656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318211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Um golpista tem a senha da Ana, mas não o celular: erra os códigos e é bloqueado.</a:t>
            </a:r>
          </a:p>
        </p:txBody>
      </p:sp>
      <p:sp>
        <p:nvSpPr>
          <p:cNvPr id="13" name="Círculo 3"/>
          <p:cNvSpPr/>
          <p:nvPr/>
        </p:nvSpPr>
        <p:spPr>
          <a:xfrm>
            <a:off x="7534656" y="4663440"/>
            <a:ext cx="347472" cy="347472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534656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464515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Atenção: na troca de chip o SMS vai para o golpista. Combinar com a API SIM Swap.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chamadas que fizemos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03 · Código por SMS</a:t>
            </a:r>
          </a:p>
        </p:txBody>
      </p:sp>
      <p:pic>
        <p:nvPicPr>
          <p:cNvPr id="5" name="Picture 4" descr="diagrama_otp_s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522720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208520" y="1234440"/>
            <a:ext cx="4623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02A8D"/>
                </a:solidFill>
                <a:latin typeface="Verdana"/>
              </a:rPr>
              <a:t>O que descobrimos</a:t>
            </a:r>
          </a:p>
        </p:txBody>
      </p:sp>
      <p:sp>
        <p:nvSpPr>
          <p:cNvPr id="7" name="Círculo 1"/>
          <p:cNvSpPr/>
          <p:nvPr/>
        </p:nvSpPr>
        <p:spPr>
          <a:xfrm>
            <a:off x="7208520" y="1737360"/>
            <a:ext cx="347472" cy="347472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208520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4007" y="1719072"/>
            <a:ext cx="4148328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Os finais 60–79 e 82 devolvem PHONE_NUMBER_BLOCKED, que não está na documentação.</a:t>
            </a:r>
          </a:p>
        </p:txBody>
      </p:sp>
      <p:sp>
        <p:nvSpPr>
          <p:cNvPr id="10" name="Círculo 2"/>
          <p:cNvSpPr/>
          <p:nvPr/>
        </p:nvSpPr>
        <p:spPr>
          <a:xfrm>
            <a:off x="7208520" y="3200400"/>
            <a:ext cx="347472" cy="347472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208520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4007" y="3182112"/>
            <a:ext cx="4148328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Código errado, expirado e tentativas demais viram o mesmo 400 genérico.</a:t>
            </a:r>
          </a:p>
        </p:txBody>
      </p:sp>
      <p:sp>
        <p:nvSpPr>
          <p:cNvPr id="13" name="Círculo 3"/>
          <p:cNvSpPr/>
          <p:nvPr/>
        </p:nvSpPr>
        <p:spPr>
          <a:xfrm>
            <a:off x="7208520" y="4663440"/>
            <a:ext cx="347472" cy="347472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208520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4007" y="4645152"/>
            <a:ext cx="4148328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authenticationId do sandbox é sempre o mesmo valor.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POC: login e Pix com código (caso_real.js)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03 · Código por 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1466576" cy="73152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802A8D"/>
                </a:solidFill>
                <a:latin typeface="Verdana"/>
              </a:rPr>
              <a:t>Regra de decisão  </a:t>
            </a:r>
            <a:r>
              <a:rPr sz="1200" b="0" i="0">
                <a:solidFill>
                  <a:srgbClr val="1F2433"/>
                </a:solidFill>
                <a:latin typeface="Verdana"/>
              </a:rPr>
              <a:t>SMS recusado: aguardar ou usar outro método · código recusado conta uma tentativa · 3 erros bloqueiam e avisam o cliente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194560"/>
          <a:ext cx="11466575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4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5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6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Operação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Cliente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Situação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O que aconteceu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Decisão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OP-001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Ana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Pix de R$ 800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código aceito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LIBERAR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Golpista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Login com senha roubada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3 códigos recusados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3121A"/>
                          </a:solidFill>
                          <a:latin typeface="Verdana"/>
                        </a:rPr>
                        <a:t>BLOQUEAR E ALERTAR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OP-003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Bruno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Login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erra e depois acerta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LIBERAR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Carla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Troca de senha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número bloqueado para SMS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76767"/>
                          </a:solidFill>
                          <a:latin typeface="Verdana"/>
                        </a:rPr>
                        <a:t>OUTRO MÉTODO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OP-005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Diego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Pix de R$ 150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códigos demais pedidos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AGUARDAR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OP-006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Elisa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Login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SMS não permitido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76767"/>
                          </a:solidFill>
                          <a:latin typeface="Verdana"/>
                        </a:rPr>
                        <a:t>OUTRO MÉTODO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SMS tradicional × código pela operadora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03 · Código por SMS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66575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9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9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SMS tradicional (agregador)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Código pela operadora (CAMARA)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2D66"/>
                          </a:solidFill>
                          <a:latin typeface="Verdana"/>
                        </a:rPr>
                        <a:t>Quem gera o código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 nosso app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 operadora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2D66"/>
                          </a:solidFill>
                          <a:latin typeface="Verdana"/>
                        </a:rPr>
                        <a:t>Onde o código fica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No banco de dados e nos logs do app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Só na operadora e no celular do cliente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2D66"/>
                          </a:solidFill>
                          <a:latin typeface="Verdana"/>
                        </a:rPr>
                        <a:t>Prazo e tentativas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 app precisa programar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 operadora controla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2D66"/>
                          </a:solidFill>
                          <a:latin typeface="Verdana"/>
                        </a:rPr>
                        <a:t>Caminho da mensagem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App → agregador → operadora → celular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Operadora → celular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2D66"/>
                          </a:solidFill>
                          <a:latin typeface="Verdana"/>
                        </a:rPr>
                        <a:t>Integração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Uma chamada: enviar o texto pronto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Duas chamadas: enviar e validar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2D66"/>
                          </a:solidFill>
                          <a:latin typeface="Verdana"/>
                        </a:rPr>
                        <a:t>Cobertura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Qualquer número, em qualquer operadora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Só operadoras que oferecem a API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2D66"/>
                          </a:solidFill>
                          <a:latin typeface="Verdana"/>
                        </a:rPr>
                        <a:t>Troca de chip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Vulnerável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Vulnerável: combinar com o SIM Swap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349240"/>
            <a:ext cx="11466576" cy="685800"/>
          </a:xfrm>
          <a:prstGeom prst="roundRect">
            <a:avLst>
              <a:gd name="adj" fmla="val 10666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534924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Nos dois casos o código chega por SMS. A diferença é quem gera, guarda e confere o código.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cuidados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03 · Código por 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CircleCheck"/>
          <p:cNvSpPr/>
          <p:nvPr/>
        </p:nvSpPr>
        <p:spPr>
          <a:xfrm>
            <a:off x="493776" y="1280160"/>
            <a:ext cx="438912" cy="43891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CircleCheck" descr="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4" y="1385498"/>
            <a:ext cx="228234" cy="228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Vantagens</a:t>
            </a:r>
          </a:p>
        </p:txBody>
      </p:sp>
      <p:sp>
        <p:nvSpPr>
          <p:cNvPr id="9" name="Oval 8"/>
          <p:cNvSpPr/>
          <p:nvPr/>
        </p:nvSpPr>
        <p:spPr>
          <a:xfrm>
            <a:off x="493776" y="2029967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O código não passa pelo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Não há código guardado em banco de dados ou em log para vazar.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" y="3108960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Regras de segurança prontas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Prazo de validade, limite de tentativas e de envios ficam com a operadora.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" y="4187952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Menos intermediários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A mensagem sai direto da operadora, sem passar por um agregador de SMS.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" y="5266944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Padrão único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A mesma integração vale para qualquer operadora que ofereça a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FaTriangleExclamation"/>
          <p:cNvSpPr/>
          <p:nvPr/>
        </p:nvSpPr>
        <p:spPr>
          <a:xfrm>
            <a:off x="6409944" y="1280160"/>
            <a:ext cx="438912" cy="43891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FaTriangleExclamation" descr="FaTriangleExclamati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282" y="1385498"/>
            <a:ext cx="228234" cy="2282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13448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Desvantagens e cuidados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2029967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8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Continua sendo SMS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Na troca de chip o código chega ao golpista. Combinar com o SIM Swap (módulo 05).</a:t>
            </a:r>
          </a:p>
        </p:txBody>
      </p:sp>
      <p:sp>
        <p:nvSpPr>
          <p:cNvPr id="28" name="Oval 27"/>
          <p:cNvSpPr/>
          <p:nvPr/>
        </p:nvSpPr>
        <p:spPr>
          <a:xfrm>
            <a:off x="6409944" y="3108960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8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Engenharia social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Se o cliente for enganado e repassar o código, nenhuma API impede.</a:t>
            </a:r>
          </a:p>
        </p:txBody>
      </p:sp>
      <p:sp>
        <p:nvSpPr>
          <p:cNvPr id="31" name="Oval 30"/>
          <p:cNvSpPr/>
          <p:nvPr/>
        </p:nvSpPr>
        <p:spPr>
          <a:xfrm>
            <a:off x="6409944" y="4187952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8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Cobertura menor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Só funciona com operadoras que oferecem a API. O agregador alcança qualquer número.</a:t>
            </a:r>
          </a:p>
        </p:txBody>
      </p:sp>
      <p:sp>
        <p:nvSpPr>
          <p:cNvPr id="34" name="Oval 33"/>
          <p:cNvSpPr/>
          <p:nvPr/>
        </p:nvSpPr>
        <p:spPr>
          <a:xfrm>
            <a:off x="6409944" y="5266944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39128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Erros pouco detalhados no sandbox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Código errado, expirado e tentativas demais vieram como o mesmo 400.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 b="0" i="0"/>
              <a:t>Módulo 04</a:t>
            </a:r>
          </a:p>
          <a:p>
            <a:r>
              <a:rPr sz="3200" b="1" i="0"/>
              <a:t>Localização do aparelho</a:t>
            </a:r>
          </a:p>
          <a:p>
            <a:r>
              <a:rPr sz="1600" b="0" i="1"/>
              <a:t>“Onde está este celular agora?”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operadora devolve onde o celular está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04 · Localização do aparelho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Verdana"/>
              </a:rPr>
              <a:t>PERGUNTA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Onde está o celular deste número?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Verdana"/>
              </a:rPr>
              <a:t>ENVIAMOS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15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Só o telefone e, se quiser, a idade máxima da posição (maxAge)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Verdana"/>
              </a:rPr>
              <a:t>RECEBEMOS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58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Uma área aproximada: círculo (centro e raio) ou polígono, com o horário da posição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/device-location-retrieval/v0.3/retrieve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280160"/>
            <a:ext cx="4151376" cy="4617720"/>
          </a:xfrm>
          <a:prstGeom prst="roundRect">
            <a:avLst>
              <a:gd name="adj" fmla="val 1762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Onde se usa</a:t>
            </a:r>
          </a:p>
        </p:txBody>
      </p:sp>
      <p:sp>
        <p:nvSpPr>
          <p:cNvPr id="15" name="Círculo FaTruck"/>
          <p:cNvSpPr/>
          <p:nvPr/>
        </p:nvSpPr>
        <p:spPr>
          <a:xfrm>
            <a:off x="7955279" y="2103120"/>
            <a:ext cx="548640" cy="54864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FaTruck" descr="FaTru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3" y="223479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0" y="208483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Assistência 24h e guincho</a:t>
            </a:r>
          </a:p>
        </p:txBody>
      </p:sp>
      <p:sp>
        <p:nvSpPr>
          <p:cNvPr id="18" name="Círculo FaTruckMedical"/>
          <p:cNvSpPr/>
          <p:nvPr/>
        </p:nvSpPr>
        <p:spPr>
          <a:xfrm>
            <a:off x="7955279" y="3291839"/>
            <a:ext cx="548640" cy="54864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FaTruckMedical" descr="FaTruckMedic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3" y="3423513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0" y="327355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Atendimento de emergência</a:t>
            </a:r>
          </a:p>
        </p:txBody>
      </p:sp>
      <p:sp>
        <p:nvSpPr>
          <p:cNvPr id="21" name="Círculo FaRoute"/>
          <p:cNvSpPr/>
          <p:nvPr/>
        </p:nvSpPr>
        <p:spPr>
          <a:xfrm>
            <a:off x="7955279" y="4480560"/>
            <a:ext cx="548640" cy="54864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FaRoute" descr="FaRou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3" y="461223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0" y="4462272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Gestão de frota e entregas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socorro na estrada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04 · Localização do aparelho</a:t>
            </a:r>
          </a:p>
        </p:txBody>
      </p:sp>
      <p:pic>
        <p:nvPicPr>
          <p:cNvPr id="5" name="Picture 4" descr="cenario_guinc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649374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35174" y="1234440"/>
            <a:ext cx="449716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86E00"/>
                </a:solidFill>
                <a:latin typeface="Verdana"/>
              </a:rPr>
              <a:t>Para contar a história</a:t>
            </a:r>
          </a:p>
        </p:txBody>
      </p:sp>
      <p:sp>
        <p:nvSpPr>
          <p:cNvPr id="7" name="Círculo 1"/>
          <p:cNvSpPr/>
          <p:nvPr/>
        </p:nvSpPr>
        <p:spPr>
          <a:xfrm>
            <a:off x="7335174" y="1737360"/>
            <a:ext cx="347472" cy="34747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335174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662" y="171907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Carla, à noite numa rodovia: a operadora informa um raio de 800 m e o guincho vai até ela.</a:t>
            </a:r>
          </a:p>
        </p:txBody>
      </p:sp>
      <p:sp>
        <p:nvSpPr>
          <p:cNvPr id="10" name="Círculo 2"/>
          <p:cNvSpPr/>
          <p:nvPr/>
        </p:nvSpPr>
        <p:spPr>
          <a:xfrm>
            <a:off x="7335174" y="3200400"/>
            <a:ext cx="347472" cy="34747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335174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662" y="318211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Rafael está sem sinal: sem posição recente, o atendente liga para confirmar o local.</a:t>
            </a:r>
          </a:p>
        </p:txBody>
      </p:sp>
      <p:sp>
        <p:nvSpPr>
          <p:cNvPr id="13" name="Círculo 3"/>
          <p:cNvSpPr/>
          <p:nvPr/>
        </p:nvSpPr>
        <p:spPr>
          <a:xfrm>
            <a:off x="7335174" y="4663440"/>
            <a:ext cx="347472" cy="34747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335174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662" y="464515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 área é aproximada e só é consultada com autorização do cliente.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chamadas que fizemos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04 · Localização do aparelho</a:t>
            </a:r>
          </a:p>
        </p:txBody>
      </p:sp>
      <p:pic>
        <p:nvPicPr>
          <p:cNvPr id="5" name="Picture 4" descr="diagrama_retri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848855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534656" y="1234440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86E00"/>
                </a:solidFill>
                <a:latin typeface="Verdana"/>
              </a:rPr>
              <a:t>O que descobrimos</a:t>
            </a:r>
          </a:p>
        </p:txBody>
      </p:sp>
      <p:sp>
        <p:nvSpPr>
          <p:cNvPr id="7" name="Círculo 1"/>
          <p:cNvSpPr/>
          <p:nvPr/>
        </p:nvSpPr>
        <p:spPr>
          <a:xfrm>
            <a:off x="7534656" y="1737360"/>
            <a:ext cx="347472" cy="34747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534656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171907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Finais 00–49 devolvem círculo, 50–89 polígono e 90–93 erros.</a:t>
            </a:r>
          </a:p>
        </p:txBody>
      </p:sp>
      <p:sp>
        <p:nvSpPr>
          <p:cNvPr id="10" name="Círculo 2"/>
          <p:cNvSpPr/>
          <p:nvPr/>
        </p:nvSpPr>
        <p:spPr>
          <a:xfrm>
            <a:off x="7534656" y="3200400"/>
            <a:ext cx="347472" cy="34747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534656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318211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 posição é sempre “agora” e sempre em Lyon. O maxAge não muda nada.</a:t>
            </a:r>
          </a:p>
        </p:txBody>
      </p:sp>
      <p:sp>
        <p:nvSpPr>
          <p:cNvPr id="13" name="Círculo 3"/>
          <p:cNvSpPr/>
          <p:nvPr/>
        </p:nvSpPr>
        <p:spPr>
          <a:xfrm>
            <a:off x="7534656" y="4663440"/>
            <a:ext cx="347472" cy="34747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534656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464515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erro 403 aparece quando o token não tem a permissão da API.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POC: assistência 24h (caso_real.js)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04 · Localização do aparelho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1466576" cy="73152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B86E00"/>
                </a:solidFill>
                <a:latin typeface="Verdana"/>
              </a:rPr>
              <a:t>Regra de decisão  </a:t>
            </a:r>
            <a:r>
              <a:rPr sz="1200" b="0" i="0">
                <a:solidFill>
                  <a:srgbClr val="1F2433"/>
                </a:solidFill>
                <a:latin typeface="Verdana"/>
              </a:rPr>
              <a:t>Área de até 2 km: envia o guincho mais próximo · área maior: envia e liga para confirmar · posição com mais de 10 min ou erro: liga para o cliente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194560"/>
          <a:ext cx="11466574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2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4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5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Chamado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Cliente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Resposta da operadora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Decisão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SOS-01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Carla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círculo de 800 m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ENVIAR GUINCHO · 2,2 km, cerca de 13 min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SOS-02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Marcos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polígono (cerca de 17 m)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ENVIAR GUINCHO · polígono vira centro + raio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SOS-03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Rafael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404: aparelho não localizado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LIGAR PARA O CLIENTE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SOS-04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Diego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503: serviço indisponível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LIGAR PARA O CLIENTE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SOS-05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Lucas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401: credencial recusada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LIGAR E AVISAR A EQUIPE TÉCNICA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SOS-06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Elisa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400: requisição inválida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LIGAR PARA O CLIENTE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cuidados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04 · Localização do aparelho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CircleCheck"/>
          <p:cNvSpPr/>
          <p:nvPr/>
        </p:nvSpPr>
        <p:spPr>
          <a:xfrm>
            <a:off x="493776" y="1280160"/>
            <a:ext cx="438912" cy="43891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CircleCheck" descr="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4" y="1385498"/>
            <a:ext cx="228234" cy="228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Vantagens</a:t>
            </a:r>
          </a:p>
        </p:txBody>
      </p:sp>
      <p:sp>
        <p:nvSpPr>
          <p:cNvPr id="9" name="Oval 8"/>
          <p:cNvSpPr/>
          <p:nvPr/>
        </p:nvSpPr>
        <p:spPr>
          <a:xfrm>
            <a:off x="493776" y="2029967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Localiza sem app e sem GPS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Funciona mesmo que o cliente não saiba ou não consiga dizer onde está.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" y="3108960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Atendimento mais rápido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O guincho ou o socorro sai sem depender de uma ligação para explicar o local.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" y="4187952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Qualquer celular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Vale para aparelhos simples, sem internet.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" y="5266944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Resposta pronta para usar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Círculo ou polígono, já com o horário da posição.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FaTriangleExclamation"/>
          <p:cNvSpPr/>
          <p:nvPr/>
        </p:nvSpPr>
        <p:spPr>
          <a:xfrm>
            <a:off x="6409944" y="1280160"/>
            <a:ext cx="438912" cy="43891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FaTriangleExclamation" descr="FaTriangleExclamati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282" y="1385498"/>
            <a:ext cx="228234" cy="2282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13448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Desvantagens e cuidados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2029967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8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Área aproximada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Em estrada, a área pode passar de quilômetros. Não é o ponto exato.</a:t>
            </a:r>
          </a:p>
        </p:txBody>
      </p:sp>
      <p:sp>
        <p:nvSpPr>
          <p:cNvPr id="28" name="Oval 27"/>
          <p:cNvSpPr/>
          <p:nvPr/>
        </p:nvSpPr>
        <p:spPr>
          <a:xfrm>
            <a:off x="6409944" y="3108960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8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Dado sensível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Exige consentimento explícito e uso restrito à finalidade (LGPD).</a:t>
            </a:r>
          </a:p>
        </p:txBody>
      </p:sp>
      <p:sp>
        <p:nvSpPr>
          <p:cNvPr id="31" name="Oval 30"/>
          <p:cNvSpPr/>
          <p:nvPr/>
        </p:nvSpPr>
        <p:spPr>
          <a:xfrm>
            <a:off x="6409944" y="4187952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8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Sem sinal, sem posição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Celular desligado ou fora de cobertura não é localizado.</a:t>
            </a:r>
          </a:p>
        </p:txBody>
      </p:sp>
      <p:sp>
        <p:nvSpPr>
          <p:cNvPr id="34" name="Oval 33"/>
          <p:cNvSpPr/>
          <p:nvPr/>
        </p:nvSpPr>
        <p:spPr>
          <a:xfrm>
            <a:off x="6409944" y="5266944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39128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Só a posição recente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Não há histórico de onde o celular esteve.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 b="0" i="0" dirty="0" err="1"/>
              <a:t>Módulo</a:t>
            </a:r>
            <a:r>
              <a:rPr sz="1600" b="0" i="0" dirty="0"/>
              <a:t> 05</a:t>
            </a:r>
          </a:p>
          <a:p>
            <a:r>
              <a:rPr sz="3200" b="1" i="0" dirty="0" err="1"/>
              <a:t>Troca</a:t>
            </a:r>
            <a:r>
              <a:rPr sz="3200" b="1" i="0" dirty="0"/>
              <a:t> de chip (SIM Swap)</a:t>
            </a:r>
          </a:p>
          <a:p>
            <a:r>
              <a:rPr sz="1600" b="0" i="1" dirty="0"/>
              <a:t>“O chip </a:t>
            </a:r>
            <a:r>
              <a:rPr sz="1600" b="0" i="1" dirty="0" err="1"/>
              <a:t>deste</a:t>
            </a:r>
            <a:r>
              <a:rPr sz="1600" b="0" i="1" dirty="0"/>
              <a:t> </a:t>
            </a:r>
            <a:r>
              <a:rPr sz="1600" b="0" i="1" dirty="0" err="1"/>
              <a:t>número</a:t>
            </a:r>
            <a:r>
              <a:rPr sz="1600" b="0" i="1" dirty="0"/>
              <a:t> </a:t>
            </a:r>
            <a:r>
              <a:rPr sz="1600" b="0" i="1" dirty="0" err="1"/>
              <a:t>foi</a:t>
            </a:r>
            <a:r>
              <a:rPr sz="1600" b="0" i="1" dirty="0"/>
              <a:t> </a:t>
            </a:r>
            <a:r>
              <a:rPr sz="1600" b="0" i="1" dirty="0" err="1"/>
              <a:t>trocado</a:t>
            </a:r>
            <a:r>
              <a:rPr sz="1600" b="0" i="1" dirty="0"/>
              <a:t> </a:t>
            </a:r>
            <a:r>
              <a:rPr sz="1600" b="0" i="1" dirty="0" err="1"/>
              <a:t>recentemente</a:t>
            </a:r>
            <a:r>
              <a:rPr sz="1600" b="0" i="1" dirty="0"/>
              <a:t>?”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operadora conta quando o chip foi trocado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05 · Troca de chip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076F"/>
                </a:solidFill>
                <a:latin typeface="Verdana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Foi trocado nas últimas X horas (maxAge de 1 a 2400)? Resposta: swapped true ou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076F"/>
                </a:solidFill>
                <a:latin typeface="Verdana"/>
              </a:rPr>
              <a:t>RETRIEVE-DATE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15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Quando foi a última troca? Resposta: uma data, ou null se nunca foi trocado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076F"/>
                </a:solidFill>
                <a:latin typeface="Verdana"/>
              </a:rPr>
              <a:t>POR QUE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58768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433"/>
                </a:solidFill>
                <a:latin typeface="Verdana"/>
              </a:rPr>
              <a:t>No golpe da troca de chip, o SMS do banco passa a chegar ao golpista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6949440" cy="822959"/>
          </a:xfrm>
          <a:prstGeom prst="roundRect">
            <a:avLst>
              <a:gd name="adj" fmla="val 8888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/sim-swap/v1/check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POST /sim-swap/v1/retrieve-date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280160"/>
            <a:ext cx="4151376" cy="4617720"/>
          </a:xfrm>
          <a:prstGeom prst="roundRect">
            <a:avLst>
              <a:gd name="adj" fmla="val 1762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Onde se usa</a:t>
            </a:r>
          </a:p>
        </p:txBody>
      </p:sp>
      <p:sp>
        <p:nvSpPr>
          <p:cNvPr id="15" name="Círculo FaMoneyBillTransfer"/>
          <p:cNvSpPr/>
          <p:nvPr/>
        </p:nvSpPr>
        <p:spPr>
          <a:xfrm>
            <a:off x="7955279" y="2103120"/>
            <a:ext cx="548640" cy="548640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FaMoneyBillTransfer" descr="FaMoneyBillTransf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3" y="223479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0" y="208483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Antes de Pix alto ou troca de senha</a:t>
            </a:r>
          </a:p>
        </p:txBody>
      </p:sp>
      <p:sp>
        <p:nvSpPr>
          <p:cNvPr id="18" name="Círculo FaCommentSms"/>
          <p:cNvSpPr/>
          <p:nvPr/>
        </p:nvSpPr>
        <p:spPr>
          <a:xfrm>
            <a:off x="7955279" y="3291839"/>
            <a:ext cx="548640" cy="548640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FaCommentSms" descr="FaCommentSm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3" y="3423513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0" y="3273551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Decidir se é seguro enviar código SMS</a:t>
            </a:r>
          </a:p>
        </p:txBody>
      </p:sp>
      <p:sp>
        <p:nvSpPr>
          <p:cNvPr id="21" name="Círculo FaMobileScreen"/>
          <p:cNvSpPr/>
          <p:nvPr/>
        </p:nvSpPr>
        <p:spPr>
          <a:xfrm>
            <a:off x="7955279" y="4480560"/>
            <a:ext cx="548640" cy="548640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FaMobileScreen" descr="FaMobileScree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3" y="461223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86800" y="4462272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3"/>
                </a:solidFill>
                <a:latin typeface="Verdana"/>
              </a:rPr>
              <a:t>Cadastrar um novo celular no app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Cenário: o golpe da troca de chip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05 · Troca de chip</a:t>
            </a:r>
          </a:p>
        </p:txBody>
      </p:sp>
      <p:pic>
        <p:nvPicPr>
          <p:cNvPr id="5" name="Picture 4" descr="cenario_troca_de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649374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35174" y="1234440"/>
            <a:ext cx="449716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076F"/>
                </a:solidFill>
                <a:latin typeface="Verdana"/>
              </a:rPr>
              <a:t>Para contar a história</a:t>
            </a:r>
          </a:p>
        </p:txBody>
      </p:sp>
      <p:sp>
        <p:nvSpPr>
          <p:cNvPr id="7" name="Círculo 1"/>
          <p:cNvSpPr/>
          <p:nvPr/>
        </p:nvSpPr>
        <p:spPr>
          <a:xfrm>
            <a:off x="7335174" y="1737360"/>
            <a:ext cx="347472" cy="347472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335174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662" y="171907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Ana tem o chip de sempre: o código SMS é enviado e o Pix segue.</a:t>
            </a:r>
          </a:p>
        </p:txBody>
      </p:sp>
      <p:sp>
        <p:nvSpPr>
          <p:cNvPr id="10" name="Círculo 2"/>
          <p:cNvSpPr/>
          <p:nvPr/>
        </p:nvSpPr>
        <p:spPr>
          <a:xfrm>
            <a:off x="7335174" y="3200400"/>
            <a:ext cx="347472" cy="347472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335174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662" y="318211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golpista ativou o número do Bruno num chip novo: o banco não envia o SMS.</a:t>
            </a:r>
          </a:p>
        </p:txBody>
      </p:sp>
      <p:sp>
        <p:nvSpPr>
          <p:cNvPr id="13" name="Círculo 3"/>
          <p:cNvSpPr/>
          <p:nvPr/>
        </p:nvSpPr>
        <p:spPr>
          <a:xfrm>
            <a:off x="7335174" y="4663440"/>
            <a:ext cx="347472" cy="347472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335174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662" y="4645152"/>
            <a:ext cx="4021673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Troca recente pede verificação extra, não bloqueio: quase toda troca é legítima.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chamadas que fizemos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05 · Troca de chip</a:t>
            </a:r>
          </a:p>
        </p:txBody>
      </p:sp>
      <p:pic>
        <p:nvPicPr>
          <p:cNvPr id="5" name="Picture 4" descr="diagrama_sim_sw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6848855" cy="489204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534656" y="1234440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076F"/>
                </a:solidFill>
                <a:latin typeface="Verdana"/>
              </a:rPr>
              <a:t>O que descobrimos</a:t>
            </a:r>
          </a:p>
        </p:txBody>
      </p:sp>
      <p:sp>
        <p:nvSpPr>
          <p:cNvPr id="7" name="Círculo 1"/>
          <p:cNvSpPr/>
          <p:nvPr/>
        </p:nvSpPr>
        <p:spPr>
          <a:xfrm>
            <a:off x="7534656" y="1737360"/>
            <a:ext cx="347472" cy="347472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úmero 1"/>
          <p:cNvSpPr txBox="1"/>
          <p:nvPr/>
        </p:nvSpPr>
        <p:spPr>
          <a:xfrm>
            <a:off x="7534656" y="1737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171907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Finais 10–19: troca há 5 dias. Finais 20–29: há 30 dias. Os demais nunca trocaram.</a:t>
            </a:r>
          </a:p>
        </p:txBody>
      </p:sp>
      <p:sp>
        <p:nvSpPr>
          <p:cNvPr id="10" name="Círculo 2"/>
          <p:cNvSpPr/>
          <p:nvPr/>
        </p:nvSpPr>
        <p:spPr>
          <a:xfrm>
            <a:off x="7534656" y="3200400"/>
            <a:ext cx="347472" cy="347472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úmero 2"/>
          <p:cNvSpPr txBox="1"/>
          <p:nvPr/>
        </p:nvSpPr>
        <p:spPr>
          <a:xfrm>
            <a:off x="7534656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318211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O check ignora a janela: responde “trocado” até com maxAge de 1 hora.</a:t>
            </a:r>
          </a:p>
        </p:txBody>
      </p:sp>
      <p:sp>
        <p:nvSpPr>
          <p:cNvPr id="13" name="Círculo 3"/>
          <p:cNvSpPr/>
          <p:nvPr/>
        </p:nvSpPr>
        <p:spPr>
          <a:xfrm>
            <a:off x="7534656" y="4663440"/>
            <a:ext cx="347472" cy="347472"/>
          </a:xfrm>
          <a:prstGeom prst="ellipse">
            <a:avLst/>
          </a:prstGeom>
          <a:solidFill>
            <a:srgbClr val="EA08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úmero 3"/>
          <p:cNvSpPr txBox="1"/>
          <p:nvPr/>
        </p:nvSpPr>
        <p:spPr>
          <a:xfrm>
            <a:off x="7534656" y="4663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4645152"/>
            <a:ext cx="3822191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Por isso a POC usa o retrieve-date e calcula a janela do nosso lado.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POC: proteção de operações (caso_real.js)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05 · Troca de chip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1466576" cy="73152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C2076F"/>
                </a:solidFill>
                <a:latin typeface="Verdana"/>
              </a:rPr>
              <a:t>Regra de decisão  </a:t>
            </a:r>
            <a:r>
              <a:rPr sz="1200" b="0" i="0">
                <a:solidFill>
                  <a:srgbClr val="1F2433"/>
                </a:solidFill>
                <a:latin typeface="Verdana"/>
              </a:rPr>
              <a:t>Troca há menos de 7 dias bloqueia e pede biometria · até 60 dias libera com limite · nunca trocado libera · operadora sem resposta pede verificação extra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194560"/>
          <a:ext cx="11466573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2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8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9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6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Operação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Cliente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Ação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Última troca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Decisão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OP-01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Ana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Pix de R$ 5.000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nunca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LIBERAR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Bruno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Troca de senha por SMS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há 5 dias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3121A"/>
                          </a:solidFill>
                          <a:latin typeface="Verdana"/>
                        </a:rPr>
                        <a:t>BLOQUEAR E VERIFICAR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OP-03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Carla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Pix de R$ 2.000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há 30 dias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LIBERAR COM LIMITE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Diego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Novo celular no app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nunca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LIBERAR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OP-05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Elisa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Pix de R$ 800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erro 404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VERIFICAÇÃO EXTRA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OP-06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Fábio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Troca de senha por SMS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erro 503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VERIFICAÇÃO EXTRA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cuidados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Módulo 05 · Troca de chip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E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CircleCheck"/>
          <p:cNvSpPr/>
          <p:nvPr/>
        </p:nvSpPr>
        <p:spPr>
          <a:xfrm>
            <a:off x="493776" y="1280160"/>
            <a:ext cx="438912" cy="438912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CircleCheck" descr="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4" y="1385498"/>
            <a:ext cx="228234" cy="228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Vantagens</a:t>
            </a:r>
          </a:p>
        </p:txBody>
      </p:sp>
      <p:sp>
        <p:nvSpPr>
          <p:cNvPr id="9" name="Oval 8"/>
          <p:cNvSpPr/>
          <p:nvPr/>
        </p:nvSpPr>
        <p:spPr>
          <a:xfrm>
            <a:off x="493776" y="2029967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Pega o golpe antes do prejuízo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A troca recente aparece antes de o golpista usar o SMS.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" y="3108960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Invisível para o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Nenhuma etapa a mais para quem não trocou de chip.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" y="4187952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Simples de integrar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Uma chamada, uma data na resposta.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" y="5266944"/>
            <a:ext cx="182880" cy="18288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Completa o código 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Diz quando ainda dá para confiar no SMS do módulo 03.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234440"/>
            <a:ext cx="5550408" cy="530352"/>
          </a:xfrm>
          <a:prstGeom prst="roundRect">
            <a:avLst>
              <a:gd name="adj" fmla="val 13793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FaTriangleExclamation"/>
          <p:cNvSpPr/>
          <p:nvPr/>
        </p:nvSpPr>
        <p:spPr>
          <a:xfrm>
            <a:off x="6409944" y="1280160"/>
            <a:ext cx="438912" cy="438912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FaTriangleExclamation" descr="FaTriangleExclamati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282" y="1385498"/>
            <a:ext cx="228234" cy="2282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13448" y="123444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Desvantagens e cuidados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2029967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8" y="196596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Troca legítima é comum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29514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Celular novo ou chip perdido geram alerta: pedir verificação, não bloquear de vez.</a:t>
            </a:r>
          </a:p>
        </p:txBody>
      </p:sp>
      <p:sp>
        <p:nvSpPr>
          <p:cNvPr id="28" name="Oval 27"/>
          <p:cNvSpPr/>
          <p:nvPr/>
        </p:nvSpPr>
        <p:spPr>
          <a:xfrm>
            <a:off x="6409944" y="3108960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8" y="3044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Não pega todo golpe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337413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Celular roubado com o chip dentro ou engenharia social passam sem troca.</a:t>
            </a:r>
          </a:p>
        </p:txBody>
      </p:sp>
      <p:sp>
        <p:nvSpPr>
          <p:cNvPr id="31" name="Oval 30"/>
          <p:cNvSpPr/>
          <p:nvPr/>
        </p:nvSpPr>
        <p:spPr>
          <a:xfrm>
            <a:off x="6409944" y="4187952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8" y="412394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check × retrieve-date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44531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No sandbox o check ignorou a janela. Conferir a data e decidir no nosso código.</a:t>
            </a:r>
          </a:p>
        </p:txBody>
      </p:sp>
      <p:sp>
        <p:nvSpPr>
          <p:cNvPr id="34" name="Oval 33"/>
          <p:cNvSpPr/>
          <p:nvPr/>
        </p:nvSpPr>
        <p:spPr>
          <a:xfrm>
            <a:off x="6409944" y="5266944"/>
            <a:ext cx="182880" cy="182880"/>
          </a:xfrm>
          <a:prstGeom prst="ellipse">
            <a:avLst/>
          </a:prstGeom>
          <a:solidFill>
            <a:srgbClr val="F9A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39128" y="520293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433"/>
                </a:solidFill>
                <a:latin typeface="Verdana"/>
              </a:rPr>
              <a:t>Portabilidade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55321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76767"/>
                </a:solidFill>
                <a:latin typeface="Verdana"/>
              </a:rPr>
              <a:t>Confirmar com cada operadora se mudança de operadora conta como troca.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600" b="1" i="0"/>
              <a:t>Encerramento</a:t>
            </a:r>
          </a:p>
          <a:p>
            <a:r>
              <a:rPr sz="2000" b="0" i="0"/>
              <a:t>Os 5 módulos lado a lado e o que levamos para a prática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5 módulos lado a lado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Encerramento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66575" cy="4828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6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5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Módulo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Pergunta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Resposta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Achado no sandbox</a:t>
                      </a:r>
                    </a:p>
                  </a:txBody>
                  <a:tcPr marT="27432" marB="27432" anchor="ctr">
                    <a:solidFill>
                      <a:srgbClr val="112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2369"/>
                          </a:solidFill>
                          <a:latin typeface="Verdana"/>
                        </a:rPr>
                        <a:t>01 · Verificação de localização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 celular está nesta área?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TRUE, FALSE, PARTIAL ou UNKNOWN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Posição e raio ignorados; finais sem documentação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A85"/>
                          </a:solidFill>
                          <a:latin typeface="Verdana"/>
                        </a:rPr>
                        <a:t>02 · Know Your Customer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Os dados são do dono da linha?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Campo a campo: true, false ou not_available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Exemplo “Adult” devolve menor; no Tenure a data importa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02A8D"/>
                          </a:solidFill>
                          <a:latin typeface="Verdana"/>
                        </a:rPr>
                        <a:t>03 · Código por SMS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 código digitado está certo?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204 aceito ou erro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Validação só distingue aceito de recusado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6E00"/>
                          </a:solidFill>
                          <a:latin typeface="Verdana"/>
                        </a:rPr>
                        <a:t>04 · Localização do aparelho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Onde está o celular?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Círculo ou polígono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Posição sempre “agora” e sempre em Lyon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A0889"/>
                          </a:solidFill>
                          <a:latin typeface="Verdana"/>
                        </a:rPr>
                        <a:t>05 · Troca de chip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 chip foi trocado?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swapped ou data da troca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433"/>
                          </a:solidFill>
                          <a:latin typeface="Verdana"/>
                        </a:rPr>
                        <a:t>O check ignora a janela; o retrieve-date é coerente</a:t>
                      </a:r>
                    </a:p>
                  </a:txBody>
                  <a:tcPr marT="27432" marB="27432" anchor="ctr"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levamos para a prática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írculo FaFlask"/>
          <p:cNvSpPr/>
          <p:nvPr/>
        </p:nvSpPr>
        <p:spPr>
          <a:xfrm>
            <a:off x="621792" y="1536192"/>
            <a:ext cx="731520" cy="731520"/>
          </a:xfrm>
          <a:prstGeom prst="ellipse">
            <a:avLst/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FaFlask" descr="FaFlas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" y="1711756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2450592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Sandbox é para integrar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2608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Ele ensina o formato das chamadas e das respostas. Não mede se a operadora acerta.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2816" y="128016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írculo FaMagnifyingGlass"/>
          <p:cNvSpPr/>
          <p:nvPr/>
        </p:nvSpPr>
        <p:spPr>
          <a:xfrm>
            <a:off x="4498848" y="1536192"/>
            <a:ext cx="731520" cy="731520"/>
          </a:xfrm>
          <a:prstGeom prst="ellipse">
            <a:avLst/>
          </a:prstGeom>
          <a:solidFill>
            <a:srgbClr val="802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Ícone FaMagnifyingGlass" descr="FaMagnifyingGla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412" y="1711756"/>
            <a:ext cx="380390" cy="3803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98848" y="2450592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Teste tudo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92608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A documentação errou em todos os módulos: exemplos trocados, erros que não existem e erros sem documentação.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28016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FaPuzzlePiece"/>
          <p:cNvSpPr/>
          <p:nvPr/>
        </p:nvSpPr>
        <p:spPr>
          <a:xfrm>
            <a:off x="8375904" y="1536192"/>
            <a:ext cx="731520" cy="731520"/>
          </a:xfrm>
          <a:prstGeom prst="ellipse">
            <a:avLst/>
          </a:prstGeom>
          <a:solidFill>
            <a:srgbClr val="00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Ícone FaPuzzlePiece" descr="FaPuzzlePiec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468" y="1711756"/>
            <a:ext cx="380390" cy="380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75904" y="2450592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42D66"/>
                </a:solidFill>
                <a:latin typeface="Verdana"/>
              </a:rPr>
              <a:t>Combine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926080"/>
            <a:ext cx="3154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433"/>
                </a:solidFill>
                <a:latin typeface="Verdana"/>
              </a:rPr>
              <a:t>Código SMS com SIM Swap; KYC com localização. Uma API sozinha raramente decide.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2D66"/>
                </a:solidFill>
                <a:latin typeface="Verdana"/>
              </a:rPr>
              <a:t>Próximos passos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029200"/>
            <a:ext cx="3657600" cy="777240"/>
          </a:xfrm>
          <a:prstGeom prst="roundRect">
            <a:avLst>
              <a:gd name="adj" fmla="val 9411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Seta" descr="FaArrowRight_F9A4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257800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502920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Piloto com uma operadora 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5029200"/>
            <a:ext cx="3657600" cy="777240"/>
          </a:xfrm>
          <a:prstGeom prst="roundRect">
            <a:avLst>
              <a:gd name="adj" fmla="val 9411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Seta" descr="FaArrowRight_F9A4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5257800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28616" y="502920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Consentimento do cliente e LGPD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5029200"/>
            <a:ext cx="3657600" cy="777240"/>
          </a:xfrm>
          <a:prstGeom prst="roundRect">
            <a:avLst>
              <a:gd name="adj" fmla="val 9411"/>
            </a:avLst>
          </a:prstGeom>
          <a:solidFill>
            <a:srgbClr val="11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Seta" descr="FaArrowRight_F9A4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5257800"/>
            <a:ext cx="320040" cy="320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05672" y="502920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Juntar OTP e SIM Swap no fluxo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Perguntas?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Scripts, imagens e resultados estão nas 5 pastas do projeto</a:t>
            </a:r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484AB5EA-34AA-08DF-65E0-C546DB0A71FF}"/>
              </a:ext>
            </a:extLst>
          </p:cNvPr>
          <p:cNvSpPr txBox="1">
            <a:spLocks/>
          </p:cNvSpPr>
          <p:nvPr/>
        </p:nvSpPr>
        <p:spPr>
          <a:xfrm>
            <a:off x="6244282" y="4635878"/>
            <a:ext cx="5404360" cy="7868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000" dirty="0"/>
              <a:t>daniel.macedo@virtus-cc.ufcg.edu.br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DB79B45F-0B13-80CF-3EC5-9B77159C5287}"/>
              </a:ext>
            </a:extLst>
          </p:cNvPr>
          <p:cNvSpPr txBox="1">
            <a:spLocks/>
          </p:cNvSpPr>
          <p:nvPr/>
        </p:nvSpPr>
        <p:spPr>
          <a:xfrm>
            <a:off x="6244282" y="4042275"/>
            <a:ext cx="5404360" cy="362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1579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dirty="0"/>
              <a:t>Daniel Macedo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RTUS-Slides" id="{B058E379-73CD-9143-8141-62B01EC3BF12}" vid="{81C30D6B-B06D-D340-9D17-EF1B185CCAF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53c57f-37ff-4e9e-b25e-17d1507889a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C1CE8B4BDCE7841B931C684E3D924AC" ma:contentTypeVersion="14" ma:contentTypeDescription="Crie um novo documento." ma:contentTypeScope="" ma:versionID="88a5d5cd4724148c992dec2384a44159">
  <xsd:schema xmlns:xsd="http://www.w3.org/2001/XMLSchema" xmlns:xs="http://www.w3.org/2001/XMLSchema" xmlns:p="http://schemas.microsoft.com/office/2006/metadata/properties" xmlns:ns3="9153c57f-37ff-4e9e-b25e-17d1507889ae" xmlns:ns4="ef0bfb55-a61c-41c4-9c06-949de066c0d4" targetNamespace="http://schemas.microsoft.com/office/2006/metadata/properties" ma:root="true" ma:fieldsID="be530a767f1408ad37366e533dced33b" ns3:_="" ns4:_="">
    <xsd:import namespace="9153c57f-37ff-4e9e-b25e-17d1507889ae"/>
    <xsd:import namespace="ef0bfb55-a61c-41c4-9c06-949de066c0d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c57f-37ff-4e9e-b25e-17d1507889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0bfb55-a61c-41c4-9c06-949de066c0d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6091CA-F9E5-41F5-9CB2-00B0F66F4B5F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9153c57f-37ff-4e9e-b25e-17d1507889ae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ef0bfb55-a61c-41c4-9c06-949de066c0d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23475C8-DC69-4DFA-AA39-6F60B2D933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5B7EC8-22CE-4E41-BF78-D56EC0226D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3c57f-37ff-4e9e-b25e-17d1507889ae"/>
    <ds:schemaRef ds:uri="ef0bfb55-a61c-41c4-9c06-949de066c0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6028</Words>
  <Application>Microsoft Office PowerPoint</Application>
  <PresentationFormat>Widescreen</PresentationFormat>
  <Paragraphs>812</Paragraphs>
  <Slides>48</Slides>
  <Notes>46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7" baseType="lpstr">
      <vt:lpstr>Arial</vt:lpstr>
      <vt:lpstr>Courier New</vt:lpstr>
      <vt:lpstr>Verdana</vt:lpstr>
      <vt:lpstr>Montserrat</vt:lpstr>
      <vt:lpstr>Montserrat Medium</vt:lpstr>
      <vt:lpstr>Montserrat SemiBold</vt:lpstr>
      <vt:lpstr>inherit</vt:lpstr>
      <vt:lpstr>Calibri</vt:lpstr>
      <vt:lpstr>Tema do Office</vt:lpstr>
      <vt:lpstr>APIs de rede na prática</vt:lpstr>
      <vt:lpstr>O que vamos ver</vt:lpstr>
      <vt:lpstr>CAPARA API</vt:lpstr>
      <vt:lpstr>CAPARA API</vt:lpstr>
      <vt:lpstr>Apresentação do PowerPoint</vt:lpstr>
      <vt:lpstr>A rede móvel sabe coisas que nenhum app sabe</vt:lpstr>
      <vt:lpstr>Por que isso importa: fraudes do dia a dia</vt:lpstr>
      <vt:lpstr>CAMARA: o mesmo contrato em toda operadora</vt:lpstr>
      <vt:lpstr>Três camadas: quem faz o quê</vt:lpstr>
      <vt:lpstr>O sandbox: como começamos a testar</vt:lpstr>
      <vt:lpstr>O sandbox: como começamos a testar</vt:lpstr>
      <vt:lpstr>O segredo do sandbox: os 2 últimos dígitos</vt:lpstr>
      <vt:lpstr>Anatomia de uma chamada</vt:lpstr>
      <vt:lpstr>Apresentação do PowerPoint</vt:lpstr>
      <vt:lpstr>Sim ou não: o celular está nesta área?</vt:lpstr>
      <vt:lpstr>Cenário: antifraude de cartão</vt:lpstr>
      <vt:lpstr>As chamadas que fizemos</vt:lpstr>
      <vt:lpstr>POC: autorizador de cartão (caso_real.js)</vt:lpstr>
      <vt:lpstr>Vantagens e cuidados</vt:lpstr>
      <vt:lpstr>Apresentação do PowerPoint</vt:lpstr>
      <vt:lpstr>A operadora confere o cadastro do cliente</vt:lpstr>
      <vt:lpstr>Cenário: abertura de conta digital</vt:lpstr>
      <vt:lpstr>As chamadas que fizemos</vt:lpstr>
      <vt:lpstr>POC: abertura de conta (caso_real.js)</vt:lpstr>
      <vt:lpstr>Vantagens e cuidados</vt:lpstr>
      <vt:lpstr>Apresentação do PowerPoint</vt:lpstr>
      <vt:lpstr>A operadora envia e confere o código</vt:lpstr>
      <vt:lpstr>Cenário: login e Pix com código</vt:lpstr>
      <vt:lpstr>As chamadas que fizemos</vt:lpstr>
      <vt:lpstr>POC: login e Pix com código (caso_real.js)</vt:lpstr>
      <vt:lpstr>SMS tradicional × código pela operadora</vt:lpstr>
      <vt:lpstr>Vantagens e cuidados</vt:lpstr>
      <vt:lpstr>Apresentação do PowerPoint</vt:lpstr>
      <vt:lpstr>A operadora devolve onde o celular está</vt:lpstr>
      <vt:lpstr>Cenário: socorro na estrada</vt:lpstr>
      <vt:lpstr>As chamadas que fizemos</vt:lpstr>
      <vt:lpstr>POC: assistência 24h (caso_real.js)</vt:lpstr>
      <vt:lpstr>Vantagens e cuidados</vt:lpstr>
      <vt:lpstr>Apresentação do PowerPoint</vt:lpstr>
      <vt:lpstr>A operadora conta quando o chip foi trocado</vt:lpstr>
      <vt:lpstr>Cenário: o golpe da troca de chip</vt:lpstr>
      <vt:lpstr>As chamadas que fizemos</vt:lpstr>
      <vt:lpstr>POC: proteção de operações (caso_real.js)</vt:lpstr>
      <vt:lpstr>Vantagens e cuidados</vt:lpstr>
      <vt:lpstr>Apresentação do PowerPoint</vt:lpstr>
      <vt:lpstr>Os 5 módulos lado a lado</vt:lpstr>
      <vt:lpstr>O que levamos para a prática</vt:lpstr>
      <vt:lpstr>Perguntas?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 Galvão de Melo</dc:creator>
  <cp:lastModifiedBy>Daniel Macedo</cp:lastModifiedBy>
  <cp:revision>4</cp:revision>
  <dcterms:created xsi:type="dcterms:W3CDTF">2020-04-08T15:23:08Z</dcterms:created>
  <dcterms:modified xsi:type="dcterms:W3CDTF">2026-10-16T16:39:49Z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0x0101008C1CE8B4BDCE7841B931C684E3D924AC</vt:lpwstr>
  </property>
</Properties>
</file>